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93556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640080"/>
            <a:ext cx="8321040" cy="320040"/>
          </a:xfrm>
          <a:prstGeom prst="rect">
            <a:avLst/>
          </a:prstGeom>
          <a:noFill/>
          <a:ln/>
        </p:spPr>
        <p:txBody>
          <a:bodyPr wrap="square" lIns="0" tIns="0" rIns="0" bIns="0" rtlCol="0" anchor="ctr"/>
          <a:lstStyle/>
          <a:p>
            <a:pPr marL="0" indent="0" algn="l">
              <a:buNone/>
            </a:pPr>
            <a:r>
              <a:rPr lang="en-US" sz="1200" b="1" kern="0" spc="250" dirty="0">
                <a:solidFill>
                  <a:srgbClr val="00B4A6"/>
                </a:solidFill>
                <a:latin typeface="Calibri" pitchFamily="34" charset="0"/>
                <a:ea typeface="Calibri" pitchFamily="34" charset="-122"/>
                <a:cs typeface="Calibri" pitchFamily="34" charset="-120"/>
              </a:rPr>
              <a:t>DATA MINING &amp; MACHINE LEARNING</a:t>
            </a:r>
            <a:endParaRPr lang="en-US" sz="1200" dirty="0"/>
          </a:p>
        </p:txBody>
      </p:sp>
      <p:sp>
        <p:nvSpPr>
          <p:cNvPr id="4" name="Text 2"/>
          <p:cNvSpPr/>
          <p:nvPr/>
        </p:nvSpPr>
        <p:spPr>
          <a:xfrm>
            <a:off x="411480" y="1051560"/>
            <a:ext cx="8321040" cy="1005840"/>
          </a:xfrm>
          <a:prstGeom prst="rect">
            <a:avLst/>
          </a:prstGeom>
          <a:noFill/>
          <a:ln/>
        </p:spPr>
        <p:txBody>
          <a:bodyPr wrap="square" lIns="0" tIns="0" rIns="0" bIns="0" rtlCol="0" anchor="ctr"/>
          <a:lstStyle/>
          <a:p>
            <a:pPr marL="0" indent="0" algn="l">
              <a:buNone/>
            </a:pPr>
            <a:r>
              <a:rPr lang="en-US" sz="4000" b="1" dirty="0" err="1">
                <a:solidFill>
                  <a:srgbClr val="FFFFFF"/>
                </a:solidFill>
                <a:latin typeface="Calibri" pitchFamily="34" charset="0"/>
                <a:ea typeface="Calibri" pitchFamily="34" charset="-122"/>
                <a:cs typeface="Calibri" pitchFamily="34" charset="-120"/>
              </a:rPr>
              <a:t>HitPredictor</a:t>
            </a:r>
            <a:r>
              <a:rPr lang="en-US" sz="4000" b="1" dirty="0">
                <a:solidFill>
                  <a:srgbClr val="FFFFFF"/>
                </a:solidFill>
                <a:latin typeface="Calibri" pitchFamily="34" charset="0"/>
                <a:ea typeface="Calibri" pitchFamily="34" charset="-122"/>
                <a:cs typeface="Calibri" pitchFamily="34" charset="-120"/>
              </a:rPr>
              <a:t>-Steam</a:t>
            </a:r>
            <a:endParaRPr lang="en-US" sz="4000" dirty="0"/>
          </a:p>
        </p:txBody>
      </p:sp>
      <p:sp>
        <p:nvSpPr>
          <p:cNvPr id="5" name="Text 3"/>
          <p:cNvSpPr/>
          <p:nvPr/>
        </p:nvSpPr>
        <p:spPr>
          <a:xfrm>
            <a:off x="411480" y="2148840"/>
            <a:ext cx="8321040" cy="365760"/>
          </a:xfrm>
          <a:prstGeom prst="rect">
            <a:avLst/>
          </a:prstGeom>
          <a:noFill/>
          <a:ln/>
        </p:spPr>
        <p:txBody>
          <a:bodyPr wrap="square" lIns="0" tIns="0" rIns="0" bIns="0" rtlCol="0" anchor="ctr"/>
          <a:lstStyle/>
          <a:p>
            <a:pPr marL="0" indent="0" algn="l">
              <a:buNone/>
            </a:pPr>
            <a:r>
              <a:rPr lang="en-US" dirty="0">
                <a:solidFill>
                  <a:srgbClr val="7A8FA6"/>
                </a:solidFill>
                <a:latin typeface="Calibri" pitchFamily="34" charset="0"/>
                <a:ea typeface="Calibri" pitchFamily="34" charset="-122"/>
                <a:cs typeface="Calibri" pitchFamily="34" charset="-120"/>
              </a:rPr>
              <a:t>Data Mining &amp; Machine Learning Project </a:t>
            </a:r>
            <a:br>
              <a:rPr lang="en-US" dirty="0">
                <a:solidFill>
                  <a:srgbClr val="7A8FA6"/>
                </a:solidFill>
                <a:latin typeface="Calibri" pitchFamily="34" charset="0"/>
                <a:ea typeface="Calibri" pitchFamily="34" charset="-122"/>
                <a:cs typeface="Calibri" pitchFamily="34" charset="-120"/>
              </a:rPr>
            </a:br>
            <a:r>
              <a:rPr lang="en-US" dirty="0">
                <a:solidFill>
                  <a:srgbClr val="7A8FA6"/>
                </a:solidFill>
                <a:latin typeface="Calibri" pitchFamily="34" charset="0"/>
                <a:ea typeface="Calibri" pitchFamily="34" charset="-122"/>
                <a:cs typeface="Calibri" pitchFamily="34" charset="-120"/>
              </a:rPr>
              <a:t>M.Sc. in Artificial Intelligence and Data Engineering — Academic Year 2025–2026</a:t>
            </a:r>
            <a:endParaRPr lang="en-US" dirty="0"/>
          </a:p>
        </p:txBody>
      </p:sp>
      <p:sp>
        <p:nvSpPr>
          <p:cNvPr id="6" name="Shape 4"/>
          <p:cNvSpPr/>
          <p:nvPr/>
        </p:nvSpPr>
        <p:spPr>
          <a:xfrm>
            <a:off x="411480" y="2606040"/>
            <a:ext cx="8321040" cy="18288"/>
          </a:xfrm>
          <a:prstGeom prst="rect">
            <a:avLst/>
          </a:prstGeom>
          <a:solidFill>
            <a:srgbClr val="2E4A70"/>
          </a:solidFill>
          <a:ln w="12700">
            <a:solidFill>
              <a:srgbClr val="2E4A70"/>
            </a:solidFill>
            <a:prstDash val="solid"/>
          </a:ln>
        </p:spPr>
        <p:txBody>
          <a:bodyPr/>
          <a:lstStyle/>
          <a:p>
            <a:endParaRPr lang="it-IT"/>
          </a:p>
        </p:txBody>
      </p:sp>
      <p:sp>
        <p:nvSpPr>
          <p:cNvPr id="7" name="Text 5"/>
          <p:cNvSpPr/>
          <p:nvPr/>
        </p:nvSpPr>
        <p:spPr>
          <a:xfrm>
            <a:off x="411480" y="2743200"/>
            <a:ext cx="8321040" cy="320040"/>
          </a:xfrm>
          <a:prstGeom prst="rect">
            <a:avLst/>
          </a:prstGeom>
          <a:noFill/>
          <a:ln/>
        </p:spPr>
        <p:txBody>
          <a:bodyPr wrap="square" lIns="0" tIns="0" rIns="0" bIns="0" rtlCol="0" anchor="ctr"/>
          <a:lstStyle/>
          <a:p>
            <a:pPr marL="0" indent="0" algn="l">
              <a:buNone/>
            </a:pPr>
            <a:r>
              <a:rPr lang="en-US" sz="1600" dirty="0">
                <a:solidFill>
                  <a:srgbClr val="7A8FA6"/>
                </a:solidFill>
                <a:latin typeface="Calibri" pitchFamily="34" charset="0"/>
                <a:ea typeface="Calibri" pitchFamily="34" charset="-122"/>
                <a:cs typeface="Calibri" pitchFamily="34" charset="-120"/>
              </a:rPr>
              <a:t>[Pedro Carneiro Junior — ID: 724961]   |   [Andrea Zanin— ID: 635350]</a:t>
            </a:r>
            <a:endParaRPr lang="en-US" sz="1600" dirty="0"/>
          </a:p>
        </p:txBody>
      </p:sp>
      <p:sp>
        <p:nvSpPr>
          <p:cNvPr id="8" name="Text 6"/>
          <p:cNvSpPr/>
          <p:nvPr/>
        </p:nvSpPr>
        <p:spPr>
          <a:xfrm>
            <a:off x="411480" y="3127248"/>
            <a:ext cx="8321040" cy="256032"/>
          </a:xfrm>
          <a:prstGeom prst="rect">
            <a:avLst/>
          </a:prstGeom>
          <a:noFill/>
          <a:ln/>
        </p:spPr>
        <p:txBody>
          <a:bodyPr wrap="square" lIns="0" tIns="0" rIns="0" bIns="0" rtlCol="0" anchor="ctr"/>
          <a:lstStyle/>
          <a:p>
            <a:pPr marL="0" indent="0" algn="l">
              <a:buNone/>
            </a:pPr>
            <a:r>
              <a:rPr lang="en-US" sz="1400" dirty="0">
                <a:solidFill>
                  <a:srgbClr val="4A6587"/>
                </a:solidFill>
                <a:latin typeface="Calibri" pitchFamily="34" charset="0"/>
                <a:ea typeface="Calibri" pitchFamily="34" charset="-122"/>
                <a:cs typeface="Calibri" pitchFamily="34" charset="-120"/>
              </a:rPr>
              <a:t>[16/09/2026]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OVERVIEW</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Presentation Outline</a:t>
            </a:r>
            <a:endParaRPr lang="en-US" sz="2400" dirty="0"/>
          </a:p>
        </p:txBody>
      </p:sp>
      <p:sp>
        <p:nvSpPr>
          <p:cNvPr id="5" name="Shape 3"/>
          <p:cNvSpPr/>
          <p:nvPr/>
        </p:nvSpPr>
        <p:spPr>
          <a:xfrm>
            <a:off x="411480" y="1225296"/>
            <a:ext cx="384048" cy="384048"/>
          </a:xfrm>
          <a:prstGeom prst="roundRect">
            <a:avLst>
              <a:gd name="adj" fmla="val 14286"/>
            </a:avLst>
          </a:prstGeom>
          <a:solidFill>
            <a:srgbClr val="1C2B4A"/>
          </a:solidFill>
          <a:ln w="12700">
            <a:solidFill>
              <a:srgbClr val="1C2B4A"/>
            </a:solidFill>
            <a:prstDash val="solid"/>
          </a:ln>
        </p:spPr>
        <p:txBody>
          <a:bodyPr/>
          <a:lstStyle/>
          <a:p>
            <a:endParaRPr lang="it-IT"/>
          </a:p>
        </p:txBody>
      </p:sp>
      <p:sp>
        <p:nvSpPr>
          <p:cNvPr id="6" name="Text 4"/>
          <p:cNvSpPr/>
          <p:nvPr/>
        </p:nvSpPr>
        <p:spPr>
          <a:xfrm>
            <a:off x="411480" y="122529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01</a:t>
            </a:r>
            <a:endParaRPr lang="en-US" sz="1600" dirty="0"/>
          </a:p>
        </p:txBody>
      </p:sp>
      <p:sp>
        <p:nvSpPr>
          <p:cNvPr id="7" name="Text 5"/>
          <p:cNvSpPr/>
          <p:nvPr/>
        </p:nvSpPr>
        <p:spPr>
          <a:xfrm>
            <a:off x="914400" y="1207008"/>
            <a:ext cx="3840480" cy="237744"/>
          </a:xfrm>
          <a:prstGeom prst="rect">
            <a:avLst/>
          </a:prstGeom>
          <a:noFill/>
          <a:ln/>
        </p:spPr>
        <p:txBody>
          <a:bodyPr wrap="square" lIns="0" tIns="0" rIns="0" bIns="0" rtlCol="0" anchor="ctr"/>
          <a:lstStyle/>
          <a:p>
            <a:pPr marL="0" indent="0">
              <a:buNone/>
            </a:pPr>
            <a:r>
              <a:rPr lang="en-US" b="1" dirty="0">
                <a:solidFill>
                  <a:srgbClr val="1C2B4A"/>
                </a:solidFill>
                <a:latin typeface="Calibri" pitchFamily="34" charset="0"/>
                <a:ea typeface="Calibri" pitchFamily="34" charset="-122"/>
                <a:cs typeface="Calibri" pitchFamily="34" charset="-120"/>
              </a:rPr>
              <a:t>Problem &amp; Dataset</a:t>
            </a:r>
            <a:endParaRPr lang="en-US" dirty="0"/>
          </a:p>
        </p:txBody>
      </p:sp>
      <p:sp>
        <p:nvSpPr>
          <p:cNvPr id="8" name="Text 6"/>
          <p:cNvSpPr/>
          <p:nvPr/>
        </p:nvSpPr>
        <p:spPr>
          <a:xfrm>
            <a:off x="914400" y="1453896"/>
            <a:ext cx="6858000" cy="201168"/>
          </a:xfrm>
          <a:prstGeom prst="rect">
            <a:avLst/>
          </a:prstGeom>
          <a:noFill/>
          <a:ln/>
        </p:spPr>
        <p:txBody>
          <a:bodyPr wrap="square" lIns="0" tIns="0" rIns="0" bIns="0" rtlCol="0" anchor="ctr"/>
          <a:lstStyle/>
          <a:p>
            <a:pPr marL="0" indent="0">
              <a:buNone/>
            </a:pPr>
            <a:r>
              <a:rPr lang="en-US" sz="1600" dirty="0">
                <a:solidFill>
                  <a:srgbClr val="7A8FA6"/>
                </a:solidFill>
                <a:latin typeface="Calibri" pitchFamily="34" charset="0"/>
                <a:ea typeface="Calibri" pitchFamily="34" charset="-122"/>
                <a:cs typeface="Calibri" pitchFamily="34" charset="-120"/>
              </a:rPr>
              <a:t>Task definition · features</a:t>
            </a:r>
            <a:endParaRPr lang="en-US" sz="1600" dirty="0"/>
          </a:p>
        </p:txBody>
      </p:sp>
      <p:sp>
        <p:nvSpPr>
          <p:cNvPr id="9" name="Shape 7"/>
          <p:cNvSpPr/>
          <p:nvPr/>
        </p:nvSpPr>
        <p:spPr>
          <a:xfrm>
            <a:off x="576072" y="1609344"/>
            <a:ext cx="18288" cy="310896"/>
          </a:xfrm>
          <a:prstGeom prst="rect">
            <a:avLst/>
          </a:prstGeom>
          <a:solidFill>
            <a:srgbClr val="CBD5E1"/>
          </a:solidFill>
          <a:ln w="12700">
            <a:solidFill>
              <a:srgbClr val="CBD5E1"/>
            </a:solidFill>
            <a:prstDash val="solid"/>
          </a:ln>
        </p:spPr>
        <p:txBody>
          <a:bodyPr/>
          <a:lstStyle/>
          <a:p>
            <a:endParaRPr lang="it-IT"/>
          </a:p>
        </p:txBody>
      </p:sp>
      <p:sp>
        <p:nvSpPr>
          <p:cNvPr id="10" name="Shape 8"/>
          <p:cNvSpPr/>
          <p:nvPr/>
        </p:nvSpPr>
        <p:spPr>
          <a:xfrm>
            <a:off x="411480" y="1956816"/>
            <a:ext cx="384048" cy="384048"/>
          </a:xfrm>
          <a:prstGeom prst="roundRect">
            <a:avLst>
              <a:gd name="adj" fmla="val 14286"/>
            </a:avLst>
          </a:prstGeom>
          <a:solidFill>
            <a:srgbClr val="1C2B4A"/>
          </a:solidFill>
          <a:ln w="12700">
            <a:solidFill>
              <a:srgbClr val="1C2B4A"/>
            </a:solidFill>
            <a:prstDash val="solid"/>
          </a:ln>
        </p:spPr>
        <p:txBody>
          <a:bodyPr/>
          <a:lstStyle/>
          <a:p>
            <a:endParaRPr lang="it-IT" dirty="0"/>
          </a:p>
        </p:txBody>
      </p:sp>
      <p:sp>
        <p:nvSpPr>
          <p:cNvPr id="11" name="Text 9"/>
          <p:cNvSpPr/>
          <p:nvPr/>
        </p:nvSpPr>
        <p:spPr>
          <a:xfrm>
            <a:off x="411480" y="195681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02</a:t>
            </a:r>
            <a:endParaRPr lang="en-US" sz="1600" dirty="0"/>
          </a:p>
        </p:txBody>
      </p:sp>
      <p:sp>
        <p:nvSpPr>
          <p:cNvPr id="12" name="Text 10"/>
          <p:cNvSpPr/>
          <p:nvPr/>
        </p:nvSpPr>
        <p:spPr>
          <a:xfrm>
            <a:off x="914400" y="1938528"/>
            <a:ext cx="3840480" cy="237744"/>
          </a:xfrm>
          <a:prstGeom prst="rect">
            <a:avLst/>
          </a:prstGeom>
          <a:noFill/>
          <a:ln/>
        </p:spPr>
        <p:txBody>
          <a:bodyPr wrap="square" lIns="0" tIns="0" rIns="0" bIns="0" rtlCol="0" anchor="ctr"/>
          <a:lstStyle/>
          <a:p>
            <a:pPr marL="0" indent="0">
              <a:buNone/>
            </a:pPr>
            <a:r>
              <a:rPr lang="en-US" b="1" dirty="0">
                <a:solidFill>
                  <a:srgbClr val="1C2B4A"/>
                </a:solidFill>
                <a:latin typeface="Calibri" pitchFamily="34" charset="0"/>
                <a:ea typeface="Calibri" pitchFamily="34" charset="-122"/>
                <a:cs typeface="Calibri" pitchFamily="34" charset="-120"/>
              </a:rPr>
              <a:t>Pipeline &amp; Experiments</a:t>
            </a:r>
            <a:endParaRPr lang="en-US" dirty="0"/>
          </a:p>
        </p:txBody>
      </p:sp>
      <p:sp>
        <p:nvSpPr>
          <p:cNvPr id="13" name="Text 11"/>
          <p:cNvSpPr/>
          <p:nvPr/>
        </p:nvSpPr>
        <p:spPr>
          <a:xfrm>
            <a:off x="914400" y="2185416"/>
            <a:ext cx="6858000" cy="201168"/>
          </a:xfrm>
          <a:prstGeom prst="rect">
            <a:avLst/>
          </a:prstGeom>
          <a:noFill/>
          <a:ln/>
        </p:spPr>
        <p:txBody>
          <a:bodyPr wrap="square" lIns="0" tIns="0" rIns="0" bIns="0" rtlCol="0" anchor="ctr"/>
          <a:lstStyle/>
          <a:p>
            <a:pPr marL="0" indent="0">
              <a:buNone/>
            </a:pPr>
            <a:r>
              <a:rPr lang="en-US" sz="1600" dirty="0">
                <a:solidFill>
                  <a:srgbClr val="7A8FA6"/>
                </a:solidFill>
                <a:latin typeface="Calibri" pitchFamily="34" charset="0"/>
                <a:ea typeface="Calibri" pitchFamily="34" charset="-122"/>
                <a:cs typeface="Calibri" pitchFamily="34" charset="-120"/>
              </a:rPr>
              <a:t>Preprocessing · model selection · hyperparameter optimization</a:t>
            </a:r>
            <a:endParaRPr lang="en-US" sz="1600" dirty="0"/>
          </a:p>
        </p:txBody>
      </p:sp>
      <p:sp>
        <p:nvSpPr>
          <p:cNvPr id="14" name="Shape 12"/>
          <p:cNvSpPr/>
          <p:nvPr/>
        </p:nvSpPr>
        <p:spPr>
          <a:xfrm>
            <a:off x="8138160" y="1207008"/>
            <a:ext cx="640080" cy="292608"/>
          </a:xfrm>
          <a:prstGeom prst="roundRect">
            <a:avLst>
              <a:gd name="adj" fmla="val 18750"/>
            </a:avLst>
          </a:prstGeom>
          <a:solidFill>
            <a:srgbClr val="EEF2FA"/>
          </a:solidFill>
          <a:ln w="12700">
            <a:solidFill>
              <a:srgbClr val="94A3B8"/>
            </a:solidFill>
            <a:prstDash val="solid"/>
          </a:ln>
        </p:spPr>
        <p:txBody>
          <a:bodyPr/>
          <a:lstStyle/>
          <a:p>
            <a:endParaRPr lang="it-IT"/>
          </a:p>
        </p:txBody>
      </p:sp>
      <p:sp>
        <p:nvSpPr>
          <p:cNvPr id="15" name="Text 13"/>
          <p:cNvSpPr/>
          <p:nvPr/>
        </p:nvSpPr>
        <p:spPr>
          <a:xfrm>
            <a:off x="8138160" y="1207008"/>
            <a:ext cx="640080" cy="292608"/>
          </a:xfrm>
          <a:prstGeom prst="rect">
            <a:avLst/>
          </a:prstGeom>
          <a:noFill/>
          <a:ln/>
        </p:spPr>
        <p:txBody>
          <a:bodyPr wrap="square" lIns="0" tIns="0" rIns="0" bIns="0" rtlCol="0" anchor="ctr"/>
          <a:lstStyle/>
          <a:p>
            <a:pPr marL="0" indent="0" algn="ctr">
              <a:buNone/>
            </a:pPr>
            <a:r>
              <a:rPr lang="en-US" sz="1050" b="1" kern="0" spc="100" dirty="0">
                <a:solidFill>
                  <a:srgbClr val="1C2B4A"/>
                </a:solidFill>
              </a:rPr>
              <a:t>PART 1</a:t>
            </a:r>
            <a:endParaRPr lang="en-US" sz="1050" dirty="0"/>
          </a:p>
        </p:txBody>
      </p:sp>
      <p:sp>
        <p:nvSpPr>
          <p:cNvPr id="16" name="Shape 14"/>
          <p:cNvSpPr/>
          <p:nvPr/>
        </p:nvSpPr>
        <p:spPr>
          <a:xfrm>
            <a:off x="576072" y="2340864"/>
            <a:ext cx="18288" cy="310896"/>
          </a:xfrm>
          <a:prstGeom prst="rect">
            <a:avLst/>
          </a:prstGeom>
          <a:solidFill>
            <a:srgbClr val="CBD5E1"/>
          </a:solidFill>
          <a:ln w="12700">
            <a:solidFill>
              <a:srgbClr val="CBD5E1"/>
            </a:solidFill>
            <a:prstDash val="solid"/>
          </a:ln>
        </p:spPr>
        <p:txBody>
          <a:bodyPr/>
          <a:lstStyle/>
          <a:p>
            <a:endParaRPr lang="it-IT"/>
          </a:p>
        </p:txBody>
      </p:sp>
      <p:sp>
        <p:nvSpPr>
          <p:cNvPr id="17" name="Shape 15"/>
          <p:cNvSpPr/>
          <p:nvPr/>
        </p:nvSpPr>
        <p:spPr>
          <a:xfrm>
            <a:off x="411480" y="2688336"/>
            <a:ext cx="384048" cy="384048"/>
          </a:xfrm>
          <a:prstGeom prst="roundRect">
            <a:avLst>
              <a:gd name="adj" fmla="val 14286"/>
            </a:avLst>
          </a:prstGeom>
          <a:solidFill>
            <a:srgbClr val="1C2B4A"/>
          </a:solidFill>
          <a:ln w="12700">
            <a:solidFill>
              <a:srgbClr val="1C2B4A"/>
            </a:solidFill>
            <a:prstDash val="solid"/>
          </a:ln>
        </p:spPr>
        <p:txBody>
          <a:bodyPr/>
          <a:lstStyle/>
          <a:p>
            <a:endParaRPr lang="it-IT"/>
          </a:p>
        </p:txBody>
      </p:sp>
      <p:sp>
        <p:nvSpPr>
          <p:cNvPr id="18" name="Text 16"/>
          <p:cNvSpPr/>
          <p:nvPr/>
        </p:nvSpPr>
        <p:spPr>
          <a:xfrm>
            <a:off x="411480" y="268833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03</a:t>
            </a:r>
            <a:endParaRPr lang="en-US" sz="1600" dirty="0"/>
          </a:p>
        </p:txBody>
      </p:sp>
      <p:sp>
        <p:nvSpPr>
          <p:cNvPr id="19" name="Text 17"/>
          <p:cNvSpPr/>
          <p:nvPr/>
        </p:nvSpPr>
        <p:spPr>
          <a:xfrm>
            <a:off x="914400" y="2670048"/>
            <a:ext cx="3840480" cy="237744"/>
          </a:xfrm>
          <a:prstGeom prst="rect">
            <a:avLst/>
          </a:prstGeom>
          <a:noFill/>
          <a:ln/>
        </p:spPr>
        <p:txBody>
          <a:bodyPr wrap="square" lIns="0" tIns="0" rIns="0" bIns="0" rtlCol="0" anchor="ctr"/>
          <a:lstStyle/>
          <a:p>
            <a:pPr marL="0" indent="0">
              <a:buNone/>
            </a:pPr>
            <a:r>
              <a:rPr lang="en-US" b="1" dirty="0">
                <a:solidFill>
                  <a:srgbClr val="1C2B4A"/>
                </a:solidFill>
                <a:latin typeface="Calibri" pitchFamily="34" charset="0"/>
                <a:ea typeface="Calibri" pitchFamily="34" charset="-122"/>
                <a:cs typeface="Calibri" pitchFamily="34" charset="-120"/>
              </a:rPr>
              <a:t>Evaluation &amp; Results</a:t>
            </a:r>
            <a:endParaRPr lang="en-US" dirty="0"/>
          </a:p>
        </p:txBody>
      </p:sp>
      <p:sp>
        <p:nvSpPr>
          <p:cNvPr id="20" name="Text 18"/>
          <p:cNvSpPr/>
          <p:nvPr/>
        </p:nvSpPr>
        <p:spPr>
          <a:xfrm>
            <a:off x="914400" y="2916936"/>
            <a:ext cx="6858000" cy="201168"/>
          </a:xfrm>
          <a:prstGeom prst="rect">
            <a:avLst/>
          </a:prstGeom>
          <a:noFill/>
          <a:ln/>
        </p:spPr>
        <p:txBody>
          <a:bodyPr wrap="square" lIns="0" tIns="0" rIns="0" bIns="0" rtlCol="0" anchor="ctr"/>
          <a:lstStyle/>
          <a:p>
            <a:pPr marL="0" indent="0">
              <a:buNone/>
            </a:pPr>
            <a:r>
              <a:rPr lang="en-US" sz="1600" dirty="0">
                <a:solidFill>
                  <a:srgbClr val="7A8FA6"/>
                </a:solidFill>
                <a:latin typeface="Calibri" pitchFamily="34" charset="0"/>
                <a:ea typeface="Calibri" pitchFamily="34" charset="-122"/>
                <a:cs typeface="Calibri" pitchFamily="34" charset="-120"/>
              </a:rPr>
              <a:t>Metrics · cross-validation · final model performance</a:t>
            </a:r>
            <a:endParaRPr lang="en-US" sz="1600" dirty="0"/>
          </a:p>
        </p:txBody>
      </p:sp>
      <p:sp>
        <p:nvSpPr>
          <p:cNvPr id="21" name="Shape 19"/>
          <p:cNvSpPr/>
          <p:nvPr/>
        </p:nvSpPr>
        <p:spPr>
          <a:xfrm>
            <a:off x="576072" y="3072384"/>
            <a:ext cx="18288" cy="310896"/>
          </a:xfrm>
          <a:prstGeom prst="rect">
            <a:avLst/>
          </a:prstGeom>
          <a:solidFill>
            <a:srgbClr val="CBD5E1"/>
          </a:solidFill>
          <a:ln w="12700">
            <a:solidFill>
              <a:srgbClr val="CBD5E1"/>
            </a:solidFill>
            <a:prstDash val="solid"/>
          </a:ln>
        </p:spPr>
        <p:txBody>
          <a:bodyPr/>
          <a:lstStyle/>
          <a:p>
            <a:endParaRPr lang="it-IT"/>
          </a:p>
        </p:txBody>
      </p:sp>
      <p:sp>
        <p:nvSpPr>
          <p:cNvPr id="22" name="Shape 20"/>
          <p:cNvSpPr/>
          <p:nvPr/>
        </p:nvSpPr>
        <p:spPr>
          <a:xfrm>
            <a:off x="411480" y="3419856"/>
            <a:ext cx="384048" cy="384048"/>
          </a:xfrm>
          <a:prstGeom prst="roundRect">
            <a:avLst>
              <a:gd name="adj" fmla="val 14286"/>
            </a:avLst>
          </a:prstGeom>
          <a:solidFill>
            <a:srgbClr val="00B4A6"/>
          </a:solidFill>
          <a:ln w="12700">
            <a:solidFill>
              <a:srgbClr val="00B4A6"/>
            </a:solidFill>
            <a:prstDash val="solid"/>
          </a:ln>
        </p:spPr>
        <p:txBody>
          <a:bodyPr/>
          <a:lstStyle/>
          <a:p>
            <a:endParaRPr lang="it-IT"/>
          </a:p>
        </p:txBody>
      </p:sp>
      <p:sp>
        <p:nvSpPr>
          <p:cNvPr id="23" name="Text 21"/>
          <p:cNvSpPr/>
          <p:nvPr/>
        </p:nvSpPr>
        <p:spPr>
          <a:xfrm>
            <a:off x="411480" y="341985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04</a:t>
            </a:r>
            <a:endParaRPr lang="en-US" sz="1600" dirty="0"/>
          </a:p>
        </p:txBody>
      </p:sp>
      <p:sp>
        <p:nvSpPr>
          <p:cNvPr id="24" name="Text 22"/>
          <p:cNvSpPr/>
          <p:nvPr/>
        </p:nvSpPr>
        <p:spPr>
          <a:xfrm>
            <a:off x="914400" y="3401568"/>
            <a:ext cx="3840480" cy="237744"/>
          </a:xfrm>
          <a:prstGeom prst="rect">
            <a:avLst/>
          </a:prstGeom>
          <a:noFill/>
          <a:ln/>
        </p:spPr>
        <p:txBody>
          <a:bodyPr wrap="square" lIns="0" tIns="0" rIns="0" bIns="0" rtlCol="0" anchor="ctr"/>
          <a:lstStyle/>
          <a:p>
            <a:pPr marL="0" indent="0">
              <a:buNone/>
            </a:pPr>
            <a:r>
              <a:rPr lang="en-US" b="1" dirty="0">
                <a:solidFill>
                  <a:srgbClr val="1C2B4A"/>
                </a:solidFill>
                <a:latin typeface="Calibri" pitchFamily="34" charset="0"/>
                <a:ea typeface="Calibri" pitchFamily="34" charset="-122"/>
                <a:cs typeface="Calibri" pitchFamily="34" charset="-120"/>
              </a:rPr>
              <a:t>Explainability</a:t>
            </a:r>
            <a:endParaRPr lang="en-US" dirty="0"/>
          </a:p>
        </p:txBody>
      </p:sp>
      <p:sp>
        <p:nvSpPr>
          <p:cNvPr id="25" name="Text 23"/>
          <p:cNvSpPr/>
          <p:nvPr/>
        </p:nvSpPr>
        <p:spPr>
          <a:xfrm>
            <a:off x="914400" y="3648456"/>
            <a:ext cx="6858000" cy="201168"/>
          </a:xfrm>
          <a:prstGeom prst="rect">
            <a:avLst/>
          </a:prstGeom>
          <a:noFill/>
          <a:ln/>
        </p:spPr>
        <p:txBody>
          <a:bodyPr wrap="square" lIns="0" tIns="0" rIns="0" bIns="0" rtlCol="0" anchor="ctr"/>
          <a:lstStyle/>
          <a:p>
            <a:pPr marL="0" indent="0">
              <a:buNone/>
            </a:pPr>
            <a:r>
              <a:rPr lang="en-US" sz="1600" dirty="0">
                <a:solidFill>
                  <a:srgbClr val="7A8FA6"/>
                </a:solidFill>
                <a:latin typeface="Calibri" pitchFamily="34" charset="0"/>
                <a:ea typeface="Calibri" pitchFamily="34" charset="-122"/>
                <a:cs typeface="Calibri" pitchFamily="34" charset="-120"/>
              </a:rPr>
              <a:t>Global &amp; local techniques · consistency with domain knowledge</a:t>
            </a:r>
            <a:endParaRPr lang="en-US" sz="1600" dirty="0"/>
          </a:p>
        </p:txBody>
      </p:sp>
      <p:sp>
        <p:nvSpPr>
          <p:cNvPr id="26" name="Shape 24"/>
          <p:cNvSpPr/>
          <p:nvPr/>
        </p:nvSpPr>
        <p:spPr>
          <a:xfrm>
            <a:off x="8138160" y="3401568"/>
            <a:ext cx="640080" cy="292608"/>
          </a:xfrm>
          <a:prstGeom prst="roundRect">
            <a:avLst>
              <a:gd name="adj" fmla="val 18750"/>
            </a:avLst>
          </a:prstGeom>
          <a:solidFill>
            <a:srgbClr val="E0F5F4"/>
          </a:solidFill>
          <a:ln w="12700">
            <a:solidFill>
              <a:srgbClr val="00B4A6"/>
            </a:solidFill>
            <a:prstDash val="solid"/>
          </a:ln>
        </p:spPr>
        <p:txBody>
          <a:bodyPr/>
          <a:lstStyle/>
          <a:p>
            <a:endParaRPr lang="it-IT"/>
          </a:p>
        </p:txBody>
      </p:sp>
      <p:sp>
        <p:nvSpPr>
          <p:cNvPr id="27" name="Text 25"/>
          <p:cNvSpPr/>
          <p:nvPr/>
        </p:nvSpPr>
        <p:spPr>
          <a:xfrm>
            <a:off x="8138160" y="3401568"/>
            <a:ext cx="640080" cy="292608"/>
          </a:xfrm>
          <a:prstGeom prst="rect">
            <a:avLst/>
          </a:prstGeom>
          <a:noFill/>
          <a:ln/>
        </p:spPr>
        <p:txBody>
          <a:bodyPr wrap="square" lIns="0" tIns="0" rIns="0" bIns="0" rtlCol="0" anchor="ctr"/>
          <a:lstStyle/>
          <a:p>
            <a:pPr marL="0" indent="0" algn="ctr">
              <a:buNone/>
            </a:pPr>
            <a:r>
              <a:rPr lang="en-US" sz="1050" b="1" kern="0" spc="100" dirty="0">
                <a:solidFill>
                  <a:srgbClr val="008F84"/>
                </a:solidFill>
              </a:rPr>
              <a:t>PART 2</a:t>
            </a:r>
            <a:endParaRPr lang="en-US" sz="1050" dirty="0"/>
          </a:p>
        </p:txBody>
      </p:sp>
      <p:sp>
        <p:nvSpPr>
          <p:cNvPr id="28" name="Shape 26"/>
          <p:cNvSpPr/>
          <p:nvPr/>
        </p:nvSpPr>
        <p:spPr>
          <a:xfrm>
            <a:off x="576072" y="3803904"/>
            <a:ext cx="18288" cy="310896"/>
          </a:xfrm>
          <a:prstGeom prst="rect">
            <a:avLst/>
          </a:prstGeom>
          <a:solidFill>
            <a:srgbClr val="CBD5E1"/>
          </a:solidFill>
          <a:ln w="12700">
            <a:solidFill>
              <a:srgbClr val="CBD5E1"/>
            </a:solidFill>
            <a:prstDash val="solid"/>
          </a:ln>
        </p:spPr>
        <p:txBody>
          <a:bodyPr/>
          <a:lstStyle/>
          <a:p>
            <a:endParaRPr lang="it-IT"/>
          </a:p>
        </p:txBody>
      </p:sp>
      <p:sp>
        <p:nvSpPr>
          <p:cNvPr id="29" name="Shape 27"/>
          <p:cNvSpPr/>
          <p:nvPr/>
        </p:nvSpPr>
        <p:spPr>
          <a:xfrm>
            <a:off x="411480" y="4151376"/>
            <a:ext cx="384048" cy="384048"/>
          </a:xfrm>
          <a:prstGeom prst="roundRect">
            <a:avLst>
              <a:gd name="adj" fmla="val 14286"/>
            </a:avLst>
          </a:prstGeom>
          <a:solidFill>
            <a:srgbClr val="00B4A6"/>
          </a:solidFill>
          <a:ln w="12700">
            <a:solidFill>
              <a:srgbClr val="00B4A6"/>
            </a:solidFill>
            <a:prstDash val="solid"/>
          </a:ln>
        </p:spPr>
        <p:txBody>
          <a:bodyPr/>
          <a:lstStyle/>
          <a:p>
            <a:endParaRPr lang="it-IT"/>
          </a:p>
        </p:txBody>
      </p:sp>
      <p:sp>
        <p:nvSpPr>
          <p:cNvPr id="30" name="Text 28"/>
          <p:cNvSpPr/>
          <p:nvPr/>
        </p:nvSpPr>
        <p:spPr>
          <a:xfrm>
            <a:off x="411480" y="4151376"/>
            <a:ext cx="384048" cy="384048"/>
          </a:xfrm>
          <a:prstGeom prst="rect">
            <a:avLst/>
          </a:prstGeom>
          <a:noFill/>
          <a:ln/>
        </p:spPr>
        <p:txBody>
          <a:bodyPr wrap="square" lIns="0" tIns="0" rIns="0" bIns="0" rtlCol="0" anchor="ctr"/>
          <a:lstStyle/>
          <a:p>
            <a:pPr marL="0" indent="0" algn="ctr">
              <a:buNone/>
            </a:pPr>
            <a:r>
              <a:rPr lang="en-US" sz="1600" b="1" dirty="0">
                <a:solidFill>
                  <a:srgbClr val="FFFFFF"/>
                </a:solidFill>
              </a:rPr>
              <a:t>05</a:t>
            </a:r>
            <a:endParaRPr lang="en-US" sz="1600" dirty="0"/>
          </a:p>
        </p:txBody>
      </p:sp>
      <p:sp>
        <p:nvSpPr>
          <p:cNvPr id="31" name="Text 29"/>
          <p:cNvSpPr/>
          <p:nvPr/>
        </p:nvSpPr>
        <p:spPr>
          <a:xfrm>
            <a:off x="914400" y="4133088"/>
            <a:ext cx="3840480" cy="237744"/>
          </a:xfrm>
          <a:prstGeom prst="rect">
            <a:avLst/>
          </a:prstGeom>
          <a:noFill/>
          <a:ln/>
        </p:spPr>
        <p:txBody>
          <a:bodyPr wrap="square" lIns="0" tIns="0" rIns="0" bIns="0" rtlCol="0" anchor="ctr"/>
          <a:lstStyle/>
          <a:p>
            <a:pPr marL="0" indent="0">
              <a:buNone/>
            </a:pPr>
            <a:r>
              <a:rPr lang="en-US" b="1" dirty="0">
                <a:solidFill>
                  <a:srgbClr val="1C2B4A"/>
                </a:solidFill>
                <a:latin typeface="Calibri" pitchFamily="34" charset="0"/>
                <a:ea typeface="Calibri" pitchFamily="34" charset="-122"/>
                <a:cs typeface="Calibri" pitchFamily="34" charset="-120"/>
              </a:rPr>
              <a:t>Critical Discussion</a:t>
            </a:r>
            <a:endParaRPr lang="en-US" dirty="0"/>
          </a:p>
        </p:txBody>
      </p:sp>
      <p:sp>
        <p:nvSpPr>
          <p:cNvPr id="32" name="Text 30"/>
          <p:cNvSpPr/>
          <p:nvPr/>
        </p:nvSpPr>
        <p:spPr>
          <a:xfrm>
            <a:off x="914400" y="4379976"/>
            <a:ext cx="6858000" cy="201168"/>
          </a:xfrm>
          <a:prstGeom prst="rect">
            <a:avLst/>
          </a:prstGeom>
          <a:noFill/>
          <a:ln/>
        </p:spPr>
        <p:txBody>
          <a:bodyPr wrap="square" lIns="0" tIns="0" rIns="0" bIns="0" rtlCol="0" anchor="ctr"/>
          <a:lstStyle/>
          <a:p>
            <a:pPr marL="0" indent="0">
              <a:buNone/>
            </a:pPr>
            <a:r>
              <a:rPr lang="en-US" sz="1600" dirty="0">
                <a:solidFill>
                  <a:srgbClr val="7A8FA6"/>
                </a:solidFill>
                <a:latin typeface="Calibri" pitchFamily="34" charset="0"/>
                <a:ea typeface="Calibri" pitchFamily="34" charset="-122"/>
                <a:cs typeface="Calibri" pitchFamily="34" charset="-120"/>
              </a:rPr>
              <a:t>Error analysis · limitations · future directions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1371600"/>
            <a:ext cx="8321040" cy="384048"/>
          </a:xfrm>
          <a:prstGeom prst="rect">
            <a:avLst/>
          </a:prstGeom>
          <a:noFill/>
          <a:ln/>
        </p:spPr>
        <p:txBody>
          <a:bodyPr wrap="square" lIns="0" tIns="0" rIns="0" bIns="0" rtlCol="0" anchor="ctr"/>
          <a:lstStyle/>
          <a:p>
            <a:pPr marL="0" indent="0">
              <a:buNone/>
            </a:pPr>
            <a:r>
              <a:rPr lang="en-US" sz="1100" b="1" kern="0" spc="300" dirty="0">
                <a:solidFill>
                  <a:srgbClr val="00B4A6"/>
                </a:solidFill>
                <a:latin typeface="Calibri" pitchFamily="34" charset="0"/>
                <a:ea typeface="Calibri" pitchFamily="34" charset="-122"/>
                <a:cs typeface="Calibri" pitchFamily="34" charset="-120"/>
              </a:rPr>
              <a:t>PART 1 — TECHNICAL</a:t>
            </a:r>
            <a:endParaRPr lang="en-US" sz="1100" dirty="0"/>
          </a:p>
        </p:txBody>
      </p:sp>
      <p:sp>
        <p:nvSpPr>
          <p:cNvPr id="4" name="Text 2"/>
          <p:cNvSpPr/>
          <p:nvPr/>
        </p:nvSpPr>
        <p:spPr>
          <a:xfrm>
            <a:off x="411480" y="1828800"/>
            <a:ext cx="8321040" cy="8229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Problem, Pipeline &amp; Results</a:t>
            </a:r>
            <a:endParaRPr lang="en-US" sz="3800" dirty="0"/>
          </a:p>
        </p:txBody>
      </p:sp>
      <p:sp>
        <p:nvSpPr>
          <p:cNvPr id="5" name="Text 3"/>
          <p:cNvSpPr/>
          <p:nvPr/>
        </p:nvSpPr>
        <p:spPr>
          <a:xfrm>
            <a:off x="411480" y="2788920"/>
            <a:ext cx="8321040" cy="548640"/>
          </a:xfrm>
          <a:prstGeom prst="rect">
            <a:avLst/>
          </a:prstGeom>
          <a:noFill/>
          <a:ln/>
        </p:spPr>
        <p:txBody>
          <a:bodyPr wrap="square" lIns="0" tIns="0" rIns="0" bIns="0" rtlCol="0" anchor="ctr"/>
          <a:lstStyle/>
          <a:p>
            <a:pPr marL="0" indent="0">
              <a:buNone/>
            </a:pPr>
            <a:r>
              <a:rPr lang="en-US" sz="1250" dirty="0">
                <a:solidFill>
                  <a:srgbClr val="7A8FA6"/>
                </a:solidFill>
                <a:latin typeface="Calibri" pitchFamily="34" charset="0"/>
                <a:ea typeface="Calibri" pitchFamily="34" charset="-122"/>
                <a:cs typeface="Calibri" pitchFamily="34" charset="-120"/>
              </a:rPr>
              <a:t>Problem definition · feature engineering · model selection</a:t>
            </a:r>
            <a:endParaRPr lang="en-US" sz="1250" dirty="0"/>
          </a:p>
          <a:p>
            <a:pPr marL="0" indent="0">
              <a:buNone/>
            </a:pPr>
            <a:r>
              <a:rPr lang="en-US" sz="1250" dirty="0">
                <a:solidFill>
                  <a:srgbClr val="7A8FA6"/>
                </a:solidFill>
                <a:latin typeface="Calibri" pitchFamily="34" charset="0"/>
                <a:ea typeface="Calibri" pitchFamily="34" charset="-122"/>
                <a:cs typeface="Calibri" pitchFamily="34" charset="-120"/>
              </a:rPr>
              <a:t>hyperparameter optimization · evaluation · test-set results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PROBLEM</a:t>
            </a:r>
            <a:endParaRPr lang="en-US" sz="75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Problem Definition &amp; Dataset</a:t>
            </a:r>
            <a:endParaRPr lang="en-US" sz="2400" dirty="0"/>
          </a:p>
        </p:txBody>
      </p:sp>
      <p:sp>
        <p:nvSpPr>
          <p:cNvPr id="5" name="Text 3"/>
          <p:cNvSpPr/>
          <p:nvPr/>
        </p:nvSpPr>
        <p:spPr>
          <a:xfrm>
            <a:off x="411480" y="1170432"/>
            <a:ext cx="4114800" cy="274320"/>
          </a:xfrm>
          <a:prstGeom prst="rect">
            <a:avLst/>
          </a:prstGeom>
          <a:noFill/>
          <a:ln/>
        </p:spPr>
        <p:txBody>
          <a:bodyPr wrap="square" lIns="0" tIns="0" rIns="0" bIns="0" rtlCol="0" anchor="ctr"/>
          <a:lstStyle/>
          <a:p>
            <a:pPr marL="0" indent="0">
              <a:buNone/>
            </a:pPr>
            <a:r>
              <a:rPr lang="en-US" sz="1600" b="1" dirty="0">
                <a:solidFill>
                  <a:srgbClr val="1C2B4A"/>
                </a:solidFill>
                <a:latin typeface="Calibri" pitchFamily="34" charset="0"/>
                <a:ea typeface="Calibri" pitchFamily="34" charset="-122"/>
                <a:cs typeface="Calibri" pitchFamily="34" charset="-120"/>
              </a:rPr>
              <a:t>The Problem</a:t>
            </a:r>
            <a:endParaRPr lang="en-US" sz="1600" dirty="0"/>
          </a:p>
        </p:txBody>
      </p:sp>
      <p:sp>
        <p:nvSpPr>
          <p:cNvPr id="6" name="Text 4"/>
          <p:cNvSpPr/>
          <p:nvPr/>
        </p:nvSpPr>
        <p:spPr>
          <a:xfrm>
            <a:off x="411480" y="1481328"/>
            <a:ext cx="4069080" cy="2962656"/>
          </a:xfrm>
          <a:prstGeom prst="rect">
            <a:avLst/>
          </a:prstGeom>
          <a:noFill/>
          <a:ln/>
        </p:spPr>
        <p:txBody>
          <a:bodyPr wrap="square" lIns="0" tIns="0" rIns="0" bIns="0" rtlCol="0" anchor="t"/>
          <a:lstStyle/>
          <a:p>
            <a:r>
              <a:rPr lang="it-IT" sz="1200" dirty="0"/>
              <a:t>The </a:t>
            </a:r>
            <a:r>
              <a:rPr lang="it-IT" sz="1200" dirty="0" err="1"/>
              <a:t>Steam</a:t>
            </a:r>
            <a:r>
              <a:rPr lang="it-IT" sz="1200" dirty="0"/>
              <a:t> PC gaming market </a:t>
            </a:r>
            <a:r>
              <a:rPr lang="it-IT" sz="1200" dirty="0" err="1"/>
              <a:t>sees</a:t>
            </a:r>
            <a:r>
              <a:rPr lang="it-IT" sz="1200" dirty="0"/>
              <a:t> </a:t>
            </a:r>
            <a:r>
              <a:rPr lang="it-IT" sz="1200" dirty="0" err="1"/>
              <a:t>thousands</a:t>
            </a:r>
            <a:r>
              <a:rPr lang="it-IT" sz="1200" dirty="0"/>
              <a:t> of </a:t>
            </a:r>
            <a:r>
              <a:rPr lang="it-IT" sz="1200" dirty="0" err="1"/>
              <a:t>annual</a:t>
            </a:r>
            <a:r>
              <a:rPr lang="it-IT" sz="1200" dirty="0"/>
              <a:t> releases, with commercial performance following a </a:t>
            </a:r>
            <a:r>
              <a:rPr lang="it-IT" sz="1200" dirty="0" err="1"/>
              <a:t>steep</a:t>
            </a:r>
            <a:r>
              <a:rPr lang="it-IT" sz="1200" dirty="0"/>
              <a:t> </a:t>
            </a:r>
            <a:r>
              <a:rPr lang="it-IT" sz="1200" b="1" dirty="0"/>
              <a:t>power-</a:t>
            </a:r>
            <a:r>
              <a:rPr lang="it-IT" sz="1200" b="1" dirty="0" err="1"/>
              <a:t>law</a:t>
            </a:r>
            <a:r>
              <a:rPr lang="it-IT" sz="1200" b="1" dirty="0"/>
              <a:t> </a:t>
            </a:r>
            <a:r>
              <a:rPr lang="it-IT" sz="1200" b="1" dirty="0" err="1"/>
              <a:t>distribution</a:t>
            </a:r>
            <a:endParaRPr lang="it-IT" sz="1200" b="1" dirty="0"/>
          </a:p>
          <a:p>
            <a:endParaRPr lang="it-IT" sz="1200" dirty="0"/>
          </a:p>
          <a:p>
            <a:r>
              <a:rPr lang="it-IT" sz="1200" dirty="0"/>
              <a:t>A </a:t>
            </a:r>
            <a:r>
              <a:rPr lang="it-IT" sz="1200" dirty="0" err="1"/>
              <a:t>tiny</a:t>
            </a:r>
            <a:r>
              <a:rPr lang="it-IT" sz="1200" dirty="0"/>
              <a:t> </a:t>
            </a:r>
            <a:r>
              <a:rPr lang="it-IT" sz="1200" dirty="0" err="1"/>
              <a:t>fraction</a:t>
            </a:r>
            <a:r>
              <a:rPr lang="it-IT" sz="1200" dirty="0"/>
              <a:t> of </a:t>
            </a:r>
            <a:r>
              <a:rPr lang="it-IT" sz="1200" dirty="0" err="1"/>
              <a:t>titles</a:t>
            </a:r>
            <a:r>
              <a:rPr lang="it-IT" sz="1200" dirty="0"/>
              <a:t> </a:t>
            </a:r>
            <a:r>
              <a:rPr lang="it-IT" sz="1200" dirty="0" err="1"/>
              <a:t>capture</a:t>
            </a:r>
            <a:r>
              <a:rPr lang="it-IT" sz="1200" dirty="0"/>
              <a:t> massive adoption; the </a:t>
            </a:r>
            <a:r>
              <a:rPr lang="it-IT" sz="1200" dirty="0" err="1"/>
              <a:t>vast</a:t>
            </a:r>
            <a:r>
              <a:rPr lang="it-IT" sz="1200" dirty="0"/>
              <a:t> </a:t>
            </a:r>
            <a:r>
              <a:rPr lang="it-IT" sz="1200" dirty="0" err="1"/>
              <a:t>majority</a:t>
            </a:r>
            <a:r>
              <a:rPr lang="it-IT" sz="1200" dirty="0"/>
              <a:t> </a:t>
            </a:r>
            <a:r>
              <a:rPr lang="it-IT" sz="1200" dirty="0" err="1"/>
              <a:t>remain</a:t>
            </a:r>
            <a:r>
              <a:rPr lang="it-IT" sz="1200" dirty="0"/>
              <a:t> in the long-</a:t>
            </a:r>
            <a:r>
              <a:rPr lang="it-IT" sz="1200" dirty="0" err="1"/>
              <a:t>tail</a:t>
            </a:r>
            <a:r>
              <a:rPr lang="it-IT" sz="1200" dirty="0"/>
              <a:t> with minimal sales</a:t>
            </a:r>
          </a:p>
          <a:p>
            <a:endParaRPr lang="it-IT" sz="1200" dirty="0"/>
          </a:p>
          <a:p>
            <a:r>
              <a:rPr lang="it-IT" sz="1200" b="1" dirty="0" err="1"/>
              <a:t>HitPredictor-Steam</a:t>
            </a:r>
            <a:r>
              <a:rPr lang="it-IT" sz="1200" dirty="0"/>
              <a:t> </a:t>
            </a:r>
            <a:r>
              <a:rPr lang="it-IT" sz="1200" dirty="0" err="1"/>
              <a:t>delivers</a:t>
            </a:r>
            <a:r>
              <a:rPr lang="it-IT" sz="1200" dirty="0"/>
              <a:t> an </a:t>
            </a:r>
            <a:r>
              <a:rPr lang="it-IT" sz="1200" dirty="0" err="1"/>
              <a:t>Classifier</a:t>
            </a:r>
            <a:r>
              <a:rPr lang="it-IT" sz="1200" dirty="0"/>
              <a:t> ML pipeline to </a:t>
            </a:r>
            <a:r>
              <a:rPr lang="it-IT" sz="1200" dirty="0" err="1"/>
              <a:t>predict</a:t>
            </a:r>
            <a:r>
              <a:rPr lang="it-IT" sz="1200" dirty="0"/>
              <a:t> commercial adoption </a:t>
            </a:r>
            <a:r>
              <a:rPr lang="it-IT" sz="1200" dirty="0" err="1"/>
              <a:t>trajectories</a:t>
            </a:r>
            <a:r>
              <a:rPr lang="it-IT" sz="1200" dirty="0"/>
              <a:t> ("hit status") </a:t>
            </a:r>
            <a:r>
              <a:rPr lang="it-IT" sz="1200" dirty="0" err="1"/>
              <a:t>using</a:t>
            </a:r>
            <a:r>
              <a:rPr lang="it-IT" sz="1200" dirty="0"/>
              <a:t> </a:t>
            </a:r>
            <a:r>
              <a:rPr lang="it-IT" sz="1200" dirty="0" err="1"/>
              <a:t>storefront</a:t>
            </a:r>
            <a:r>
              <a:rPr lang="it-IT" sz="1200" dirty="0"/>
              <a:t> metadata</a:t>
            </a:r>
          </a:p>
          <a:p>
            <a:endParaRPr lang="it-IT" sz="1200" dirty="0"/>
          </a:p>
          <a:p>
            <a:r>
              <a:rPr lang="en-US" sz="1200" dirty="0"/>
              <a:t>Two models have been developed: one works pre-release, predicting a game's end users before its launch. The post-release model instead classifies the popularity of already-released games, allowing for market analysis.</a:t>
            </a:r>
            <a:endParaRPr lang="it-IT" sz="1200" dirty="0"/>
          </a:p>
          <a:p>
            <a:endParaRPr lang="it-IT" sz="1200" dirty="0"/>
          </a:p>
          <a:p>
            <a:r>
              <a:rPr lang="it-IT" sz="1200" dirty="0" err="1"/>
              <a:t>Primary</a:t>
            </a:r>
            <a:r>
              <a:rPr lang="it-IT" sz="1200" dirty="0"/>
              <a:t> </a:t>
            </a:r>
            <a:r>
              <a:rPr lang="it-IT" sz="1200" dirty="0" err="1"/>
              <a:t>objective</a:t>
            </a:r>
            <a:r>
              <a:rPr lang="it-IT" sz="1200" dirty="0"/>
              <a:t>: </a:t>
            </a:r>
            <a:r>
              <a:rPr lang="it-IT" sz="1200" dirty="0" err="1"/>
              <a:t>equip</a:t>
            </a:r>
            <a:r>
              <a:rPr lang="it-IT" sz="1200" dirty="0"/>
              <a:t> </a:t>
            </a:r>
            <a:r>
              <a:rPr lang="it-IT" sz="1200" dirty="0" err="1"/>
              <a:t>independent</a:t>
            </a:r>
            <a:r>
              <a:rPr lang="it-IT" sz="1200" dirty="0"/>
              <a:t> developers and publishers with </a:t>
            </a:r>
            <a:r>
              <a:rPr lang="it-IT" sz="1200" b="1" dirty="0"/>
              <a:t>data-</a:t>
            </a:r>
            <a:r>
              <a:rPr lang="it-IT" sz="1200" b="1" dirty="0" err="1"/>
              <a:t>driven</a:t>
            </a:r>
            <a:r>
              <a:rPr lang="it-IT" sz="1200" b="1" dirty="0"/>
              <a:t> </a:t>
            </a:r>
            <a:r>
              <a:rPr lang="it-IT" sz="1200" b="1" dirty="0" err="1"/>
              <a:t>decision</a:t>
            </a:r>
            <a:r>
              <a:rPr lang="it-IT" sz="1200" b="1" dirty="0"/>
              <a:t> tools</a:t>
            </a:r>
            <a:r>
              <a:rPr lang="it-IT" sz="1200" dirty="0"/>
              <a:t> </a:t>
            </a:r>
            <a:r>
              <a:rPr lang="it-IT" sz="1200" dirty="0" err="1"/>
              <a:t>prior</a:t>
            </a:r>
            <a:r>
              <a:rPr lang="it-IT" sz="1200" dirty="0"/>
              <a:t> to capital </a:t>
            </a:r>
            <a:r>
              <a:rPr lang="it-IT" sz="1200" dirty="0" err="1"/>
              <a:t>allocation</a:t>
            </a:r>
            <a:endParaRPr lang="it-IT" sz="1200" dirty="0"/>
          </a:p>
        </p:txBody>
      </p:sp>
      <p:sp>
        <p:nvSpPr>
          <p:cNvPr id="9" name="Shape 7"/>
          <p:cNvSpPr/>
          <p:nvPr/>
        </p:nvSpPr>
        <p:spPr>
          <a:xfrm>
            <a:off x="4663440" y="1115568"/>
            <a:ext cx="4069080" cy="2962656"/>
          </a:xfrm>
          <a:prstGeom prst="roundRect">
            <a:avLst>
              <a:gd name="adj" fmla="val 3086"/>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dirty="0"/>
          </a:p>
        </p:txBody>
      </p:sp>
      <p:sp>
        <p:nvSpPr>
          <p:cNvPr id="10" name="Text 8"/>
          <p:cNvSpPr/>
          <p:nvPr/>
        </p:nvSpPr>
        <p:spPr>
          <a:xfrm>
            <a:off x="4828032" y="1225296"/>
            <a:ext cx="3749040"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Dataset at a Glance</a:t>
            </a:r>
            <a:endParaRPr lang="en-US" sz="1200" dirty="0"/>
          </a:p>
        </p:txBody>
      </p:sp>
      <p:sp>
        <p:nvSpPr>
          <p:cNvPr id="11" name="Shape 9"/>
          <p:cNvSpPr/>
          <p:nvPr/>
        </p:nvSpPr>
        <p:spPr>
          <a:xfrm>
            <a:off x="4663440" y="1572768"/>
            <a:ext cx="4069080" cy="265176"/>
          </a:xfrm>
          <a:prstGeom prst="rect">
            <a:avLst/>
          </a:prstGeom>
          <a:solidFill>
            <a:srgbClr val="F8FAFC"/>
          </a:solidFill>
          <a:ln w="6350">
            <a:solidFill>
              <a:srgbClr val="CBD5E1"/>
            </a:solidFill>
            <a:prstDash val="solid"/>
          </a:ln>
        </p:spPr>
        <p:txBody>
          <a:bodyPr/>
          <a:lstStyle/>
          <a:p>
            <a:endParaRPr lang="it-IT" dirty="0"/>
          </a:p>
        </p:txBody>
      </p:sp>
      <p:sp>
        <p:nvSpPr>
          <p:cNvPr id="12" name="Text 10"/>
          <p:cNvSpPr/>
          <p:nvPr/>
        </p:nvSpPr>
        <p:spPr>
          <a:xfrm>
            <a:off x="4736592" y="160934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Task</a:t>
            </a:r>
            <a:endParaRPr lang="en-US" sz="950" dirty="0"/>
          </a:p>
        </p:txBody>
      </p:sp>
      <p:sp>
        <p:nvSpPr>
          <p:cNvPr id="13" name="Text 11"/>
          <p:cNvSpPr/>
          <p:nvPr/>
        </p:nvSpPr>
        <p:spPr>
          <a:xfrm>
            <a:off x="6035040" y="1609344"/>
            <a:ext cx="2606040" cy="201168"/>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Multiclass Classification</a:t>
            </a:r>
            <a:endParaRPr lang="en-US" sz="950" dirty="0"/>
          </a:p>
        </p:txBody>
      </p:sp>
      <p:sp>
        <p:nvSpPr>
          <p:cNvPr id="14" name="Shape 12"/>
          <p:cNvSpPr/>
          <p:nvPr/>
        </p:nvSpPr>
        <p:spPr>
          <a:xfrm>
            <a:off x="4663440" y="1847088"/>
            <a:ext cx="4069080" cy="265176"/>
          </a:xfrm>
          <a:prstGeom prst="rect">
            <a:avLst/>
          </a:prstGeom>
          <a:solidFill>
            <a:srgbClr val="FFFFFF"/>
          </a:solidFill>
          <a:ln w="6350">
            <a:solidFill>
              <a:srgbClr val="CBD5E1"/>
            </a:solidFill>
            <a:prstDash val="solid"/>
          </a:ln>
        </p:spPr>
        <p:txBody>
          <a:bodyPr/>
          <a:lstStyle/>
          <a:p>
            <a:endParaRPr lang="it-IT" dirty="0"/>
          </a:p>
        </p:txBody>
      </p:sp>
      <p:sp>
        <p:nvSpPr>
          <p:cNvPr id="15" name="Text 13"/>
          <p:cNvSpPr/>
          <p:nvPr/>
        </p:nvSpPr>
        <p:spPr>
          <a:xfrm>
            <a:off x="4736592" y="188366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Dataset</a:t>
            </a:r>
            <a:endParaRPr lang="en-US" sz="950" dirty="0"/>
          </a:p>
        </p:txBody>
      </p:sp>
      <p:sp>
        <p:nvSpPr>
          <p:cNvPr id="16" name="Text 14"/>
          <p:cNvSpPr/>
          <p:nvPr/>
        </p:nvSpPr>
        <p:spPr>
          <a:xfrm>
            <a:off x="6035040" y="1883664"/>
            <a:ext cx="2606040" cy="201168"/>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Steam Store and </a:t>
            </a:r>
            <a:r>
              <a:rPr lang="en-US" sz="950" i="1" dirty="0" err="1">
                <a:solidFill>
                  <a:srgbClr val="4A6587"/>
                </a:solidFill>
                <a:latin typeface="Calibri" pitchFamily="34" charset="0"/>
                <a:ea typeface="Calibri" pitchFamily="34" charset="-122"/>
                <a:cs typeface="Calibri" pitchFamily="34" charset="-120"/>
              </a:rPr>
              <a:t>SteamSpy</a:t>
            </a:r>
            <a:r>
              <a:rPr lang="en-US" sz="950" i="1" dirty="0">
                <a:solidFill>
                  <a:srgbClr val="4A6587"/>
                </a:solidFill>
                <a:latin typeface="Calibri" pitchFamily="34" charset="0"/>
                <a:ea typeface="Calibri" pitchFamily="34" charset="-122"/>
                <a:cs typeface="Calibri" pitchFamily="34" charset="-120"/>
              </a:rPr>
              <a:t> Data (Kaggle)</a:t>
            </a:r>
            <a:endParaRPr lang="en-US" sz="950" dirty="0"/>
          </a:p>
        </p:txBody>
      </p:sp>
      <p:sp>
        <p:nvSpPr>
          <p:cNvPr id="17" name="Shape 15"/>
          <p:cNvSpPr/>
          <p:nvPr/>
        </p:nvSpPr>
        <p:spPr>
          <a:xfrm>
            <a:off x="4663440" y="2121408"/>
            <a:ext cx="4069080" cy="265176"/>
          </a:xfrm>
          <a:prstGeom prst="rect">
            <a:avLst/>
          </a:prstGeom>
          <a:solidFill>
            <a:srgbClr val="F8FAFC"/>
          </a:solidFill>
          <a:ln w="6350">
            <a:solidFill>
              <a:srgbClr val="CBD5E1"/>
            </a:solidFill>
            <a:prstDash val="solid"/>
          </a:ln>
        </p:spPr>
        <p:txBody>
          <a:bodyPr/>
          <a:lstStyle/>
          <a:p>
            <a:endParaRPr lang="it-IT"/>
          </a:p>
        </p:txBody>
      </p:sp>
      <p:sp>
        <p:nvSpPr>
          <p:cNvPr id="18" name="Text 16"/>
          <p:cNvSpPr/>
          <p:nvPr/>
        </p:nvSpPr>
        <p:spPr>
          <a:xfrm>
            <a:off x="4736592" y="215798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Target</a:t>
            </a:r>
            <a:endParaRPr lang="en-US" sz="950" dirty="0"/>
          </a:p>
        </p:txBody>
      </p:sp>
      <p:sp>
        <p:nvSpPr>
          <p:cNvPr id="19" name="Text 17"/>
          <p:cNvSpPr/>
          <p:nvPr/>
        </p:nvSpPr>
        <p:spPr>
          <a:xfrm>
            <a:off x="6035040" y="2157984"/>
            <a:ext cx="2606040" cy="201168"/>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Owners – Range of players who purchased the game</a:t>
            </a:r>
            <a:endParaRPr lang="en-US" sz="950" dirty="0"/>
          </a:p>
        </p:txBody>
      </p:sp>
      <p:sp>
        <p:nvSpPr>
          <p:cNvPr id="20" name="Shape 18"/>
          <p:cNvSpPr/>
          <p:nvPr/>
        </p:nvSpPr>
        <p:spPr>
          <a:xfrm>
            <a:off x="4663440" y="2395728"/>
            <a:ext cx="4069080" cy="265176"/>
          </a:xfrm>
          <a:prstGeom prst="rect">
            <a:avLst/>
          </a:prstGeom>
          <a:solidFill>
            <a:srgbClr val="FFFFFF"/>
          </a:solidFill>
          <a:ln w="6350">
            <a:solidFill>
              <a:srgbClr val="CBD5E1"/>
            </a:solidFill>
            <a:prstDash val="solid"/>
          </a:ln>
        </p:spPr>
        <p:txBody>
          <a:bodyPr/>
          <a:lstStyle/>
          <a:p>
            <a:endParaRPr lang="it-IT"/>
          </a:p>
        </p:txBody>
      </p:sp>
      <p:sp>
        <p:nvSpPr>
          <p:cNvPr id="21" name="Text 19"/>
          <p:cNvSpPr/>
          <p:nvPr/>
        </p:nvSpPr>
        <p:spPr>
          <a:xfrm>
            <a:off x="4736592" y="243230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Features</a:t>
            </a:r>
            <a:endParaRPr lang="en-US" sz="950" dirty="0"/>
          </a:p>
        </p:txBody>
      </p:sp>
      <p:sp>
        <p:nvSpPr>
          <p:cNvPr id="22" name="Text 20"/>
          <p:cNvSpPr/>
          <p:nvPr/>
        </p:nvSpPr>
        <p:spPr>
          <a:xfrm>
            <a:off x="6035040" y="2432304"/>
            <a:ext cx="2606040" cy="201168"/>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Numerical, Categorical, Textual</a:t>
            </a:r>
            <a:endParaRPr lang="en-US" sz="950" dirty="0"/>
          </a:p>
        </p:txBody>
      </p:sp>
      <p:sp>
        <p:nvSpPr>
          <p:cNvPr id="24" name="Text 22"/>
          <p:cNvSpPr/>
          <p:nvPr/>
        </p:nvSpPr>
        <p:spPr>
          <a:xfrm>
            <a:off x="4736592" y="270662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Missing values</a:t>
            </a:r>
            <a:endParaRPr lang="en-US" sz="950" dirty="0"/>
          </a:p>
        </p:txBody>
      </p:sp>
      <p:sp>
        <p:nvSpPr>
          <p:cNvPr id="25" name="Text 23"/>
          <p:cNvSpPr/>
          <p:nvPr/>
        </p:nvSpPr>
        <p:spPr>
          <a:xfrm>
            <a:off x="5894363" y="2706624"/>
            <a:ext cx="2746717" cy="201168"/>
          </a:xfrm>
          <a:prstGeom prst="rect">
            <a:avLst/>
          </a:prstGeom>
          <a:noFill/>
          <a:ln/>
        </p:spPr>
        <p:txBody>
          <a:bodyPr wrap="square" lIns="0" tIns="0" rIns="0" bIns="0" rtlCol="0" anchor="ctr"/>
          <a:lstStyle/>
          <a:p>
            <a:r>
              <a:rPr lang="en-US" sz="950" i="1" dirty="0">
                <a:solidFill>
                  <a:srgbClr val="4A6587"/>
                </a:solidFill>
                <a:latin typeface="Calibri" pitchFamily="34" charset="0"/>
                <a:ea typeface="Calibri" pitchFamily="34" charset="-122"/>
                <a:cs typeface="Calibri" pitchFamily="34" charset="-120"/>
              </a:rPr>
              <a:t>17.89% missing values, before cleaning and text mining</a:t>
            </a:r>
            <a:endParaRPr lang="en-US" sz="950" dirty="0"/>
          </a:p>
        </p:txBody>
      </p:sp>
      <p:sp>
        <p:nvSpPr>
          <p:cNvPr id="26" name="Shape 24"/>
          <p:cNvSpPr/>
          <p:nvPr/>
        </p:nvSpPr>
        <p:spPr>
          <a:xfrm>
            <a:off x="4663440" y="2944368"/>
            <a:ext cx="4069080" cy="265176"/>
          </a:xfrm>
          <a:prstGeom prst="rect">
            <a:avLst/>
          </a:prstGeom>
          <a:solidFill>
            <a:srgbClr val="FFFFFF"/>
          </a:solidFill>
          <a:ln w="6350">
            <a:solidFill>
              <a:srgbClr val="CBD5E1"/>
            </a:solidFill>
            <a:prstDash val="solid"/>
          </a:ln>
        </p:spPr>
        <p:txBody>
          <a:bodyPr/>
          <a:lstStyle/>
          <a:p>
            <a:endParaRPr lang="it-IT"/>
          </a:p>
        </p:txBody>
      </p:sp>
      <p:sp>
        <p:nvSpPr>
          <p:cNvPr id="27" name="Text 25"/>
          <p:cNvSpPr/>
          <p:nvPr/>
        </p:nvSpPr>
        <p:spPr>
          <a:xfrm>
            <a:off x="4736592" y="298094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Class balance</a:t>
            </a:r>
            <a:endParaRPr lang="en-US" sz="950" dirty="0"/>
          </a:p>
        </p:txBody>
      </p:sp>
      <p:sp>
        <p:nvSpPr>
          <p:cNvPr id="28" name="Text 26"/>
          <p:cNvSpPr/>
          <p:nvPr/>
        </p:nvSpPr>
        <p:spPr>
          <a:xfrm>
            <a:off x="6035040" y="2980944"/>
            <a:ext cx="2606040" cy="201168"/>
          </a:xfrm>
          <a:prstGeom prst="rect">
            <a:avLst/>
          </a:prstGeom>
          <a:noFill/>
          <a:ln/>
        </p:spPr>
        <p:txBody>
          <a:bodyPr wrap="square" lIns="0" tIns="0" rIns="0" bIns="0" rtlCol="0" anchor="ctr"/>
          <a:lstStyle/>
          <a:p>
            <a:r>
              <a:rPr lang="en-US" sz="950" i="1" dirty="0">
                <a:solidFill>
                  <a:srgbClr val="4A6587"/>
                </a:solidFill>
                <a:latin typeface="Calibri" pitchFamily="34" charset="0"/>
                <a:ea typeface="Calibri" pitchFamily="34" charset="-122"/>
                <a:cs typeface="Calibri" pitchFamily="34" charset="-120"/>
              </a:rPr>
              <a:t>Heavily unbalanced, class 0 contains 69% of the data </a:t>
            </a:r>
            <a:endParaRPr lang="en-US" sz="950" dirty="0"/>
          </a:p>
        </p:txBody>
      </p:sp>
      <p:sp>
        <p:nvSpPr>
          <p:cNvPr id="29" name="Shape 27"/>
          <p:cNvSpPr/>
          <p:nvPr/>
        </p:nvSpPr>
        <p:spPr>
          <a:xfrm>
            <a:off x="4663440" y="3218688"/>
            <a:ext cx="4069080" cy="265176"/>
          </a:xfrm>
          <a:prstGeom prst="rect">
            <a:avLst/>
          </a:prstGeom>
          <a:solidFill>
            <a:srgbClr val="F8FAFC"/>
          </a:solidFill>
          <a:ln w="6350">
            <a:solidFill>
              <a:srgbClr val="CBD5E1"/>
            </a:solidFill>
            <a:prstDash val="solid"/>
          </a:ln>
        </p:spPr>
        <p:txBody>
          <a:bodyPr/>
          <a:lstStyle/>
          <a:p>
            <a:endParaRPr lang="it-IT"/>
          </a:p>
        </p:txBody>
      </p:sp>
      <p:sp>
        <p:nvSpPr>
          <p:cNvPr id="30" name="Text 28"/>
          <p:cNvSpPr/>
          <p:nvPr/>
        </p:nvSpPr>
        <p:spPr>
          <a:xfrm>
            <a:off x="4736592" y="325526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Split</a:t>
            </a:r>
            <a:endParaRPr lang="en-US" sz="950" dirty="0"/>
          </a:p>
        </p:txBody>
      </p:sp>
      <p:sp>
        <p:nvSpPr>
          <p:cNvPr id="31" name="Text 29"/>
          <p:cNvSpPr/>
          <p:nvPr/>
        </p:nvSpPr>
        <p:spPr>
          <a:xfrm>
            <a:off x="6035040" y="3246120"/>
            <a:ext cx="2606040" cy="210312"/>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5 splits for outer loop, 3 for inner loop</a:t>
            </a:r>
            <a:endParaRPr lang="en-US" sz="950" dirty="0"/>
          </a:p>
        </p:txBody>
      </p:sp>
      <p:sp>
        <p:nvSpPr>
          <p:cNvPr id="32" name="Shape 30"/>
          <p:cNvSpPr/>
          <p:nvPr/>
        </p:nvSpPr>
        <p:spPr>
          <a:xfrm>
            <a:off x="4663440" y="3493008"/>
            <a:ext cx="4069080" cy="265176"/>
          </a:xfrm>
          <a:prstGeom prst="rect">
            <a:avLst/>
          </a:prstGeom>
          <a:solidFill>
            <a:srgbClr val="FFFFFF"/>
          </a:solidFill>
          <a:ln w="6350">
            <a:solidFill>
              <a:srgbClr val="CBD5E1"/>
            </a:solidFill>
            <a:prstDash val="solid"/>
          </a:ln>
        </p:spPr>
        <p:txBody>
          <a:bodyPr/>
          <a:lstStyle/>
          <a:p>
            <a:endParaRPr lang="it-IT"/>
          </a:p>
        </p:txBody>
      </p:sp>
      <p:sp>
        <p:nvSpPr>
          <p:cNvPr id="33" name="Text 31"/>
          <p:cNvSpPr/>
          <p:nvPr/>
        </p:nvSpPr>
        <p:spPr>
          <a:xfrm>
            <a:off x="4736592" y="3529584"/>
            <a:ext cx="1234440" cy="201168"/>
          </a:xfrm>
          <a:prstGeom prst="rect">
            <a:avLst/>
          </a:prstGeom>
          <a:noFill/>
          <a:ln/>
        </p:spPr>
        <p:txBody>
          <a:bodyPr wrap="square" lIns="0" tIns="0" rIns="0" bIns="0" rtlCol="0" anchor="ctr"/>
          <a:lstStyle/>
          <a:p>
            <a:pPr marL="0" indent="0">
              <a:buNone/>
            </a:pPr>
            <a:r>
              <a:rPr lang="en-US" sz="950" b="1" dirty="0">
                <a:solidFill>
                  <a:srgbClr val="1C2B4A"/>
                </a:solidFill>
                <a:latin typeface="Calibri" pitchFamily="34" charset="0"/>
                <a:ea typeface="Calibri" pitchFamily="34" charset="-122"/>
                <a:cs typeface="Calibri" pitchFamily="34" charset="-120"/>
              </a:rPr>
              <a:t>Metric(s)</a:t>
            </a:r>
            <a:endParaRPr lang="en-US" sz="950" dirty="0"/>
          </a:p>
        </p:txBody>
      </p:sp>
      <p:sp>
        <p:nvSpPr>
          <p:cNvPr id="34" name="Text 32"/>
          <p:cNvSpPr/>
          <p:nvPr/>
        </p:nvSpPr>
        <p:spPr>
          <a:xfrm>
            <a:off x="6035040" y="3529584"/>
            <a:ext cx="2606040" cy="201168"/>
          </a:xfrm>
          <a:prstGeom prst="rect">
            <a:avLst/>
          </a:prstGeom>
          <a:noFill/>
          <a:ln/>
        </p:spPr>
        <p:txBody>
          <a:bodyPr wrap="square" lIns="0" tIns="0" rIns="0" bIns="0" rtlCol="0" anchor="ctr"/>
          <a:lstStyle/>
          <a:p>
            <a:pPr marL="0" indent="0">
              <a:buNone/>
            </a:pPr>
            <a:r>
              <a:rPr lang="en-US" sz="950" i="1" dirty="0">
                <a:solidFill>
                  <a:srgbClr val="4A6587"/>
                </a:solidFill>
                <a:latin typeface="Calibri" pitchFamily="34" charset="0"/>
                <a:ea typeface="Calibri" pitchFamily="34" charset="-122"/>
                <a:cs typeface="Calibri" pitchFamily="34" charset="-120"/>
              </a:rPr>
              <a:t>QWK (Quadratic Weighted Kappa), F1-macro</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PROBLEM</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Exploratory Data Analysis</a:t>
            </a:r>
            <a:endParaRPr lang="en-US" sz="2400" dirty="0"/>
          </a:p>
        </p:txBody>
      </p:sp>
      <p:sp>
        <p:nvSpPr>
          <p:cNvPr id="6" name="Text 4"/>
          <p:cNvSpPr/>
          <p:nvPr/>
        </p:nvSpPr>
        <p:spPr>
          <a:xfrm>
            <a:off x="411480" y="1897380"/>
            <a:ext cx="4069080" cy="969264"/>
          </a:xfrm>
          <a:prstGeom prst="rect">
            <a:avLst/>
          </a:prstGeom>
          <a:noFill/>
          <a:ln/>
        </p:spPr>
        <p:txBody>
          <a:bodyPr wrap="square" lIns="0" tIns="0" rIns="0" bIns="0" rtlCol="0" anchor="ctr"/>
          <a:lstStyle/>
          <a:p>
            <a:pPr marL="0" indent="0" algn="ctr">
              <a:buNone/>
            </a:pPr>
            <a:r>
              <a:rPr lang="en-US" sz="1100" i="1" dirty="0">
                <a:solidFill>
                  <a:srgbClr val="7A8FA6"/>
                </a:solidFill>
              </a:rPr>
              <a:t>[ YOUR FIGURE HERE ]</a:t>
            </a:r>
            <a:endParaRPr lang="en-US" sz="1100" dirty="0"/>
          </a:p>
        </p:txBody>
      </p:sp>
      <p:sp>
        <p:nvSpPr>
          <p:cNvPr id="9" name="Text 7"/>
          <p:cNvSpPr/>
          <p:nvPr/>
        </p:nvSpPr>
        <p:spPr>
          <a:xfrm>
            <a:off x="4663440" y="1897380"/>
            <a:ext cx="4069080" cy="969264"/>
          </a:xfrm>
          <a:prstGeom prst="rect">
            <a:avLst/>
          </a:prstGeom>
          <a:noFill/>
          <a:ln/>
        </p:spPr>
        <p:txBody>
          <a:bodyPr wrap="square" lIns="0" tIns="0" rIns="0" bIns="0" rtlCol="0" anchor="ctr"/>
          <a:lstStyle/>
          <a:p>
            <a:pPr marL="0" indent="0" algn="ctr">
              <a:buNone/>
            </a:pPr>
            <a:r>
              <a:rPr lang="en-US" sz="1100" i="1" dirty="0">
                <a:solidFill>
                  <a:srgbClr val="7A8FA6"/>
                </a:solidFill>
              </a:rPr>
              <a:t>[ YOUR FIGURE HERE ]</a:t>
            </a:r>
            <a:endParaRPr lang="en-US" sz="1100" dirty="0"/>
          </a:p>
        </p:txBody>
      </p:sp>
      <p:sp>
        <p:nvSpPr>
          <p:cNvPr id="10" name="Text 8"/>
          <p:cNvSpPr/>
          <p:nvPr/>
        </p:nvSpPr>
        <p:spPr>
          <a:xfrm>
            <a:off x="4663440" y="2672791"/>
            <a:ext cx="4069080" cy="775411"/>
          </a:xfrm>
          <a:prstGeom prst="rect">
            <a:avLst/>
          </a:prstGeom>
          <a:noFill/>
          <a:ln/>
        </p:spPr>
        <p:txBody>
          <a:bodyPr wrap="square" lIns="0" tIns="0" rIns="0" bIns="0" rtlCol="0" anchor="t"/>
          <a:lstStyle/>
          <a:p>
            <a:pPr marL="0" indent="0" algn="ctr">
              <a:buNone/>
            </a:pPr>
            <a:r>
              <a:rPr lang="en-US" sz="850" dirty="0">
                <a:solidFill>
                  <a:srgbClr val="7A8FA6"/>
                </a:solidFill>
              </a:rPr>
              <a:t>Correlation heatmap or scatter matrix</a:t>
            </a:r>
            <a:endParaRPr lang="en-US" sz="850" dirty="0"/>
          </a:p>
        </p:txBody>
      </p:sp>
      <p:sp>
        <p:nvSpPr>
          <p:cNvPr id="13" name="Text 11"/>
          <p:cNvSpPr/>
          <p:nvPr/>
        </p:nvSpPr>
        <p:spPr>
          <a:xfrm>
            <a:off x="411480" y="3666744"/>
            <a:ext cx="8321040" cy="1229867"/>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Key findings from EDA:</a:t>
            </a:r>
          </a:p>
          <a:p>
            <a:pPr marL="171450" indent="-171450">
              <a:buFont typeface="Arial" panose="020B0604020202020204" pitchFamily="34" charset="0"/>
              <a:buChar char="•"/>
            </a:pPr>
            <a:r>
              <a:rPr lang="en-US" sz="1200" dirty="0"/>
              <a:t>Severe class imbalance is present, with the Indie Long-Tail (Tier 0) dominating the dataset at over 69%</a:t>
            </a:r>
          </a:p>
          <a:p>
            <a:pPr marL="171450" indent="-171450">
              <a:buFont typeface="Arial" panose="020B0604020202020204" pitchFamily="34" charset="0"/>
              <a:buChar char="•"/>
            </a:pPr>
            <a:r>
              <a:rPr lang="en-US" sz="1200" dirty="0"/>
              <a:t>The original 13 high-variance classes representing the owner ranges have been engineered into 5 ordinal macro-tiers to enable effective classification.</a:t>
            </a:r>
          </a:p>
          <a:p>
            <a:pPr marL="171450" indent="-171450">
              <a:buFont typeface="Arial" panose="020B0604020202020204" pitchFamily="34" charset="0"/>
              <a:buChar char="•"/>
            </a:pPr>
            <a:r>
              <a:rPr lang="en-US" sz="1200" dirty="0"/>
              <a:t>To prevent target leakage, post-launch engagement features (like reviews and concurrent users) must be bifurcated from pre-launch metadata, creating two operational models.</a:t>
            </a:r>
          </a:p>
        </p:txBody>
      </p:sp>
      <p:pic>
        <p:nvPicPr>
          <p:cNvPr id="18" name="Immagine 17">
            <a:extLst>
              <a:ext uri="{FF2B5EF4-FFF2-40B4-BE49-F238E27FC236}">
                <a16:creationId xmlns:a16="http://schemas.microsoft.com/office/drawing/2014/main" id="{F640A245-CF50-E2CF-C6E4-459E85D5B28C}"/>
              </a:ext>
            </a:extLst>
          </p:cNvPr>
          <p:cNvPicPr>
            <a:picLocks noChangeAspect="1"/>
          </p:cNvPicPr>
          <p:nvPr/>
        </p:nvPicPr>
        <p:blipFill>
          <a:blip r:embed="rId3"/>
          <a:stretch>
            <a:fillRect/>
          </a:stretch>
        </p:blipFill>
        <p:spPr>
          <a:xfrm>
            <a:off x="1248865" y="1058945"/>
            <a:ext cx="2577190" cy="2646133"/>
          </a:xfrm>
          <a:prstGeom prst="rect">
            <a:avLst/>
          </a:prstGeom>
        </p:spPr>
      </p:pic>
      <p:pic>
        <p:nvPicPr>
          <p:cNvPr id="20" name="Immagine 19">
            <a:extLst>
              <a:ext uri="{FF2B5EF4-FFF2-40B4-BE49-F238E27FC236}">
                <a16:creationId xmlns:a16="http://schemas.microsoft.com/office/drawing/2014/main" id="{238E9E3A-41C8-55FD-7D69-1880C6ED0AD4}"/>
              </a:ext>
            </a:extLst>
          </p:cNvPr>
          <p:cNvPicPr>
            <a:picLocks noChangeAspect="1"/>
          </p:cNvPicPr>
          <p:nvPr/>
        </p:nvPicPr>
        <p:blipFill>
          <a:blip r:embed="rId4"/>
          <a:stretch>
            <a:fillRect/>
          </a:stretch>
        </p:blipFill>
        <p:spPr>
          <a:xfrm>
            <a:off x="4480560" y="566928"/>
            <a:ext cx="3403862" cy="333546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PIPELINE</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Feature Engineering &amp; Selection</a:t>
            </a:r>
            <a:endParaRPr lang="en-US" sz="2400" dirty="0"/>
          </a:p>
        </p:txBody>
      </p:sp>
      <p:sp>
        <p:nvSpPr>
          <p:cNvPr id="5" name="Shape 3"/>
          <p:cNvSpPr/>
          <p:nvPr/>
        </p:nvSpPr>
        <p:spPr>
          <a:xfrm>
            <a:off x="411480" y="1170432"/>
            <a:ext cx="3960200" cy="35661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6" name="Shape 4"/>
          <p:cNvSpPr/>
          <p:nvPr/>
        </p:nvSpPr>
        <p:spPr>
          <a:xfrm>
            <a:off x="411480" y="1170432"/>
            <a:ext cx="3960200" cy="384048"/>
          </a:xfrm>
          <a:prstGeom prst="roundRect">
            <a:avLst>
              <a:gd name="adj" fmla="val 23810"/>
            </a:avLst>
          </a:prstGeom>
          <a:solidFill>
            <a:srgbClr val="1C2B4A"/>
          </a:solidFill>
          <a:ln w="12700">
            <a:solidFill>
              <a:srgbClr val="1C2B4A"/>
            </a:solidFill>
            <a:prstDash val="solid"/>
          </a:ln>
        </p:spPr>
        <p:txBody>
          <a:bodyPr/>
          <a:lstStyle/>
          <a:p>
            <a:endParaRPr lang="it-IT"/>
          </a:p>
        </p:txBody>
      </p:sp>
      <p:sp>
        <p:nvSpPr>
          <p:cNvPr id="7" name="Shape 5"/>
          <p:cNvSpPr/>
          <p:nvPr/>
        </p:nvSpPr>
        <p:spPr>
          <a:xfrm>
            <a:off x="411480" y="1417320"/>
            <a:ext cx="3960200" cy="100584"/>
          </a:xfrm>
          <a:prstGeom prst="rect">
            <a:avLst/>
          </a:prstGeom>
          <a:solidFill>
            <a:srgbClr val="1C2B4A"/>
          </a:solidFill>
          <a:ln w="12700">
            <a:solidFill>
              <a:srgbClr val="1C2B4A"/>
            </a:solidFill>
            <a:prstDash val="solid"/>
          </a:ln>
        </p:spPr>
        <p:txBody>
          <a:bodyPr/>
          <a:lstStyle/>
          <a:p>
            <a:endParaRPr lang="it-IT"/>
          </a:p>
        </p:txBody>
      </p:sp>
      <p:sp>
        <p:nvSpPr>
          <p:cNvPr id="8" name="Text 6"/>
          <p:cNvSpPr/>
          <p:nvPr/>
        </p:nvSpPr>
        <p:spPr>
          <a:xfrm>
            <a:off x="521208" y="1207008"/>
            <a:ext cx="2432304"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Engineering</a:t>
            </a:r>
            <a:endParaRPr lang="en-US" sz="1150" dirty="0"/>
          </a:p>
        </p:txBody>
      </p:sp>
      <p:sp>
        <p:nvSpPr>
          <p:cNvPr id="9" name="Text 7"/>
          <p:cNvSpPr/>
          <p:nvPr/>
        </p:nvSpPr>
        <p:spPr>
          <a:xfrm>
            <a:off x="548640" y="1627632"/>
            <a:ext cx="3637484" cy="2926080"/>
          </a:xfrm>
          <a:prstGeom prst="rect">
            <a:avLst/>
          </a:prstGeom>
          <a:noFill/>
          <a:ln/>
        </p:spPr>
        <p:txBody>
          <a:bodyPr wrap="square" lIns="0" tIns="0" rIns="0" bIns="0" rtlCol="0" anchor="t"/>
          <a:lstStyle/>
          <a:p>
            <a:pPr>
              <a:spcAft>
                <a:spcPts val="500"/>
              </a:spcAft>
              <a:buSzPct val="100000"/>
            </a:pPr>
            <a:r>
              <a:rPr lang="it-IT" sz="1200" dirty="0">
                <a:latin typeface="Calibri" panose="020F0502020204030204" pitchFamily="34" charset="0"/>
                <a:ea typeface="Calibri" panose="020F0502020204030204" pitchFamily="34" charset="0"/>
                <a:cs typeface="Calibri" panose="020F0502020204030204" pitchFamily="34" charset="0"/>
              </a:rPr>
              <a:t>Hardware </a:t>
            </a:r>
            <a:r>
              <a:rPr lang="it-IT" sz="1200" dirty="0" err="1">
                <a:latin typeface="Calibri" panose="020F0502020204030204" pitchFamily="34" charset="0"/>
                <a:ea typeface="Calibri" panose="020F0502020204030204" pitchFamily="34" charset="0"/>
                <a:cs typeface="Calibri" panose="020F0502020204030204" pitchFamily="34" charset="0"/>
              </a:rPr>
              <a:t>specifications</a:t>
            </a:r>
            <a:r>
              <a:rPr lang="it-IT" sz="1200" dirty="0">
                <a:latin typeface="Calibri" panose="020F0502020204030204" pitchFamily="34" charset="0"/>
                <a:ea typeface="Calibri" panose="020F0502020204030204" pitchFamily="34" charset="0"/>
                <a:cs typeface="Calibri" panose="020F0502020204030204" pitchFamily="34" charset="0"/>
              </a:rPr>
              <a:t> (e.g. RAM) </a:t>
            </a:r>
            <a:r>
              <a:rPr lang="it-IT" sz="1200" dirty="0" err="1">
                <a:latin typeface="Calibri" panose="020F0502020204030204" pitchFamily="34" charset="0"/>
                <a:ea typeface="Calibri" panose="020F0502020204030204" pitchFamily="34" charset="0"/>
                <a:cs typeface="Calibri" panose="020F0502020204030204" pitchFamily="34" charset="0"/>
              </a:rPr>
              <a:t>were</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parsed</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textual</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requirements</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into</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standardized</a:t>
            </a:r>
            <a:r>
              <a:rPr lang="it-IT" sz="1200" dirty="0">
                <a:latin typeface="Calibri" panose="020F0502020204030204" pitchFamily="34" charset="0"/>
                <a:ea typeface="Calibri" panose="020F0502020204030204" pitchFamily="34" charset="0"/>
                <a:cs typeface="Calibri" panose="020F0502020204030204" pitchFamily="34" charset="0"/>
              </a:rPr>
              <a:t> gigabytes (GB) and CPU/GPU </a:t>
            </a:r>
            <a:r>
              <a:rPr lang="it-IT" sz="1200" dirty="0" err="1">
                <a:latin typeface="Calibri" panose="020F0502020204030204" pitchFamily="34" charset="0"/>
                <a:ea typeface="Calibri" panose="020F0502020204030204" pitchFamily="34" charset="0"/>
                <a:cs typeface="Calibri" panose="020F0502020204030204" pitchFamily="34" charset="0"/>
              </a:rPr>
              <a:t>requirements</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into</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binary</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indicators</a:t>
            </a:r>
            <a:r>
              <a:rPr lang="it-IT" sz="1200" dirty="0">
                <a:latin typeface="Calibri" panose="020F0502020204030204" pitchFamily="34" charset="0"/>
                <a:ea typeface="Calibri" panose="020F0502020204030204" pitchFamily="34" charset="0"/>
                <a:cs typeface="Calibri" panose="020F0502020204030204" pitchFamily="34" charset="0"/>
              </a:rPr>
              <a:t>.</a:t>
            </a:r>
          </a:p>
          <a:p>
            <a:pPr>
              <a:spcAft>
                <a:spcPts val="500"/>
              </a:spcAft>
              <a:buSzPct val="100000"/>
            </a:pPr>
            <a:r>
              <a:rPr lang="it-IT" sz="1200" dirty="0" err="1">
                <a:latin typeface="Calibri" panose="020F0502020204030204" pitchFamily="34" charset="0"/>
                <a:ea typeface="Calibri" panose="020F0502020204030204" pitchFamily="34" charset="0"/>
                <a:cs typeface="Calibri" panose="020F0502020204030204" pitchFamily="34" charset="0"/>
              </a:rPr>
              <a:t>Textual</a:t>
            </a:r>
            <a:r>
              <a:rPr lang="it-IT" sz="1200" dirty="0">
                <a:latin typeface="Calibri" panose="020F0502020204030204" pitchFamily="34" charset="0"/>
                <a:ea typeface="Calibri" panose="020F0502020204030204" pitchFamily="34" charset="0"/>
                <a:cs typeface="Calibri" panose="020F0502020204030204" pitchFamily="34" charset="0"/>
              </a:rPr>
              <a:t> fields </a:t>
            </a:r>
            <a:r>
              <a:rPr lang="it-IT" sz="1200" dirty="0" err="1">
                <a:latin typeface="Calibri" panose="020F0502020204030204" pitchFamily="34" charset="0"/>
                <a:ea typeface="Calibri" panose="020F0502020204030204" pitchFamily="34" charset="0"/>
                <a:cs typeface="Calibri" panose="020F0502020204030204" pitchFamily="34" charset="0"/>
              </a:rPr>
              <a:t>underwent</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vectorization</a:t>
            </a:r>
            <a:r>
              <a:rPr lang="it-IT" sz="1200" dirty="0">
                <a:latin typeface="Calibri" panose="020F0502020204030204" pitchFamily="34" charset="0"/>
                <a:ea typeface="Calibri" panose="020F0502020204030204" pitchFamily="34" charset="0"/>
                <a:cs typeface="Calibri" panose="020F0502020204030204" pitchFamily="34" charset="0"/>
              </a:rPr>
              <a:t> via TF-IDF and deep semantic </a:t>
            </a:r>
            <a:r>
              <a:rPr lang="it-IT" sz="1200" dirty="0" err="1">
                <a:latin typeface="Calibri" panose="020F0502020204030204" pitchFamily="34" charset="0"/>
                <a:ea typeface="Calibri" panose="020F0502020204030204" pitchFamily="34" charset="0"/>
                <a:cs typeface="Calibri" panose="020F0502020204030204" pitchFamily="34" charset="0"/>
              </a:rPr>
              <a:t>embedding</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frozen</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SentenceTransformer</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followed</a:t>
            </a:r>
            <a:r>
              <a:rPr lang="it-IT" sz="1200" dirty="0">
                <a:latin typeface="Calibri" panose="020F0502020204030204" pitchFamily="34" charset="0"/>
                <a:ea typeface="Calibri" panose="020F0502020204030204" pitchFamily="34" charset="0"/>
                <a:cs typeface="Calibri" panose="020F0502020204030204" pitchFamily="34" charset="0"/>
              </a:rPr>
              <a:t> by PLS-DA </a:t>
            </a:r>
            <a:r>
              <a:rPr lang="it-IT" sz="1200" dirty="0" err="1">
                <a:latin typeface="Calibri" panose="020F0502020204030204" pitchFamily="34" charset="0"/>
                <a:ea typeface="Calibri" panose="020F0502020204030204" pitchFamily="34" charset="0"/>
                <a:cs typeface="Calibri" panose="020F0502020204030204" pitchFamily="34" charset="0"/>
              </a:rPr>
              <a:t>compression</a:t>
            </a:r>
            <a:r>
              <a:rPr lang="it-IT" sz="1200" dirty="0">
                <a:latin typeface="Calibri" panose="020F0502020204030204" pitchFamily="34" charset="0"/>
                <a:ea typeface="Calibri" panose="020F0502020204030204" pitchFamily="34" charset="0"/>
                <a:cs typeface="Calibri" panose="020F0502020204030204" pitchFamily="34" charset="0"/>
              </a:rPr>
              <a:t>.</a:t>
            </a:r>
          </a:p>
          <a:p>
            <a:pPr>
              <a:spcAft>
                <a:spcPts val="500"/>
              </a:spcAft>
              <a:buSzPct val="100000"/>
            </a:pPr>
            <a:r>
              <a:rPr lang="en-US" sz="1200" dirty="0">
                <a:latin typeface="Calibri" panose="020F0502020204030204" pitchFamily="34" charset="0"/>
                <a:ea typeface="Calibri" panose="020F0502020204030204" pitchFamily="34" charset="0"/>
                <a:cs typeface="Calibri" panose="020F0502020204030204" pitchFamily="34" charset="0"/>
              </a:rPr>
              <a:t>JSON-like columns (platforms, </a:t>
            </a:r>
            <a:r>
              <a:rPr lang="en-US" sz="1200" dirty="0" err="1">
                <a:latin typeface="Calibri" panose="020F0502020204030204" pitchFamily="34" charset="0"/>
                <a:ea typeface="Calibri" panose="020F0502020204030204" pitchFamily="34" charset="0"/>
                <a:cs typeface="Calibri" panose="020F0502020204030204" pitchFamily="34" charset="0"/>
              </a:rPr>
              <a:t>metacritic</a:t>
            </a:r>
            <a:r>
              <a:rPr lang="en-US" sz="1200" dirty="0">
                <a:latin typeface="Calibri" panose="020F0502020204030204" pitchFamily="34" charset="0"/>
                <a:ea typeface="Calibri" panose="020F0502020204030204" pitchFamily="34" charset="0"/>
                <a:cs typeface="Calibri" panose="020F0502020204030204" pitchFamily="34" charset="0"/>
              </a:rPr>
              <a:t>, achievements) were extracted and categories genres tags publishers developers normalized into token lists</a:t>
            </a:r>
            <a:endParaRPr lang="it-IT" sz="1200" dirty="0">
              <a:latin typeface="Calibri" panose="020F0502020204030204" pitchFamily="34" charset="0"/>
              <a:ea typeface="Calibri" panose="020F0502020204030204" pitchFamily="34" charset="0"/>
              <a:cs typeface="Calibri" panose="020F0502020204030204" pitchFamily="34" charset="0"/>
            </a:endParaRPr>
          </a:p>
          <a:p>
            <a:pPr>
              <a:spcAft>
                <a:spcPts val="500"/>
              </a:spcAft>
              <a:buSzPct val="100000"/>
            </a:pPr>
            <a:r>
              <a:rPr lang="it-IT" sz="1200" dirty="0" err="1">
                <a:latin typeface="Calibri" panose="020F0502020204030204" pitchFamily="34" charset="0"/>
                <a:ea typeface="Calibri" panose="020F0502020204030204" pitchFamily="34" charset="0"/>
                <a:cs typeface="Calibri" panose="020F0502020204030204" pitchFamily="34" charset="0"/>
              </a:rPr>
              <a:t>Continuous</a:t>
            </a:r>
            <a:r>
              <a:rPr lang="it-IT" sz="1200" dirty="0">
                <a:latin typeface="Calibri" panose="020F0502020204030204" pitchFamily="34" charset="0"/>
                <a:ea typeface="Calibri" panose="020F0502020204030204" pitchFamily="34" charset="0"/>
                <a:cs typeface="Calibri" panose="020F0502020204030204" pitchFamily="34" charset="0"/>
              </a:rPr>
              <a:t> </a:t>
            </a:r>
            <a:r>
              <a:rPr lang="it-IT" sz="1200" dirty="0" err="1">
                <a:latin typeface="Calibri" panose="020F0502020204030204" pitchFamily="34" charset="0"/>
                <a:ea typeface="Calibri" panose="020F0502020204030204" pitchFamily="34" charset="0"/>
                <a:cs typeface="Calibri" panose="020F0502020204030204" pitchFamily="34" charset="0"/>
              </a:rPr>
              <a:t>numeric</a:t>
            </a:r>
            <a:r>
              <a:rPr lang="it-IT" sz="1200" dirty="0">
                <a:latin typeface="Calibri" panose="020F0502020204030204" pitchFamily="34" charset="0"/>
                <a:ea typeface="Calibri" panose="020F0502020204030204" pitchFamily="34" charset="0"/>
                <a:cs typeface="Calibri" panose="020F0502020204030204" pitchFamily="34" charset="0"/>
              </a:rPr>
              <a:t> features </a:t>
            </a:r>
            <a:r>
              <a:rPr lang="it-IT" sz="1200" dirty="0" err="1">
                <a:latin typeface="Calibri" panose="020F0502020204030204" pitchFamily="34" charset="0"/>
                <a:ea typeface="Calibri" panose="020F0502020204030204" pitchFamily="34" charset="0"/>
                <a:cs typeface="Calibri" panose="020F0502020204030204" pitchFamily="34" charset="0"/>
              </a:rPr>
              <a:t>received</a:t>
            </a:r>
            <a:r>
              <a:rPr lang="it-IT" sz="1200" dirty="0">
                <a:latin typeface="Calibri" panose="020F0502020204030204" pitchFamily="34" charset="0"/>
                <a:ea typeface="Calibri" panose="020F0502020204030204" pitchFamily="34" charset="0"/>
                <a:cs typeface="Calibri" panose="020F0502020204030204" pitchFamily="34" charset="0"/>
              </a:rPr>
              <a:t> NaN </a:t>
            </a:r>
            <a:r>
              <a:rPr lang="it-IT" sz="1200" dirty="0" err="1">
                <a:latin typeface="Calibri" panose="020F0502020204030204" pitchFamily="34" charset="0"/>
                <a:ea typeface="Calibri" panose="020F0502020204030204" pitchFamily="34" charset="0"/>
                <a:cs typeface="Calibri" panose="020F0502020204030204" pitchFamily="34" charset="0"/>
              </a:rPr>
              <a:t>imputation</a:t>
            </a:r>
            <a:r>
              <a:rPr lang="it-IT" sz="1200" dirty="0">
                <a:latin typeface="Calibri" panose="020F0502020204030204" pitchFamily="34" charset="0"/>
                <a:ea typeface="Calibri" panose="020F0502020204030204" pitchFamily="34" charset="0"/>
                <a:cs typeface="Calibri" panose="020F0502020204030204" pitchFamily="34" charset="0"/>
              </a:rPr>
              <a:t>  </a:t>
            </a:r>
            <a:r>
              <a:rPr lang="en-US" sz="1200" dirty="0">
                <a:latin typeface="Calibri" panose="020F0502020204030204" pitchFamily="34" charset="0"/>
                <a:ea typeface="Calibri" panose="020F0502020204030204" pitchFamily="34" charset="0"/>
                <a:cs typeface="Calibri" panose="020F0502020204030204" pitchFamily="34" charset="0"/>
              </a:rPr>
              <a:t>within an </a:t>
            </a:r>
            <a:r>
              <a:rPr lang="en-US" sz="1200" dirty="0" err="1">
                <a:latin typeface="Calibri" panose="020F0502020204030204" pitchFamily="34" charset="0"/>
                <a:ea typeface="Calibri" panose="020F0502020204030204" pitchFamily="34" charset="0"/>
                <a:cs typeface="Calibri" panose="020F0502020204030204" pitchFamily="34" charset="0"/>
              </a:rPr>
              <a:t>imbpipeline</a:t>
            </a:r>
            <a:r>
              <a:rPr lang="en-US" sz="1200" dirty="0">
                <a:latin typeface="Calibri" panose="020F0502020204030204" pitchFamily="34" charset="0"/>
                <a:ea typeface="Calibri" panose="020F0502020204030204" pitchFamily="34" charset="0"/>
                <a:cs typeface="Calibri" panose="020F0502020204030204" pitchFamily="34" charset="0"/>
              </a:rPr>
              <a:t>, avoiding data leakage</a:t>
            </a:r>
            <a:r>
              <a:rPr lang="it-IT" sz="1200" dirty="0">
                <a:latin typeface="Calibri" panose="020F0502020204030204" pitchFamily="34" charset="0"/>
                <a:ea typeface="Calibri" panose="020F0502020204030204" pitchFamily="34" charset="0"/>
                <a:cs typeface="Calibri" panose="020F0502020204030204" pitchFamily="34" charset="0"/>
              </a:rPr>
              <a:t> </a:t>
            </a: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10" name="Shape 8"/>
          <p:cNvSpPr/>
          <p:nvPr/>
        </p:nvSpPr>
        <p:spPr>
          <a:xfrm>
            <a:off x="4572000" y="1170432"/>
            <a:ext cx="4160520" cy="1464768"/>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dirty="0"/>
          </a:p>
        </p:txBody>
      </p:sp>
      <p:sp>
        <p:nvSpPr>
          <p:cNvPr id="11" name="Shape 9"/>
          <p:cNvSpPr/>
          <p:nvPr/>
        </p:nvSpPr>
        <p:spPr>
          <a:xfrm>
            <a:off x="4572000" y="1170432"/>
            <a:ext cx="4160520" cy="239660"/>
          </a:xfrm>
          <a:prstGeom prst="roundRect">
            <a:avLst>
              <a:gd name="adj" fmla="val 23810"/>
            </a:avLst>
          </a:prstGeom>
          <a:solidFill>
            <a:srgbClr val="008F84"/>
          </a:solidFill>
          <a:ln w="12700">
            <a:solidFill>
              <a:srgbClr val="008F84"/>
            </a:solidFill>
            <a:prstDash val="solid"/>
          </a:ln>
        </p:spPr>
        <p:txBody>
          <a:bodyPr/>
          <a:lstStyle/>
          <a:p>
            <a:endParaRPr lang="it-IT"/>
          </a:p>
        </p:txBody>
      </p:sp>
      <p:sp>
        <p:nvSpPr>
          <p:cNvPr id="12" name="Shape 10"/>
          <p:cNvSpPr/>
          <p:nvPr/>
        </p:nvSpPr>
        <p:spPr>
          <a:xfrm>
            <a:off x="4572000" y="1395720"/>
            <a:ext cx="4160520" cy="78451"/>
          </a:xfrm>
          <a:prstGeom prst="rect">
            <a:avLst/>
          </a:prstGeom>
          <a:solidFill>
            <a:srgbClr val="008F84"/>
          </a:solidFill>
          <a:ln w="12700">
            <a:solidFill>
              <a:srgbClr val="008F84"/>
            </a:solidFill>
            <a:prstDash val="solid"/>
          </a:ln>
        </p:spPr>
        <p:txBody>
          <a:bodyPr/>
          <a:lstStyle/>
          <a:p>
            <a:endParaRPr lang="it-IT"/>
          </a:p>
        </p:txBody>
      </p:sp>
      <p:sp>
        <p:nvSpPr>
          <p:cNvPr id="13" name="Text 11"/>
          <p:cNvSpPr/>
          <p:nvPr/>
        </p:nvSpPr>
        <p:spPr>
          <a:xfrm>
            <a:off x="4716000" y="1207008"/>
            <a:ext cx="3672200" cy="194011"/>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Selection Method</a:t>
            </a:r>
            <a:endParaRPr lang="en-US" sz="1150" dirty="0"/>
          </a:p>
        </p:txBody>
      </p:sp>
      <p:sp>
        <p:nvSpPr>
          <p:cNvPr id="14" name="Text 12"/>
          <p:cNvSpPr/>
          <p:nvPr/>
        </p:nvSpPr>
        <p:spPr>
          <a:xfrm>
            <a:off x="4716000" y="1627633"/>
            <a:ext cx="3586120" cy="944117"/>
          </a:xfrm>
          <a:prstGeom prst="rect">
            <a:avLst/>
          </a:prstGeom>
          <a:noFill/>
          <a:ln/>
        </p:spPr>
        <p:txBody>
          <a:bodyPr wrap="square" lIns="0" tIns="0" rIns="0" bIns="0" rtlCol="0" anchor="t"/>
          <a:lstStyle/>
          <a:p>
            <a:pPr>
              <a:spcAft>
                <a:spcPts val="500"/>
              </a:spcAft>
              <a:buSzPct val="100000"/>
            </a:pPr>
            <a:r>
              <a:rPr lang="en-US" sz="1200" dirty="0">
                <a:solidFill>
                  <a:srgbClr val="1E293B"/>
                </a:solidFill>
                <a:latin typeface="Calibri" pitchFamily="34" charset="0"/>
                <a:ea typeface="Calibri" pitchFamily="34" charset="-122"/>
                <a:cs typeface="Calibri" pitchFamily="34" charset="-120"/>
              </a:rPr>
              <a:t>Supervised dimensionality reduction via Partial Least Squares Discriminant Analysis (PLS-DA) was used to project feature spaces onto latent component directions.</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An internal </a:t>
            </a:r>
            <a:r>
              <a:rPr lang="en-US" sz="1200" dirty="0" err="1">
                <a:solidFill>
                  <a:srgbClr val="1E293B"/>
                </a:solidFill>
                <a:latin typeface="Calibri" pitchFamily="34" charset="0"/>
                <a:ea typeface="Calibri" pitchFamily="34" charset="-122"/>
                <a:cs typeface="Calibri" pitchFamily="34" charset="-120"/>
              </a:rPr>
              <a:t>SelectFromModel</a:t>
            </a:r>
            <a:r>
              <a:rPr lang="en-US" sz="1200" dirty="0">
                <a:solidFill>
                  <a:srgbClr val="1E293B"/>
                </a:solidFill>
                <a:latin typeface="Calibri" pitchFamily="34" charset="0"/>
                <a:ea typeface="Calibri" pitchFamily="34" charset="-122"/>
                <a:cs typeface="Calibri" pitchFamily="34" charset="-120"/>
              </a:rPr>
              <a:t> step pruned irrelevant features dynamically during Bayesian optimization.</a:t>
            </a:r>
            <a:endParaRPr lang="en-US" sz="1200" dirty="0"/>
          </a:p>
        </p:txBody>
      </p:sp>
      <p:sp>
        <p:nvSpPr>
          <p:cNvPr id="15" name="Shape 13"/>
          <p:cNvSpPr/>
          <p:nvPr/>
        </p:nvSpPr>
        <p:spPr>
          <a:xfrm>
            <a:off x="4572000" y="2754988"/>
            <a:ext cx="4147720" cy="1981605"/>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16" name="Shape 14"/>
          <p:cNvSpPr/>
          <p:nvPr/>
        </p:nvSpPr>
        <p:spPr>
          <a:xfrm>
            <a:off x="4572000" y="2782117"/>
            <a:ext cx="4147720" cy="245882"/>
          </a:xfrm>
          <a:prstGeom prst="roundRect">
            <a:avLst>
              <a:gd name="adj" fmla="val 23810"/>
            </a:avLst>
          </a:prstGeom>
          <a:solidFill>
            <a:srgbClr val="5C6BC0"/>
          </a:solidFill>
          <a:ln w="12700">
            <a:solidFill>
              <a:srgbClr val="5C6BC0"/>
            </a:solidFill>
            <a:prstDash val="solid"/>
          </a:ln>
        </p:spPr>
        <p:txBody>
          <a:bodyPr/>
          <a:lstStyle/>
          <a:p>
            <a:endParaRPr lang="it-IT"/>
          </a:p>
        </p:txBody>
      </p:sp>
      <p:sp>
        <p:nvSpPr>
          <p:cNvPr id="17" name="Shape 15"/>
          <p:cNvSpPr/>
          <p:nvPr/>
        </p:nvSpPr>
        <p:spPr>
          <a:xfrm>
            <a:off x="4572000" y="3001876"/>
            <a:ext cx="4147720" cy="87815"/>
          </a:xfrm>
          <a:prstGeom prst="rect">
            <a:avLst/>
          </a:prstGeom>
          <a:solidFill>
            <a:srgbClr val="5C6BC0"/>
          </a:solidFill>
          <a:ln w="12700">
            <a:solidFill>
              <a:srgbClr val="5C6BC0"/>
            </a:solidFill>
            <a:prstDash val="solid"/>
          </a:ln>
        </p:spPr>
        <p:txBody>
          <a:bodyPr/>
          <a:lstStyle/>
          <a:p>
            <a:endParaRPr lang="it-IT"/>
          </a:p>
        </p:txBody>
      </p:sp>
      <p:sp>
        <p:nvSpPr>
          <p:cNvPr id="18" name="Text 16"/>
          <p:cNvSpPr/>
          <p:nvPr/>
        </p:nvSpPr>
        <p:spPr>
          <a:xfrm>
            <a:off x="4716000" y="2791564"/>
            <a:ext cx="3695020" cy="236435"/>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Why These Features?</a:t>
            </a:r>
            <a:endParaRPr lang="en-US" sz="1150" dirty="0"/>
          </a:p>
        </p:txBody>
      </p:sp>
      <p:sp>
        <p:nvSpPr>
          <p:cNvPr id="19" name="Text 17"/>
          <p:cNvSpPr/>
          <p:nvPr/>
        </p:nvSpPr>
        <p:spPr>
          <a:xfrm>
            <a:off x="4716000" y="3212189"/>
            <a:ext cx="3617844" cy="1524404"/>
          </a:xfrm>
          <a:prstGeom prst="rect">
            <a:avLst/>
          </a:prstGeom>
          <a:noFill/>
          <a:ln/>
        </p:spPr>
        <p:txBody>
          <a:bodyPr wrap="square" lIns="0" tIns="0" rIns="0" bIns="0" rtlCol="0" anchor="t"/>
          <a:lstStyle/>
          <a:p>
            <a:pPr>
              <a:spcAft>
                <a:spcPts val="500"/>
              </a:spcAft>
              <a:buSzPct val="100000"/>
            </a:pPr>
            <a:r>
              <a:rPr lang="en-US" sz="1050" dirty="0">
                <a:solidFill>
                  <a:srgbClr val="1E293B"/>
                </a:solidFill>
                <a:latin typeface="Calibri" pitchFamily="34" charset="0"/>
                <a:ea typeface="Calibri" pitchFamily="34" charset="-122"/>
                <a:cs typeface="Calibri" pitchFamily="34" charset="-120"/>
              </a:rPr>
              <a:t>Features such as price, language support, and system specifications are intrinsic metadata acting as proxies for development budget and scope, which are crucial for early predictions</a:t>
            </a:r>
          </a:p>
          <a:p>
            <a:pPr>
              <a:spcAft>
                <a:spcPts val="500"/>
              </a:spcAft>
              <a:buSzPct val="100000"/>
            </a:pPr>
            <a:r>
              <a:rPr lang="en-US" sz="1050" dirty="0">
                <a:solidFill>
                  <a:srgbClr val="1E293B"/>
                </a:solidFill>
                <a:latin typeface="Calibri" pitchFamily="34" charset="0"/>
                <a:ea typeface="Calibri" pitchFamily="34" charset="-122"/>
                <a:cs typeface="Calibri" pitchFamily="34" charset="-120"/>
              </a:rPr>
              <a:t>Post-launch metrics (e.g., positive/negative reviews, Concurrent Connected Users) were strictly removed in the Pre-Release mode to prevent target leakage, as they are unobservable prior to launch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dirty="0"/>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PIPELINE</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ML Pipeline: Avoiding Data Leakage &amp; Bias</a:t>
            </a:r>
            <a:endParaRPr lang="en-US" sz="2400" dirty="0"/>
          </a:p>
        </p:txBody>
      </p:sp>
      <p:sp>
        <p:nvSpPr>
          <p:cNvPr id="5" name="Shape 3"/>
          <p:cNvSpPr/>
          <p:nvPr/>
        </p:nvSpPr>
        <p:spPr>
          <a:xfrm>
            <a:off x="365760" y="1207008"/>
            <a:ext cx="1261872" cy="749808"/>
          </a:xfrm>
          <a:prstGeom prst="roundRect">
            <a:avLst>
              <a:gd name="adj" fmla="val 10976"/>
            </a:avLst>
          </a:prstGeom>
          <a:solidFill>
            <a:srgbClr val="4A6587"/>
          </a:solidFill>
          <a:ln w="12700">
            <a:solidFill>
              <a:srgbClr val="4A6587"/>
            </a:solidFill>
            <a:prstDash val="solid"/>
          </a:ln>
        </p:spPr>
        <p:txBody>
          <a:bodyPr/>
          <a:lstStyle/>
          <a:p>
            <a:endParaRPr lang="it-IT"/>
          </a:p>
        </p:txBody>
      </p:sp>
      <p:sp>
        <p:nvSpPr>
          <p:cNvPr id="6" name="Text 4"/>
          <p:cNvSpPr/>
          <p:nvPr/>
        </p:nvSpPr>
        <p:spPr>
          <a:xfrm>
            <a:off x="365760"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Raw</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Data</a:t>
            </a:r>
            <a:endParaRPr lang="en-US" sz="1050" dirty="0"/>
          </a:p>
        </p:txBody>
      </p:sp>
      <p:sp>
        <p:nvSpPr>
          <p:cNvPr id="7" name="Shape 5"/>
          <p:cNvSpPr/>
          <p:nvPr/>
        </p:nvSpPr>
        <p:spPr>
          <a:xfrm>
            <a:off x="1627632" y="1545336"/>
            <a:ext cx="173736" cy="73152"/>
          </a:xfrm>
          <a:prstGeom prst="rect">
            <a:avLst/>
          </a:prstGeom>
          <a:solidFill>
            <a:srgbClr val="7A8FA6"/>
          </a:solidFill>
          <a:ln w="12700">
            <a:solidFill>
              <a:srgbClr val="7A8FA6"/>
            </a:solidFill>
            <a:prstDash val="solid"/>
          </a:ln>
        </p:spPr>
        <p:txBody>
          <a:bodyPr/>
          <a:lstStyle/>
          <a:p>
            <a:endParaRPr lang="it-IT"/>
          </a:p>
        </p:txBody>
      </p:sp>
      <p:sp>
        <p:nvSpPr>
          <p:cNvPr id="8" name="Text 6"/>
          <p:cNvSpPr/>
          <p:nvPr/>
        </p:nvSpPr>
        <p:spPr>
          <a:xfrm>
            <a:off x="1700784" y="1472184"/>
            <a:ext cx="164592" cy="219456"/>
          </a:xfrm>
          <a:prstGeom prst="rect">
            <a:avLst/>
          </a:prstGeom>
          <a:noFill/>
          <a:ln/>
        </p:spPr>
        <p:txBody>
          <a:bodyPr wrap="square" lIns="0" tIns="0" rIns="0" bIns="0" rtlCol="0" anchor="ctr"/>
          <a:lstStyle/>
          <a:p>
            <a:pPr marL="0" indent="0" algn="ctr">
              <a:buNone/>
            </a:pPr>
            <a:r>
              <a:rPr lang="en-US" sz="900" dirty="0">
                <a:solidFill>
                  <a:srgbClr val="7A8FA6"/>
                </a:solidFill>
              </a:rPr>
              <a:t>▶</a:t>
            </a:r>
            <a:endParaRPr lang="en-US" sz="900" dirty="0"/>
          </a:p>
        </p:txBody>
      </p:sp>
      <p:sp>
        <p:nvSpPr>
          <p:cNvPr id="9" name="Shape 7"/>
          <p:cNvSpPr/>
          <p:nvPr/>
        </p:nvSpPr>
        <p:spPr>
          <a:xfrm>
            <a:off x="1801368" y="1207008"/>
            <a:ext cx="1261872" cy="749808"/>
          </a:xfrm>
          <a:prstGeom prst="roundRect">
            <a:avLst>
              <a:gd name="adj" fmla="val 10976"/>
            </a:avLst>
          </a:prstGeom>
          <a:solidFill>
            <a:srgbClr val="1C2B4A"/>
          </a:solidFill>
          <a:ln w="12700">
            <a:solidFill>
              <a:srgbClr val="1C2B4A"/>
            </a:solidFill>
            <a:prstDash val="solid"/>
          </a:ln>
        </p:spPr>
        <p:txBody>
          <a:bodyPr/>
          <a:lstStyle/>
          <a:p>
            <a:r>
              <a:rPr lang="it-IT" dirty="0"/>
              <a:t> </a:t>
            </a:r>
          </a:p>
        </p:txBody>
      </p:sp>
      <p:sp>
        <p:nvSpPr>
          <p:cNvPr id="10" name="Text 8"/>
          <p:cNvSpPr/>
          <p:nvPr/>
        </p:nvSpPr>
        <p:spPr>
          <a:xfrm>
            <a:off x="1801368"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Preprocessing and data cleaning</a:t>
            </a:r>
            <a:endParaRPr lang="en-US" sz="1050" dirty="0"/>
          </a:p>
        </p:txBody>
      </p:sp>
      <p:sp>
        <p:nvSpPr>
          <p:cNvPr id="11" name="Shape 9"/>
          <p:cNvSpPr/>
          <p:nvPr/>
        </p:nvSpPr>
        <p:spPr>
          <a:xfrm>
            <a:off x="3063240" y="1545336"/>
            <a:ext cx="173736" cy="73152"/>
          </a:xfrm>
          <a:prstGeom prst="rect">
            <a:avLst/>
          </a:prstGeom>
          <a:solidFill>
            <a:srgbClr val="7A8FA6"/>
          </a:solidFill>
          <a:ln w="12700">
            <a:solidFill>
              <a:srgbClr val="7A8FA6"/>
            </a:solidFill>
            <a:prstDash val="solid"/>
          </a:ln>
        </p:spPr>
        <p:txBody>
          <a:bodyPr/>
          <a:lstStyle/>
          <a:p>
            <a:endParaRPr lang="it-IT"/>
          </a:p>
        </p:txBody>
      </p:sp>
      <p:sp>
        <p:nvSpPr>
          <p:cNvPr id="12" name="Text 10"/>
          <p:cNvSpPr/>
          <p:nvPr/>
        </p:nvSpPr>
        <p:spPr>
          <a:xfrm>
            <a:off x="3136392" y="1472184"/>
            <a:ext cx="164592" cy="219456"/>
          </a:xfrm>
          <a:prstGeom prst="rect">
            <a:avLst/>
          </a:prstGeom>
          <a:noFill/>
          <a:ln/>
        </p:spPr>
        <p:txBody>
          <a:bodyPr wrap="square" lIns="0" tIns="0" rIns="0" bIns="0" rtlCol="0" anchor="ctr"/>
          <a:lstStyle/>
          <a:p>
            <a:pPr marL="0" indent="0" algn="ctr">
              <a:buNone/>
            </a:pPr>
            <a:r>
              <a:rPr lang="en-US" sz="900" dirty="0">
                <a:solidFill>
                  <a:srgbClr val="7A8FA6"/>
                </a:solidFill>
              </a:rPr>
              <a:t>▶</a:t>
            </a:r>
            <a:endParaRPr lang="en-US" sz="900" dirty="0"/>
          </a:p>
        </p:txBody>
      </p:sp>
      <p:sp>
        <p:nvSpPr>
          <p:cNvPr id="13" name="Shape 11"/>
          <p:cNvSpPr/>
          <p:nvPr/>
        </p:nvSpPr>
        <p:spPr>
          <a:xfrm>
            <a:off x="3236976" y="1207008"/>
            <a:ext cx="1261872" cy="749808"/>
          </a:xfrm>
          <a:prstGeom prst="roundRect">
            <a:avLst>
              <a:gd name="adj" fmla="val 10976"/>
            </a:avLst>
          </a:prstGeom>
          <a:solidFill>
            <a:srgbClr val="1C2B4A"/>
          </a:solidFill>
          <a:ln w="12700">
            <a:solidFill>
              <a:srgbClr val="1C2B4A"/>
            </a:solidFill>
            <a:prstDash val="solid"/>
          </a:ln>
        </p:spPr>
        <p:txBody>
          <a:bodyPr/>
          <a:lstStyle/>
          <a:p>
            <a:endParaRPr lang="it-IT"/>
          </a:p>
        </p:txBody>
      </p:sp>
      <p:sp>
        <p:nvSpPr>
          <p:cNvPr id="14" name="Text 12"/>
          <p:cNvSpPr/>
          <p:nvPr/>
        </p:nvSpPr>
        <p:spPr>
          <a:xfrm>
            <a:off x="3236976"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Hyperparameter Tuning and Feature</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Selection</a:t>
            </a:r>
            <a:endParaRPr lang="en-US" sz="1050" dirty="0"/>
          </a:p>
        </p:txBody>
      </p:sp>
      <p:sp>
        <p:nvSpPr>
          <p:cNvPr id="15" name="Shape 13"/>
          <p:cNvSpPr/>
          <p:nvPr/>
        </p:nvSpPr>
        <p:spPr>
          <a:xfrm>
            <a:off x="4498848" y="1545336"/>
            <a:ext cx="173736" cy="73152"/>
          </a:xfrm>
          <a:prstGeom prst="rect">
            <a:avLst/>
          </a:prstGeom>
          <a:solidFill>
            <a:srgbClr val="7A8FA6"/>
          </a:solidFill>
          <a:ln w="12700">
            <a:solidFill>
              <a:srgbClr val="7A8FA6"/>
            </a:solidFill>
            <a:prstDash val="solid"/>
          </a:ln>
        </p:spPr>
        <p:txBody>
          <a:bodyPr/>
          <a:lstStyle/>
          <a:p>
            <a:endParaRPr lang="it-IT"/>
          </a:p>
        </p:txBody>
      </p:sp>
      <p:sp>
        <p:nvSpPr>
          <p:cNvPr id="16" name="Text 14"/>
          <p:cNvSpPr/>
          <p:nvPr/>
        </p:nvSpPr>
        <p:spPr>
          <a:xfrm>
            <a:off x="4572000" y="1472184"/>
            <a:ext cx="164592" cy="219456"/>
          </a:xfrm>
          <a:prstGeom prst="rect">
            <a:avLst/>
          </a:prstGeom>
          <a:noFill/>
          <a:ln/>
        </p:spPr>
        <p:txBody>
          <a:bodyPr wrap="square" lIns="0" tIns="0" rIns="0" bIns="0" rtlCol="0" anchor="ctr"/>
          <a:lstStyle/>
          <a:p>
            <a:pPr marL="0" indent="0" algn="ctr">
              <a:buNone/>
            </a:pPr>
            <a:r>
              <a:rPr lang="en-US" sz="900" dirty="0">
                <a:solidFill>
                  <a:srgbClr val="7A8FA6"/>
                </a:solidFill>
              </a:rPr>
              <a:t>▶</a:t>
            </a:r>
            <a:endParaRPr lang="en-US" sz="900" dirty="0"/>
          </a:p>
        </p:txBody>
      </p:sp>
      <p:sp>
        <p:nvSpPr>
          <p:cNvPr id="17" name="Shape 15"/>
          <p:cNvSpPr/>
          <p:nvPr/>
        </p:nvSpPr>
        <p:spPr>
          <a:xfrm>
            <a:off x="4672584" y="1207008"/>
            <a:ext cx="1261872" cy="749808"/>
          </a:xfrm>
          <a:prstGeom prst="roundRect">
            <a:avLst>
              <a:gd name="adj" fmla="val 10976"/>
            </a:avLst>
          </a:prstGeom>
          <a:solidFill>
            <a:srgbClr val="008F84"/>
          </a:solidFill>
          <a:ln w="12700">
            <a:solidFill>
              <a:srgbClr val="008F84"/>
            </a:solidFill>
            <a:prstDash val="solid"/>
          </a:ln>
        </p:spPr>
        <p:txBody>
          <a:bodyPr/>
          <a:lstStyle/>
          <a:p>
            <a:endParaRPr lang="it-IT"/>
          </a:p>
        </p:txBody>
      </p:sp>
      <p:sp>
        <p:nvSpPr>
          <p:cNvPr id="18" name="Text 16"/>
          <p:cNvSpPr/>
          <p:nvPr/>
        </p:nvSpPr>
        <p:spPr>
          <a:xfrm>
            <a:off x="4672584"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Model</a:t>
            </a:r>
            <a:endParaRPr lang="en-US" sz="900" dirty="0"/>
          </a:p>
          <a:p>
            <a:pPr marL="0" indent="0" algn="ctr">
              <a:buNone/>
            </a:pPr>
            <a:r>
              <a:rPr lang="en-US" sz="1050" b="1" dirty="0">
                <a:solidFill>
                  <a:srgbClr val="FFFFFF"/>
                </a:solidFill>
                <a:latin typeface="Calibri" pitchFamily="34" charset="0"/>
                <a:ea typeface="Calibri" pitchFamily="34" charset="-122"/>
                <a:cs typeface="Calibri" pitchFamily="34" charset="-120"/>
              </a:rPr>
              <a:t>Training and Weights Calibration using Differential Evolution</a:t>
            </a:r>
            <a:endParaRPr lang="en-US" sz="1050" dirty="0"/>
          </a:p>
        </p:txBody>
      </p:sp>
      <p:sp>
        <p:nvSpPr>
          <p:cNvPr id="19" name="Shape 17"/>
          <p:cNvSpPr/>
          <p:nvPr/>
        </p:nvSpPr>
        <p:spPr>
          <a:xfrm>
            <a:off x="5934456" y="1545336"/>
            <a:ext cx="173736" cy="73152"/>
          </a:xfrm>
          <a:prstGeom prst="rect">
            <a:avLst/>
          </a:prstGeom>
          <a:solidFill>
            <a:srgbClr val="7A8FA6"/>
          </a:solidFill>
          <a:ln w="12700">
            <a:solidFill>
              <a:srgbClr val="7A8FA6"/>
            </a:solidFill>
            <a:prstDash val="solid"/>
          </a:ln>
        </p:spPr>
        <p:txBody>
          <a:bodyPr/>
          <a:lstStyle/>
          <a:p>
            <a:endParaRPr lang="it-IT"/>
          </a:p>
        </p:txBody>
      </p:sp>
      <p:sp>
        <p:nvSpPr>
          <p:cNvPr id="20" name="Text 18"/>
          <p:cNvSpPr/>
          <p:nvPr/>
        </p:nvSpPr>
        <p:spPr>
          <a:xfrm>
            <a:off x="6007608" y="1472184"/>
            <a:ext cx="164592" cy="219456"/>
          </a:xfrm>
          <a:prstGeom prst="rect">
            <a:avLst/>
          </a:prstGeom>
          <a:noFill/>
          <a:ln/>
        </p:spPr>
        <p:txBody>
          <a:bodyPr wrap="square" lIns="0" tIns="0" rIns="0" bIns="0" rtlCol="0" anchor="ctr"/>
          <a:lstStyle/>
          <a:p>
            <a:pPr marL="0" indent="0" algn="ctr">
              <a:buNone/>
            </a:pPr>
            <a:r>
              <a:rPr lang="en-US" sz="900" dirty="0">
                <a:solidFill>
                  <a:srgbClr val="7A8FA6"/>
                </a:solidFill>
              </a:rPr>
              <a:t>▶</a:t>
            </a:r>
            <a:endParaRPr lang="en-US" sz="900" dirty="0"/>
          </a:p>
        </p:txBody>
      </p:sp>
      <p:sp>
        <p:nvSpPr>
          <p:cNvPr id="21" name="Shape 19"/>
          <p:cNvSpPr/>
          <p:nvPr/>
        </p:nvSpPr>
        <p:spPr>
          <a:xfrm>
            <a:off x="6108192" y="1207008"/>
            <a:ext cx="1261872" cy="749808"/>
          </a:xfrm>
          <a:prstGeom prst="roundRect">
            <a:avLst>
              <a:gd name="adj" fmla="val 10976"/>
            </a:avLst>
          </a:prstGeom>
          <a:solidFill>
            <a:srgbClr val="008F84"/>
          </a:solidFill>
          <a:ln w="12700">
            <a:solidFill>
              <a:srgbClr val="008F84"/>
            </a:solidFill>
            <a:prstDash val="solid"/>
          </a:ln>
        </p:spPr>
        <p:txBody>
          <a:bodyPr/>
          <a:lstStyle/>
          <a:p>
            <a:endParaRPr lang="it-IT" dirty="0"/>
          </a:p>
        </p:txBody>
      </p:sp>
      <p:sp>
        <p:nvSpPr>
          <p:cNvPr id="22" name="Text 20"/>
          <p:cNvSpPr/>
          <p:nvPr/>
        </p:nvSpPr>
        <p:spPr>
          <a:xfrm>
            <a:off x="6108192"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Validation</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(held-out fold) and Evaluation</a:t>
            </a:r>
            <a:endParaRPr lang="en-US" sz="1050" dirty="0"/>
          </a:p>
        </p:txBody>
      </p:sp>
      <p:sp>
        <p:nvSpPr>
          <p:cNvPr id="23" name="Shape 21"/>
          <p:cNvSpPr/>
          <p:nvPr/>
        </p:nvSpPr>
        <p:spPr>
          <a:xfrm>
            <a:off x="7370064" y="1545336"/>
            <a:ext cx="173736" cy="73152"/>
          </a:xfrm>
          <a:prstGeom prst="rect">
            <a:avLst/>
          </a:prstGeom>
          <a:solidFill>
            <a:srgbClr val="7A8FA6"/>
          </a:solidFill>
          <a:ln w="12700">
            <a:solidFill>
              <a:srgbClr val="7A8FA6"/>
            </a:solidFill>
            <a:prstDash val="solid"/>
          </a:ln>
        </p:spPr>
        <p:txBody>
          <a:bodyPr/>
          <a:lstStyle/>
          <a:p>
            <a:endParaRPr lang="it-IT"/>
          </a:p>
        </p:txBody>
      </p:sp>
      <p:sp>
        <p:nvSpPr>
          <p:cNvPr id="24" name="Text 22"/>
          <p:cNvSpPr/>
          <p:nvPr/>
        </p:nvSpPr>
        <p:spPr>
          <a:xfrm>
            <a:off x="7443216" y="1472184"/>
            <a:ext cx="164592" cy="219456"/>
          </a:xfrm>
          <a:prstGeom prst="rect">
            <a:avLst/>
          </a:prstGeom>
          <a:noFill/>
          <a:ln/>
        </p:spPr>
        <p:txBody>
          <a:bodyPr wrap="square" lIns="0" tIns="0" rIns="0" bIns="0" rtlCol="0" anchor="ctr"/>
          <a:lstStyle/>
          <a:p>
            <a:pPr marL="0" indent="0" algn="ctr">
              <a:buNone/>
            </a:pPr>
            <a:r>
              <a:rPr lang="en-US" sz="900" dirty="0">
                <a:solidFill>
                  <a:srgbClr val="7A8FA6"/>
                </a:solidFill>
              </a:rPr>
              <a:t>▶</a:t>
            </a:r>
            <a:endParaRPr lang="en-US" sz="900" dirty="0"/>
          </a:p>
        </p:txBody>
      </p:sp>
      <p:sp>
        <p:nvSpPr>
          <p:cNvPr id="25" name="Shape 23"/>
          <p:cNvSpPr/>
          <p:nvPr/>
        </p:nvSpPr>
        <p:spPr>
          <a:xfrm>
            <a:off x="7543800" y="1207008"/>
            <a:ext cx="1261872" cy="749808"/>
          </a:xfrm>
          <a:prstGeom prst="roundRect">
            <a:avLst>
              <a:gd name="adj" fmla="val 10976"/>
            </a:avLst>
          </a:prstGeom>
          <a:solidFill>
            <a:srgbClr val="C0392B"/>
          </a:solidFill>
          <a:ln w="12700">
            <a:solidFill>
              <a:srgbClr val="C0392B"/>
            </a:solidFill>
            <a:prstDash val="solid"/>
          </a:ln>
        </p:spPr>
        <p:txBody>
          <a:bodyPr/>
          <a:lstStyle/>
          <a:p>
            <a:endParaRPr lang="it-IT"/>
          </a:p>
        </p:txBody>
      </p:sp>
      <p:sp>
        <p:nvSpPr>
          <p:cNvPr id="26" name="Text 24"/>
          <p:cNvSpPr/>
          <p:nvPr/>
        </p:nvSpPr>
        <p:spPr>
          <a:xfrm>
            <a:off x="7543800" y="1207008"/>
            <a:ext cx="1261872" cy="749808"/>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Final</a:t>
            </a:r>
            <a:endParaRPr lang="en-US" sz="1050" dirty="0"/>
          </a:p>
          <a:p>
            <a:pPr marL="0" indent="0" algn="ctr">
              <a:buNone/>
            </a:pPr>
            <a:r>
              <a:rPr lang="en-US" sz="1050" b="1" dirty="0">
                <a:solidFill>
                  <a:srgbClr val="FFFFFF"/>
                </a:solidFill>
                <a:latin typeface="Calibri" pitchFamily="34" charset="0"/>
                <a:ea typeface="Calibri" pitchFamily="34" charset="-122"/>
                <a:cs typeface="Calibri" pitchFamily="34" charset="-120"/>
              </a:rPr>
              <a:t>Training over entire dataset</a:t>
            </a:r>
            <a:endParaRPr lang="en-US" sz="1050" dirty="0"/>
          </a:p>
        </p:txBody>
      </p:sp>
      <p:sp>
        <p:nvSpPr>
          <p:cNvPr id="27" name="Shape 25"/>
          <p:cNvSpPr/>
          <p:nvPr/>
        </p:nvSpPr>
        <p:spPr>
          <a:xfrm>
            <a:off x="411480" y="2121408"/>
            <a:ext cx="2651760" cy="26517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dirty="0"/>
          </a:p>
        </p:txBody>
      </p:sp>
      <p:sp>
        <p:nvSpPr>
          <p:cNvPr id="28" name="Text 26"/>
          <p:cNvSpPr/>
          <p:nvPr/>
        </p:nvSpPr>
        <p:spPr>
          <a:xfrm>
            <a:off x="539496" y="2231136"/>
            <a:ext cx="2395728" cy="310896"/>
          </a:xfrm>
          <a:prstGeom prst="rect">
            <a:avLst/>
          </a:prstGeom>
          <a:noFill/>
          <a:ln/>
        </p:spPr>
        <p:txBody>
          <a:bodyPr wrap="square" lIns="0" tIns="0" rIns="0" bIns="0" rtlCol="0" anchor="ctr"/>
          <a:lstStyle/>
          <a:p>
            <a:pPr marL="0" indent="0">
              <a:buNone/>
            </a:pPr>
            <a:r>
              <a:rPr lang="en-US" sz="1100" b="1" dirty="0">
                <a:solidFill>
                  <a:srgbClr val="1C2B4A"/>
                </a:solidFill>
                <a:latin typeface="Calibri" pitchFamily="34" charset="0"/>
                <a:ea typeface="Calibri" pitchFamily="34" charset="-122"/>
                <a:cs typeface="Calibri" pitchFamily="34" charset="-120"/>
              </a:rPr>
              <a:t>Data Leakage Prevention</a:t>
            </a:r>
            <a:endParaRPr lang="en-US" sz="1100" dirty="0"/>
          </a:p>
        </p:txBody>
      </p:sp>
      <p:sp>
        <p:nvSpPr>
          <p:cNvPr id="29" name="Text 27"/>
          <p:cNvSpPr/>
          <p:nvPr/>
        </p:nvSpPr>
        <p:spPr>
          <a:xfrm>
            <a:off x="539496" y="2578608"/>
            <a:ext cx="2395728" cy="2011680"/>
          </a:xfrm>
          <a:prstGeom prst="rect">
            <a:avLst/>
          </a:prstGeom>
          <a:noFill/>
          <a:ln/>
        </p:spPr>
        <p:txBody>
          <a:bodyPr wrap="square" lIns="0" tIns="0" rIns="0" bIns="0" rtlCol="0" anchor="t"/>
          <a:lstStyle/>
          <a:p>
            <a:pPr>
              <a:spcAft>
                <a:spcPts val="500"/>
              </a:spcAft>
              <a:buSzPct val="100000"/>
            </a:pPr>
            <a:r>
              <a:rPr lang="en-US" sz="1200" dirty="0">
                <a:solidFill>
                  <a:srgbClr val="1E293B"/>
                </a:solidFill>
                <a:latin typeface="Calibri" pitchFamily="34" charset="0"/>
                <a:ea typeface="Calibri" pitchFamily="34" charset="-122"/>
                <a:cs typeface="Calibri" pitchFamily="34" charset="-120"/>
              </a:rPr>
              <a:t>All preprocessing fitted only on training folds to avoid data leakage</a:t>
            </a:r>
            <a:endParaRPr lang="en-US" sz="1200" dirty="0"/>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Strict sequence:</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 hardware specification extraction</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 Unicode/noise filtering</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 continuous feature imputation</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 text vectorization (TF-IDF + Frozen </a:t>
            </a:r>
            <a:r>
              <a:rPr lang="en-US" sz="1200" dirty="0" err="1">
                <a:solidFill>
                  <a:srgbClr val="1E293B"/>
                </a:solidFill>
                <a:latin typeface="Calibri" pitchFamily="34" charset="0"/>
                <a:ea typeface="Calibri" pitchFamily="34" charset="-122"/>
                <a:cs typeface="Calibri" pitchFamily="34" charset="-120"/>
              </a:rPr>
              <a:t>SentenceTransformer</a:t>
            </a:r>
            <a:r>
              <a:rPr lang="en-US" sz="1200" dirty="0">
                <a:solidFill>
                  <a:srgbClr val="1E293B"/>
                </a:solidFill>
                <a:latin typeface="Calibri" pitchFamily="34" charset="0"/>
                <a:ea typeface="Calibri" pitchFamily="34" charset="-122"/>
                <a:cs typeface="Calibri" pitchFamily="34" charset="-120"/>
              </a:rPr>
              <a:t>) followed by PLS-DA compression</a:t>
            </a:r>
            <a:endParaRPr lang="en-US" sz="1200" dirty="0"/>
          </a:p>
        </p:txBody>
      </p:sp>
      <p:sp>
        <p:nvSpPr>
          <p:cNvPr id="30" name="Shape 28"/>
          <p:cNvSpPr/>
          <p:nvPr/>
        </p:nvSpPr>
        <p:spPr>
          <a:xfrm>
            <a:off x="3246120" y="2121408"/>
            <a:ext cx="2651760" cy="26517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31" name="Text 29"/>
          <p:cNvSpPr/>
          <p:nvPr/>
        </p:nvSpPr>
        <p:spPr>
          <a:xfrm>
            <a:off x="3374136" y="2231136"/>
            <a:ext cx="2395728" cy="310896"/>
          </a:xfrm>
          <a:prstGeom prst="rect">
            <a:avLst/>
          </a:prstGeom>
          <a:noFill/>
          <a:ln/>
        </p:spPr>
        <p:txBody>
          <a:bodyPr wrap="square" lIns="0" tIns="0" rIns="0" bIns="0" rtlCol="0" anchor="ctr"/>
          <a:lstStyle/>
          <a:p>
            <a:pPr marL="0" indent="0">
              <a:buNone/>
            </a:pPr>
            <a:r>
              <a:rPr lang="en-US" sz="1100" b="1" dirty="0">
                <a:solidFill>
                  <a:srgbClr val="1C2B4A"/>
                </a:solidFill>
                <a:latin typeface="Calibri" pitchFamily="34" charset="0"/>
                <a:ea typeface="Calibri" pitchFamily="34" charset="-122"/>
                <a:cs typeface="Calibri" pitchFamily="34" charset="-120"/>
              </a:rPr>
              <a:t>Class Imbalance Handling</a:t>
            </a:r>
            <a:endParaRPr lang="en-US" sz="1100" dirty="0"/>
          </a:p>
        </p:txBody>
      </p:sp>
      <p:sp>
        <p:nvSpPr>
          <p:cNvPr id="32" name="Text 30"/>
          <p:cNvSpPr/>
          <p:nvPr/>
        </p:nvSpPr>
        <p:spPr>
          <a:xfrm>
            <a:off x="3374136" y="2578608"/>
            <a:ext cx="2395728" cy="2011680"/>
          </a:xfrm>
          <a:prstGeom prst="rect">
            <a:avLst/>
          </a:prstGeom>
          <a:noFill/>
          <a:ln/>
        </p:spPr>
        <p:txBody>
          <a:bodyPr wrap="square" lIns="0" tIns="0" rIns="0" bIns="0" rtlCol="0" anchor="t"/>
          <a:lstStyle/>
          <a:p>
            <a:pPr>
              <a:spcAft>
                <a:spcPts val="500"/>
              </a:spcAft>
              <a:buSzPct val="100000"/>
            </a:pPr>
            <a:r>
              <a:rPr lang="en-US" sz="1200" dirty="0">
                <a:solidFill>
                  <a:srgbClr val="1E293B"/>
                </a:solidFill>
                <a:latin typeface="Calibri" pitchFamily="34" charset="0"/>
                <a:ea typeface="Calibri" pitchFamily="34" charset="-122"/>
                <a:cs typeface="Calibri" pitchFamily="34" charset="-120"/>
              </a:rPr>
              <a:t>Dynamic Majority </a:t>
            </a:r>
            <a:r>
              <a:rPr lang="en-US" sz="1200" dirty="0" err="1">
                <a:solidFill>
                  <a:srgbClr val="1E293B"/>
                </a:solidFill>
                <a:latin typeface="Calibri" pitchFamily="34" charset="0"/>
                <a:ea typeface="Calibri" pitchFamily="34" charset="-122"/>
                <a:cs typeface="Calibri" pitchFamily="34" charset="-120"/>
              </a:rPr>
              <a:t>Undersampling</a:t>
            </a:r>
            <a:r>
              <a:rPr lang="en-US" sz="1200" dirty="0">
                <a:solidFill>
                  <a:srgbClr val="1E293B"/>
                </a:solidFill>
                <a:latin typeface="Calibri" pitchFamily="34" charset="0"/>
                <a:ea typeface="Calibri" pitchFamily="34" charset="-122"/>
                <a:cs typeface="Calibri" pitchFamily="34" charset="-120"/>
              </a:rPr>
              <a:t> for Class 0, SMOTENC restricted exclusively to the extreme minority (Tier 4), and Tomek Links for spatial boundary cleaning</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Resampling operations were strictly applied inside the training splits of each cross-validation fold</a:t>
            </a:r>
          </a:p>
          <a:p>
            <a:pPr>
              <a:spcAft>
                <a:spcPts val="500"/>
              </a:spcAft>
              <a:buSzPct val="100000"/>
            </a:pPr>
            <a:r>
              <a:rPr lang="it-IT" sz="1200" dirty="0" err="1"/>
              <a:t>Metric</a:t>
            </a:r>
            <a:r>
              <a:rPr lang="it-IT" sz="1200" dirty="0"/>
              <a:t> </a:t>
            </a:r>
            <a:r>
              <a:rPr lang="it-IT" sz="1200" dirty="0" err="1"/>
              <a:t>used</a:t>
            </a:r>
            <a:r>
              <a:rPr lang="it-IT" sz="1200" dirty="0"/>
              <a:t>: </a:t>
            </a:r>
            <a:r>
              <a:rPr lang="it-IT" sz="1200" dirty="0" err="1"/>
              <a:t>Quadratic</a:t>
            </a:r>
            <a:r>
              <a:rPr lang="it-IT" sz="1200" dirty="0"/>
              <a:t> </a:t>
            </a:r>
            <a:r>
              <a:rPr lang="it-IT" sz="1200" dirty="0" err="1"/>
              <a:t>Weighted</a:t>
            </a:r>
            <a:r>
              <a:rPr lang="it-IT" sz="1200" dirty="0"/>
              <a:t> Kappa (QWK) and Macro-F1 </a:t>
            </a:r>
            <a:endParaRPr lang="en-US" sz="1200" dirty="0"/>
          </a:p>
        </p:txBody>
      </p:sp>
      <p:sp>
        <p:nvSpPr>
          <p:cNvPr id="33" name="Shape 31"/>
          <p:cNvSpPr/>
          <p:nvPr/>
        </p:nvSpPr>
        <p:spPr>
          <a:xfrm>
            <a:off x="6080760" y="2121408"/>
            <a:ext cx="2651760" cy="26517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34" name="Text 32"/>
          <p:cNvSpPr/>
          <p:nvPr/>
        </p:nvSpPr>
        <p:spPr>
          <a:xfrm>
            <a:off x="6208776" y="2231136"/>
            <a:ext cx="2395728" cy="310896"/>
          </a:xfrm>
          <a:prstGeom prst="rect">
            <a:avLst/>
          </a:prstGeom>
          <a:noFill/>
          <a:ln/>
        </p:spPr>
        <p:txBody>
          <a:bodyPr wrap="square" lIns="0" tIns="0" rIns="0" bIns="0" rtlCol="0" anchor="ctr"/>
          <a:lstStyle/>
          <a:p>
            <a:pPr marL="0" indent="0">
              <a:buNone/>
            </a:pPr>
            <a:r>
              <a:rPr lang="en-US" sz="1100" b="1" dirty="0">
                <a:solidFill>
                  <a:srgbClr val="1C2B4A"/>
                </a:solidFill>
                <a:latin typeface="Calibri" pitchFamily="34" charset="0"/>
                <a:ea typeface="Calibri" pitchFamily="34" charset="-122"/>
                <a:cs typeface="Calibri" pitchFamily="34" charset="-120"/>
              </a:rPr>
              <a:t>Metric Justification</a:t>
            </a:r>
            <a:endParaRPr lang="en-US" sz="1100" dirty="0"/>
          </a:p>
        </p:txBody>
      </p:sp>
      <p:sp>
        <p:nvSpPr>
          <p:cNvPr id="35" name="Text 33"/>
          <p:cNvSpPr/>
          <p:nvPr/>
        </p:nvSpPr>
        <p:spPr>
          <a:xfrm>
            <a:off x="6208776" y="2578608"/>
            <a:ext cx="2395728" cy="2011680"/>
          </a:xfrm>
          <a:prstGeom prst="rect">
            <a:avLst/>
          </a:prstGeom>
          <a:noFill/>
          <a:ln/>
        </p:spPr>
        <p:txBody>
          <a:bodyPr wrap="square" lIns="0" tIns="0" rIns="0" bIns="0" rtlCol="0" anchor="t"/>
          <a:lstStyle/>
          <a:p>
            <a:pPr>
              <a:spcAft>
                <a:spcPts val="500"/>
              </a:spcAft>
              <a:buSzPct val="100000"/>
            </a:pPr>
            <a:r>
              <a:rPr lang="en-US" sz="1100" dirty="0">
                <a:solidFill>
                  <a:srgbClr val="1E293B"/>
                </a:solidFill>
                <a:latin typeface="Calibri" pitchFamily="34" charset="0"/>
                <a:ea typeface="Calibri" pitchFamily="34" charset="-122"/>
                <a:cs typeface="Calibri" pitchFamily="34" charset="-120"/>
              </a:rPr>
              <a:t>QWK is the primary metric because it heavily penalizes predictions that land far from the true ordinal tier compared to adjacent-tier misclassifications</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Misclassifying a long-tail indie game (Tier 0) as an AAA hit (Tier 4) leads to severe capital misallocation for publishers. QWK mathematically minimizes these extreme off-diagonal errors</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Additional metrics reported for completeness: F1-score, accuracy, precision, and recall (Macro)</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PIPELINE</a:t>
            </a:r>
            <a:endParaRPr lang="en-US" sz="75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Model Selection &amp; Hyperparameter Optimization</a:t>
            </a:r>
            <a:endParaRPr lang="en-US" sz="2400" dirty="0"/>
          </a:p>
        </p:txBody>
      </p:sp>
      <p:sp>
        <p:nvSpPr>
          <p:cNvPr id="6" name="Text 4"/>
          <p:cNvSpPr/>
          <p:nvPr/>
        </p:nvSpPr>
        <p:spPr>
          <a:xfrm>
            <a:off x="411480" y="1869948"/>
            <a:ext cx="4069080" cy="932688"/>
          </a:xfrm>
          <a:prstGeom prst="rect">
            <a:avLst/>
          </a:prstGeom>
          <a:noFill/>
          <a:ln/>
        </p:spPr>
        <p:txBody>
          <a:bodyPr wrap="square" lIns="0" tIns="0" rIns="0" bIns="0" rtlCol="0" anchor="ctr"/>
          <a:lstStyle/>
          <a:p>
            <a:pPr marL="0" indent="0" algn="ctr">
              <a:buNone/>
            </a:pPr>
            <a:r>
              <a:rPr lang="en-US" sz="1100" i="1" dirty="0">
                <a:solidFill>
                  <a:srgbClr val="7A8FA6"/>
                </a:solidFill>
              </a:rPr>
              <a:t>[ YOUR FIGURE HERE ]</a:t>
            </a:r>
            <a:endParaRPr lang="en-US" sz="1100" dirty="0"/>
          </a:p>
        </p:txBody>
      </p:sp>
      <p:sp>
        <p:nvSpPr>
          <p:cNvPr id="7" name="Text 5"/>
          <p:cNvSpPr/>
          <p:nvPr/>
        </p:nvSpPr>
        <p:spPr>
          <a:xfrm>
            <a:off x="411480" y="2616098"/>
            <a:ext cx="4069080" cy="746150"/>
          </a:xfrm>
          <a:prstGeom prst="rect">
            <a:avLst/>
          </a:prstGeom>
          <a:noFill/>
          <a:ln/>
        </p:spPr>
        <p:txBody>
          <a:bodyPr wrap="square" lIns="0" tIns="0" rIns="0" bIns="0" rtlCol="0" anchor="t"/>
          <a:lstStyle/>
          <a:p>
            <a:pPr marL="0" indent="0" algn="ctr">
              <a:buNone/>
            </a:pPr>
            <a:r>
              <a:rPr lang="en-US" sz="850" dirty="0">
                <a:solidFill>
                  <a:srgbClr val="7A8FA6"/>
                </a:solidFill>
              </a:rPr>
              <a:t>Box plot of cross-validated scores across candidate models</a:t>
            </a:r>
            <a:endParaRPr lang="en-US" sz="850" dirty="0"/>
          </a:p>
          <a:p>
            <a:pPr marL="0" indent="0" algn="ctr">
              <a:buNone/>
            </a:pPr>
            <a:r>
              <a:rPr lang="en-US" sz="850" dirty="0">
                <a:solidFill>
                  <a:srgbClr val="7A8FA6"/>
                </a:solidFill>
              </a:rPr>
              <a:t>(e.g., F1-macro or RMSE per CV fold per model)</a:t>
            </a:r>
            <a:endParaRPr lang="en-US" sz="850" dirty="0"/>
          </a:p>
        </p:txBody>
      </p:sp>
      <p:pic>
        <p:nvPicPr>
          <p:cNvPr id="36" name="Immagine 35">
            <a:extLst>
              <a:ext uri="{FF2B5EF4-FFF2-40B4-BE49-F238E27FC236}">
                <a16:creationId xmlns:a16="http://schemas.microsoft.com/office/drawing/2014/main" id="{FF5B76D8-CD0E-FA46-3182-C5C2782A912D}"/>
              </a:ext>
            </a:extLst>
          </p:cNvPr>
          <p:cNvPicPr>
            <a:picLocks noChangeAspect="1"/>
          </p:cNvPicPr>
          <p:nvPr/>
        </p:nvPicPr>
        <p:blipFill>
          <a:blip r:embed="rId3"/>
          <a:stretch>
            <a:fillRect/>
          </a:stretch>
        </p:blipFill>
        <p:spPr>
          <a:xfrm>
            <a:off x="320040" y="1948771"/>
            <a:ext cx="4011024" cy="1968953"/>
          </a:xfrm>
          <a:prstGeom prst="rect">
            <a:avLst/>
          </a:prstGeom>
        </p:spPr>
      </p:pic>
      <p:graphicFrame>
        <p:nvGraphicFramePr>
          <p:cNvPr id="8" name="Tabela 7">
            <a:extLst>
              <a:ext uri="{FF2B5EF4-FFF2-40B4-BE49-F238E27FC236}">
                <a16:creationId xmlns:a16="http://schemas.microsoft.com/office/drawing/2014/main" id="{20EE45CE-E978-9A55-4267-0DB31581D403}"/>
              </a:ext>
            </a:extLst>
          </p:cNvPr>
          <p:cNvGraphicFramePr>
            <a:graphicFrameLocks noGrp="1"/>
          </p:cNvGraphicFramePr>
          <p:nvPr>
            <p:extLst>
              <p:ext uri="{D42A27DB-BD31-4B8C-83A1-F6EECF244321}">
                <p14:modId xmlns:p14="http://schemas.microsoft.com/office/powerpoint/2010/main" val="513684590"/>
              </p:ext>
            </p:extLst>
          </p:nvPr>
        </p:nvGraphicFramePr>
        <p:xfrm>
          <a:off x="4331064" y="1062538"/>
          <a:ext cx="4401456" cy="3642360"/>
        </p:xfrm>
        <a:graphic>
          <a:graphicData uri="http://schemas.openxmlformats.org/drawingml/2006/table">
            <a:tbl>
              <a:tblPr firstRow="1" bandRow="1">
                <a:tableStyleId>{5C22544A-7EE6-4342-B048-85BDC9FD1C3A}</a:tableStyleId>
              </a:tblPr>
              <a:tblGrid>
                <a:gridCol w="1135642">
                  <a:extLst>
                    <a:ext uri="{9D8B030D-6E8A-4147-A177-3AD203B41FA5}">
                      <a16:colId xmlns:a16="http://schemas.microsoft.com/office/drawing/2014/main" val="1117595681"/>
                    </a:ext>
                  </a:extLst>
                </a:gridCol>
                <a:gridCol w="3265814">
                  <a:extLst>
                    <a:ext uri="{9D8B030D-6E8A-4147-A177-3AD203B41FA5}">
                      <a16:colId xmlns:a16="http://schemas.microsoft.com/office/drawing/2014/main" val="663168137"/>
                    </a:ext>
                  </a:extLst>
                </a:gridCol>
              </a:tblGrid>
              <a:tr h="370840">
                <a:tc gridSpan="2">
                  <a:txBody>
                    <a:bodyPr/>
                    <a:lstStyle/>
                    <a:p>
                      <a:r>
                        <a:rPr lang="pt-BR" sz="1200" dirty="0"/>
                        <a:t>Key </a:t>
                      </a:r>
                      <a:r>
                        <a:rPr lang="pt-BR" sz="1200" dirty="0" err="1"/>
                        <a:t>Decisions</a:t>
                      </a:r>
                      <a:endParaRPr lang="pt-BR" sz="1200" dirty="0"/>
                    </a:p>
                  </a:txBody>
                  <a:tcPr/>
                </a:tc>
                <a:tc hMerge="1">
                  <a:txBody>
                    <a:bodyPr/>
                    <a:lstStyle/>
                    <a:p>
                      <a:endParaRPr lang="pt-BR" dirty="0"/>
                    </a:p>
                  </a:txBody>
                  <a:tcPr/>
                </a:tc>
                <a:extLst>
                  <a:ext uri="{0D108BD9-81ED-4DB2-BD59-A6C34878D82A}">
                    <a16:rowId xmlns:a16="http://schemas.microsoft.com/office/drawing/2014/main" val="1150422264"/>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Candidate models</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Decision Trees, Random Forests, and </a:t>
                      </a:r>
                      <a:r>
                        <a:rPr lang="en-US" sz="1000" i="1" dirty="0" err="1">
                          <a:solidFill>
                            <a:srgbClr val="4A6587"/>
                          </a:solidFill>
                          <a:latin typeface="Calibri" pitchFamily="34" charset="0"/>
                          <a:ea typeface="Calibri" pitchFamily="34" charset="-122"/>
                          <a:cs typeface="Calibri" pitchFamily="34" charset="-120"/>
                        </a:rPr>
                        <a:t>XGBoost</a:t>
                      </a:r>
                      <a:endParaRPr lang="en-US" sz="1000" dirty="0"/>
                    </a:p>
                  </a:txBody>
                  <a:tcPr/>
                </a:tc>
                <a:extLst>
                  <a:ext uri="{0D108BD9-81ED-4DB2-BD59-A6C34878D82A}">
                    <a16:rowId xmlns:a16="http://schemas.microsoft.com/office/drawing/2014/main" val="61818793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CV strategy</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5x3 Nested Cross-Validation (5 Outer Folds, 3 Inner Folds)</a:t>
                      </a:r>
                      <a:endParaRPr lang="en-US" sz="1000" dirty="0"/>
                    </a:p>
                  </a:txBody>
                  <a:tcPr/>
                </a:tc>
                <a:extLst>
                  <a:ext uri="{0D108BD9-81ED-4DB2-BD59-A6C34878D82A}">
                    <a16:rowId xmlns:a16="http://schemas.microsoft.com/office/drawing/2014/main" val="2480663719"/>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Selection criterion</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Quadratic Weighted Kappa (QWK)</a:t>
                      </a:r>
                      <a:endParaRPr lang="en-US" sz="1000" dirty="0"/>
                    </a:p>
                  </a:txBody>
                  <a:tcPr/>
                </a:tc>
                <a:extLst>
                  <a:ext uri="{0D108BD9-81ED-4DB2-BD59-A6C34878D82A}">
                    <a16:rowId xmlns:a16="http://schemas.microsoft.com/office/drawing/2014/main" val="325316757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Chosen model</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err="1">
                          <a:solidFill>
                            <a:srgbClr val="4A6587"/>
                          </a:solidFill>
                          <a:latin typeface="Calibri" pitchFamily="34" charset="0"/>
                          <a:ea typeface="Calibri" pitchFamily="34" charset="-122"/>
                          <a:cs typeface="Calibri" pitchFamily="34" charset="-120"/>
                        </a:rPr>
                        <a:t>XGBoost</a:t>
                      </a:r>
                      <a:r>
                        <a:rPr lang="en-US" sz="1000" i="1" dirty="0">
                          <a:solidFill>
                            <a:srgbClr val="4A6587"/>
                          </a:solidFill>
                          <a:latin typeface="Calibri" pitchFamily="34" charset="0"/>
                          <a:ea typeface="Calibri" pitchFamily="34" charset="-122"/>
                          <a:cs typeface="Calibri" pitchFamily="34" charset="-120"/>
                        </a:rPr>
                        <a:t>, as it achieved an optimal QWK of ~0.817 and demonstrated tight variance with high median performance</a:t>
                      </a:r>
                      <a:endParaRPr lang="en-US" sz="1000" dirty="0"/>
                    </a:p>
                  </a:txBody>
                  <a:tcPr/>
                </a:tc>
                <a:extLst>
                  <a:ext uri="{0D108BD9-81ED-4DB2-BD59-A6C34878D82A}">
                    <a16:rowId xmlns:a16="http://schemas.microsoft.com/office/drawing/2014/main" val="93510330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Search strategy</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Bayesian Optimization via </a:t>
                      </a:r>
                      <a:r>
                        <a:rPr lang="en-US" sz="1000" i="1" dirty="0" err="1">
                          <a:solidFill>
                            <a:srgbClr val="4A6587"/>
                          </a:solidFill>
                          <a:latin typeface="Calibri" pitchFamily="34" charset="0"/>
                          <a:ea typeface="Calibri" pitchFamily="34" charset="-122"/>
                          <a:cs typeface="Calibri" pitchFamily="34" charset="-120"/>
                        </a:rPr>
                        <a:t>Optuna</a:t>
                      </a:r>
                      <a:r>
                        <a:rPr lang="en-US" sz="1000" i="1" dirty="0">
                          <a:solidFill>
                            <a:srgbClr val="4A6587"/>
                          </a:solidFill>
                          <a:latin typeface="Calibri" pitchFamily="34" charset="0"/>
                          <a:ea typeface="Calibri" pitchFamily="34" charset="-122"/>
                          <a:cs typeface="Calibri" pitchFamily="34" charset="-120"/>
                        </a:rPr>
                        <a:t> coupled with a Cached Unified Grid Search</a:t>
                      </a:r>
                      <a:endParaRPr lang="en-US" sz="1000" dirty="0"/>
                    </a:p>
                  </a:txBody>
                  <a:tcPr/>
                </a:tc>
                <a:extLst>
                  <a:ext uri="{0D108BD9-81ED-4DB2-BD59-A6C34878D82A}">
                    <a16:rowId xmlns:a16="http://schemas.microsoft.com/office/drawing/2014/main" val="107296794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Search space</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Tree ensemble architecture (</a:t>
                      </a:r>
                      <a:r>
                        <a:rPr lang="en-US" sz="1000" i="1" dirty="0" err="1">
                          <a:solidFill>
                            <a:srgbClr val="4A6587"/>
                          </a:solidFill>
                          <a:latin typeface="Calibri" pitchFamily="34" charset="0"/>
                          <a:ea typeface="Calibri" pitchFamily="34" charset="-122"/>
                          <a:cs typeface="Calibri" pitchFamily="34" charset="-120"/>
                        </a:rPr>
                        <a:t>n_estimators</a:t>
                      </a:r>
                      <a:r>
                        <a:rPr lang="en-US" sz="1000" i="1" dirty="0">
                          <a:solidFill>
                            <a:srgbClr val="4A6587"/>
                          </a:solidFill>
                          <a:latin typeface="Calibri" pitchFamily="34" charset="0"/>
                          <a:ea typeface="Calibri" pitchFamily="34" charset="-122"/>
                          <a:cs typeface="Calibri" pitchFamily="34" charset="-120"/>
                        </a:rPr>
                        <a:t>, </a:t>
                      </a:r>
                      <a:r>
                        <a:rPr lang="en-US" sz="1000" i="1" dirty="0" err="1">
                          <a:solidFill>
                            <a:srgbClr val="4A6587"/>
                          </a:solidFill>
                          <a:latin typeface="Calibri" pitchFamily="34" charset="0"/>
                          <a:ea typeface="Calibri" pitchFamily="34" charset="-122"/>
                          <a:cs typeface="Calibri" pitchFamily="34" charset="-120"/>
                        </a:rPr>
                        <a:t>max_depth</a:t>
                      </a:r>
                      <a:r>
                        <a:rPr lang="en-US" sz="1000" i="1" dirty="0">
                          <a:solidFill>
                            <a:srgbClr val="4A6587"/>
                          </a:solidFill>
                          <a:latin typeface="Calibri" pitchFamily="34" charset="0"/>
                          <a:ea typeface="Calibri" pitchFamily="34" charset="-122"/>
                          <a:cs typeface="Calibri" pitchFamily="34" charset="-120"/>
                        </a:rPr>
                        <a:t>), learning dynamics, and regularization bounds</a:t>
                      </a:r>
                      <a:endParaRPr lang="en-US" sz="1000" dirty="0"/>
                    </a:p>
                  </a:txBody>
                  <a:tcPr/>
                </a:tc>
                <a:extLst>
                  <a:ext uri="{0D108BD9-81ED-4DB2-BD59-A6C34878D82A}">
                    <a16:rowId xmlns:a16="http://schemas.microsoft.com/office/drawing/2014/main" val="169601779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Best config</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err="1">
                          <a:solidFill>
                            <a:srgbClr val="4A6587"/>
                          </a:solidFill>
                          <a:latin typeface="Calibri" pitchFamily="34" charset="0"/>
                          <a:ea typeface="Calibri" pitchFamily="34" charset="-122"/>
                          <a:cs typeface="Calibri" pitchFamily="34" charset="-120"/>
                        </a:rPr>
                        <a:t>n_estimators</a:t>
                      </a:r>
                      <a:r>
                        <a:rPr lang="en-US" sz="1000" i="1" dirty="0">
                          <a:solidFill>
                            <a:srgbClr val="4A6587"/>
                          </a:solidFill>
                          <a:latin typeface="Calibri" pitchFamily="34" charset="0"/>
                          <a:ea typeface="Calibri" pitchFamily="34" charset="-122"/>
                          <a:cs typeface="Calibri" pitchFamily="34" charset="-120"/>
                        </a:rPr>
                        <a:t>=397, </a:t>
                      </a:r>
                      <a:r>
                        <a:rPr lang="en-US" sz="1000" i="1" dirty="0" err="1">
                          <a:solidFill>
                            <a:srgbClr val="4A6587"/>
                          </a:solidFill>
                          <a:latin typeface="Calibri" pitchFamily="34" charset="0"/>
                          <a:ea typeface="Calibri" pitchFamily="34" charset="-122"/>
                          <a:cs typeface="Calibri" pitchFamily="34" charset="-120"/>
                        </a:rPr>
                        <a:t>max_depth</a:t>
                      </a:r>
                      <a:r>
                        <a:rPr lang="en-US" sz="1000" i="1" dirty="0">
                          <a:solidFill>
                            <a:srgbClr val="4A6587"/>
                          </a:solidFill>
                          <a:latin typeface="Calibri" pitchFamily="34" charset="0"/>
                          <a:ea typeface="Calibri" pitchFamily="34" charset="-122"/>
                          <a:cs typeface="Calibri" pitchFamily="34" charset="-120"/>
                        </a:rPr>
                        <a:t>=5, learning_rate≈0.107, </a:t>
                      </a:r>
                      <a:r>
                        <a:rPr lang="en-US" sz="1000" i="1" dirty="0" err="1">
                          <a:solidFill>
                            <a:srgbClr val="4A6587"/>
                          </a:solidFill>
                          <a:latin typeface="Calibri" pitchFamily="34" charset="0"/>
                          <a:ea typeface="Calibri" pitchFamily="34" charset="-122"/>
                          <a:cs typeface="Calibri" pitchFamily="34" charset="-120"/>
                        </a:rPr>
                        <a:t>min_child_weight</a:t>
                      </a:r>
                      <a:r>
                        <a:rPr lang="en-US" sz="1000" i="1" dirty="0">
                          <a:solidFill>
                            <a:srgbClr val="4A6587"/>
                          </a:solidFill>
                          <a:latin typeface="Calibri" pitchFamily="34" charset="0"/>
                          <a:ea typeface="Calibri" pitchFamily="34" charset="-122"/>
                          <a:cs typeface="Calibri" pitchFamily="34" charset="-120"/>
                        </a:rPr>
                        <a:t>=5, subsample≈0.965, reg_lambda≈0.825</a:t>
                      </a:r>
                      <a:endParaRPr lang="en-US" sz="1000" dirty="0"/>
                    </a:p>
                  </a:txBody>
                  <a:tcPr/>
                </a:tc>
                <a:extLst>
                  <a:ext uri="{0D108BD9-81ED-4DB2-BD59-A6C34878D82A}">
                    <a16:rowId xmlns:a16="http://schemas.microsoft.com/office/drawing/2014/main" val="11549221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1" dirty="0">
                          <a:solidFill>
                            <a:srgbClr val="1C2B4A"/>
                          </a:solidFill>
                          <a:latin typeface="Calibri" pitchFamily="34" charset="0"/>
                          <a:ea typeface="Calibri" pitchFamily="34" charset="-122"/>
                          <a:cs typeface="Calibri" pitchFamily="34" charset="-120"/>
                        </a:rPr>
                        <a:t>Statistical test</a:t>
                      </a:r>
                      <a:endParaRPr lang="en-US"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solidFill>
                            <a:srgbClr val="4A6587"/>
                          </a:solidFill>
                          <a:latin typeface="Calibri" pitchFamily="34" charset="0"/>
                          <a:ea typeface="Calibri" pitchFamily="34" charset="-122"/>
                          <a:cs typeface="Calibri" pitchFamily="34" charset="-120"/>
                        </a:rPr>
                        <a:t>Friedman Test for global significance, followed by Wilcoxon Signed-Rank Test. Due to N=5 folds, absolute dominance yielded a minimum achievable p-value of 0.0625.</a:t>
                      </a:r>
                      <a:endParaRPr lang="en-US" sz="1000" dirty="0"/>
                    </a:p>
                  </a:txBody>
                  <a:tcPr/>
                </a:tc>
                <a:extLst>
                  <a:ext uri="{0D108BD9-81ED-4DB2-BD59-A6C34878D82A}">
                    <a16:rowId xmlns:a16="http://schemas.microsoft.com/office/drawing/2014/main" val="3719384042"/>
                  </a:ext>
                </a:extLst>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RESULTS</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Test-Set Results</a:t>
            </a:r>
            <a:endParaRPr lang="en-US" sz="2400" dirty="0"/>
          </a:p>
        </p:txBody>
      </p:sp>
      <p:sp>
        <p:nvSpPr>
          <p:cNvPr id="6" name="Text 4"/>
          <p:cNvSpPr/>
          <p:nvPr/>
        </p:nvSpPr>
        <p:spPr>
          <a:xfrm>
            <a:off x="411480" y="1897380"/>
            <a:ext cx="4069080" cy="969264"/>
          </a:xfrm>
          <a:prstGeom prst="rect">
            <a:avLst/>
          </a:prstGeom>
          <a:noFill/>
          <a:ln/>
        </p:spPr>
        <p:txBody>
          <a:bodyPr wrap="square" lIns="0" tIns="0" rIns="0" bIns="0" rtlCol="0" anchor="ctr"/>
          <a:lstStyle/>
          <a:p>
            <a:pPr marL="0" indent="0" algn="ctr">
              <a:buNone/>
            </a:pPr>
            <a:r>
              <a:rPr lang="en-US" sz="1100" i="1" dirty="0">
                <a:solidFill>
                  <a:srgbClr val="7A8FA6"/>
                </a:solidFill>
              </a:rPr>
              <a:t>[ YOUR FIGURE HERE ]</a:t>
            </a:r>
            <a:endParaRPr lang="en-US" sz="1100" dirty="0"/>
          </a:p>
        </p:txBody>
      </p:sp>
      <p:sp>
        <p:nvSpPr>
          <p:cNvPr id="11" name="Text 9"/>
          <p:cNvSpPr/>
          <p:nvPr/>
        </p:nvSpPr>
        <p:spPr>
          <a:xfrm>
            <a:off x="411480" y="3703320"/>
            <a:ext cx="3657600" cy="256032"/>
          </a:xfrm>
          <a:prstGeom prst="rect">
            <a:avLst/>
          </a:prstGeom>
          <a:noFill/>
          <a:ln/>
        </p:spPr>
        <p:txBody>
          <a:bodyPr wrap="square" lIns="0" tIns="0" rIns="0" bIns="0" rtlCol="0" anchor="ctr"/>
          <a:lstStyle/>
          <a:p>
            <a:pPr marL="0" indent="0">
              <a:buNone/>
            </a:pPr>
            <a:r>
              <a:rPr lang="en-US" sz="1100" b="1" dirty="0">
                <a:solidFill>
                  <a:srgbClr val="1C2B4A"/>
                </a:solidFill>
                <a:latin typeface="Calibri" pitchFamily="34" charset="0"/>
                <a:ea typeface="Calibri" pitchFamily="34" charset="-122"/>
                <a:cs typeface="Calibri" pitchFamily="34" charset="-120"/>
              </a:rPr>
              <a:t>Key Metrics (Test Set)</a:t>
            </a:r>
            <a:endParaRPr lang="en-US" sz="1100" dirty="0"/>
          </a:p>
        </p:txBody>
      </p:sp>
      <p:sp>
        <p:nvSpPr>
          <p:cNvPr id="12" name="Shape 10"/>
          <p:cNvSpPr/>
          <p:nvPr/>
        </p:nvSpPr>
        <p:spPr>
          <a:xfrm>
            <a:off x="411480" y="4005072"/>
            <a:ext cx="1938528" cy="877824"/>
          </a:xfrm>
          <a:prstGeom prst="roundRect">
            <a:avLst>
              <a:gd name="adj" fmla="val 10417"/>
            </a:avLst>
          </a:prstGeom>
          <a:solidFill>
            <a:srgbClr val="F0F4FA"/>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13" name="Text 11"/>
          <p:cNvSpPr/>
          <p:nvPr/>
        </p:nvSpPr>
        <p:spPr>
          <a:xfrm>
            <a:off x="411480" y="4078224"/>
            <a:ext cx="19385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Post-Release: 0.840</a:t>
            </a:r>
            <a:b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b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Pre-Release: 0.721</a:t>
            </a:r>
          </a:p>
        </p:txBody>
      </p:sp>
      <p:sp>
        <p:nvSpPr>
          <p:cNvPr id="14" name="Text 12"/>
          <p:cNvSpPr/>
          <p:nvPr/>
        </p:nvSpPr>
        <p:spPr>
          <a:xfrm>
            <a:off x="411480" y="4535424"/>
            <a:ext cx="1938528" cy="274320"/>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QWK </a:t>
            </a:r>
            <a:r>
              <a:rPr lang="en-US" sz="900" dirty="0" err="1">
                <a:solidFill>
                  <a:srgbClr val="7A8FA6"/>
                </a:solidFill>
                <a:latin typeface="Calibri" pitchFamily="34" charset="0"/>
                <a:ea typeface="Calibri" pitchFamily="34" charset="-122"/>
                <a:cs typeface="Calibri" pitchFamily="34" charset="-120"/>
              </a:rPr>
              <a:t>XGBoost</a:t>
            </a:r>
            <a:endParaRPr lang="en-US" sz="900" dirty="0"/>
          </a:p>
        </p:txBody>
      </p:sp>
      <p:sp>
        <p:nvSpPr>
          <p:cNvPr id="15" name="Shape 13"/>
          <p:cNvSpPr/>
          <p:nvPr/>
        </p:nvSpPr>
        <p:spPr>
          <a:xfrm>
            <a:off x="2514600" y="4005072"/>
            <a:ext cx="1938528" cy="877824"/>
          </a:xfrm>
          <a:prstGeom prst="roundRect">
            <a:avLst>
              <a:gd name="adj" fmla="val 10417"/>
            </a:avLst>
          </a:prstGeom>
          <a:solidFill>
            <a:srgbClr val="F0F4FA"/>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dirty="0"/>
          </a:p>
        </p:txBody>
      </p:sp>
      <p:sp>
        <p:nvSpPr>
          <p:cNvPr id="16" name="Text 14"/>
          <p:cNvSpPr/>
          <p:nvPr/>
        </p:nvSpPr>
        <p:spPr>
          <a:xfrm>
            <a:off x="2514600" y="4078224"/>
            <a:ext cx="19385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Post-Release: 0.624</a:t>
            </a:r>
            <a:b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b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Pre-Release: 0.469</a:t>
            </a:r>
            <a:endParaRPr lang="en-US" sz="2600" dirty="0"/>
          </a:p>
        </p:txBody>
      </p:sp>
      <p:sp>
        <p:nvSpPr>
          <p:cNvPr id="17" name="Text 15"/>
          <p:cNvSpPr/>
          <p:nvPr/>
        </p:nvSpPr>
        <p:spPr>
          <a:xfrm>
            <a:off x="2514600" y="4535424"/>
            <a:ext cx="1938528" cy="274320"/>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Macro-F1 </a:t>
            </a:r>
            <a:r>
              <a:rPr lang="en-US" sz="900" dirty="0" err="1">
                <a:solidFill>
                  <a:srgbClr val="7A8FA6"/>
                </a:solidFill>
                <a:latin typeface="Calibri" pitchFamily="34" charset="0"/>
                <a:ea typeface="Calibri" pitchFamily="34" charset="-122"/>
                <a:cs typeface="Calibri" pitchFamily="34" charset="-120"/>
              </a:rPr>
              <a:t>XGBoost</a:t>
            </a:r>
            <a:endParaRPr lang="en-US" sz="900" dirty="0"/>
          </a:p>
        </p:txBody>
      </p:sp>
      <p:sp>
        <p:nvSpPr>
          <p:cNvPr id="18" name="Shape 16"/>
          <p:cNvSpPr/>
          <p:nvPr/>
        </p:nvSpPr>
        <p:spPr>
          <a:xfrm>
            <a:off x="4617720" y="4005072"/>
            <a:ext cx="1938528" cy="877824"/>
          </a:xfrm>
          <a:prstGeom prst="roundRect">
            <a:avLst>
              <a:gd name="adj" fmla="val 10417"/>
            </a:avLst>
          </a:prstGeom>
          <a:solidFill>
            <a:srgbClr val="F0F4FA"/>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19" name="Text 17"/>
          <p:cNvSpPr/>
          <p:nvPr/>
        </p:nvSpPr>
        <p:spPr>
          <a:xfrm>
            <a:off x="4617720" y="4078224"/>
            <a:ext cx="1938528" cy="420624"/>
          </a:xfrm>
          <a:prstGeom prst="rect">
            <a:avLst/>
          </a:prstGeom>
          <a:noFill/>
          <a:ln/>
        </p:spPr>
        <p:txBody>
          <a:bodyPr wrap="square" lIns="0" tIns="0" rIns="0" bIns="0" rtlCol="0" anchor="ctr"/>
          <a:lstStyle/>
          <a:p>
            <a:pPr marL="0" indent="0" algn="ctr">
              <a:buNone/>
            </a:pPr>
            <a:r>
              <a:rPr lang="en-US" b="1" dirty="0">
                <a:solidFill>
                  <a:srgbClr val="1C2B4A"/>
                </a:solidFill>
                <a:latin typeface="Calibri" pitchFamily="34" charset="0"/>
                <a:ea typeface="Calibri" pitchFamily="34" charset="-122"/>
                <a:cs typeface="Calibri" pitchFamily="34" charset="-120"/>
              </a:rPr>
              <a:t>Post-Release: 0.808</a:t>
            </a:r>
            <a:br>
              <a:rPr lang="en-US" b="1" dirty="0">
                <a:solidFill>
                  <a:srgbClr val="1C2B4A"/>
                </a:solidFill>
                <a:latin typeface="Calibri" pitchFamily="34" charset="0"/>
                <a:ea typeface="Calibri" pitchFamily="34" charset="-122"/>
                <a:cs typeface="Calibri" pitchFamily="34" charset="-120"/>
              </a:rPr>
            </a:br>
            <a:r>
              <a:rPr lang="en-US" b="1" dirty="0">
                <a:solidFill>
                  <a:srgbClr val="1C2B4A"/>
                </a:solidFill>
                <a:latin typeface="Calibri" pitchFamily="34" charset="0"/>
                <a:ea typeface="Calibri" pitchFamily="34" charset="-122"/>
                <a:cs typeface="Calibri" pitchFamily="34" charset="-120"/>
              </a:rPr>
              <a:t>Pre-Release: 0.700</a:t>
            </a:r>
          </a:p>
        </p:txBody>
      </p:sp>
      <p:sp>
        <p:nvSpPr>
          <p:cNvPr id="20" name="Text 18"/>
          <p:cNvSpPr/>
          <p:nvPr/>
        </p:nvSpPr>
        <p:spPr>
          <a:xfrm>
            <a:off x="4617720" y="4535424"/>
            <a:ext cx="1938528" cy="274320"/>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QWK Random Forest</a:t>
            </a:r>
            <a:endParaRPr lang="en-US" sz="900" dirty="0"/>
          </a:p>
        </p:txBody>
      </p:sp>
      <p:sp>
        <p:nvSpPr>
          <p:cNvPr id="21" name="Shape 19"/>
          <p:cNvSpPr/>
          <p:nvPr/>
        </p:nvSpPr>
        <p:spPr>
          <a:xfrm>
            <a:off x="6720840" y="4005072"/>
            <a:ext cx="1938528" cy="877824"/>
          </a:xfrm>
          <a:prstGeom prst="roundRect">
            <a:avLst>
              <a:gd name="adj" fmla="val 10417"/>
            </a:avLst>
          </a:prstGeom>
          <a:solidFill>
            <a:srgbClr val="F0F4FA"/>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22" name="Text 20"/>
          <p:cNvSpPr/>
          <p:nvPr/>
        </p:nvSpPr>
        <p:spPr>
          <a:xfrm>
            <a:off x="6720840" y="4078224"/>
            <a:ext cx="193852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Post-Release: 0.769</a:t>
            </a:r>
            <a:b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br>
            <a:r>
              <a:rPr kumimoji="0" lang="en-US" sz="1800" b="1" i="0" u="none" strike="noStrike" kern="1200" cap="none" spc="0" normalizeH="0" baseline="0" noProof="0" dirty="0" err="1">
                <a:ln>
                  <a:noFill/>
                </a:ln>
                <a:solidFill>
                  <a:srgbClr val="1C2B4A"/>
                </a:solidFill>
                <a:effectLst/>
                <a:uLnTx/>
                <a:uFillTx/>
                <a:latin typeface="Calibri" pitchFamily="34" charset="0"/>
                <a:ea typeface="Calibri" pitchFamily="34" charset="-122"/>
                <a:cs typeface="Calibri" pitchFamily="34" charset="-120"/>
              </a:rPr>
              <a:t>Pre_Release</a:t>
            </a:r>
            <a:r>
              <a:rPr kumimoji="0" lang="en-US" sz="1800" b="1" i="0" u="none" strike="noStrike" kern="1200" cap="none" spc="0" normalizeH="0" baseline="0" noProof="0" dirty="0">
                <a:ln>
                  <a:noFill/>
                </a:ln>
                <a:solidFill>
                  <a:srgbClr val="1C2B4A"/>
                </a:solidFill>
                <a:effectLst/>
                <a:uLnTx/>
                <a:uFillTx/>
                <a:latin typeface="Calibri" pitchFamily="34" charset="0"/>
                <a:ea typeface="Calibri" pitchFamily="34" charset="-122"/>
                <a:cs typeface="Calibri" pitchFamily="34" charset="-120"/>
              </a:rPr>
              <a:t>: 0.544</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6720840" y="4535424"/>
            <a:ext cx="1938528" cy="274320"/>
          </a:xfrm>
          <a:prstGeom prst="rect">
            <a:avLst/>
          </a:prstGeom>
          <a:noFill/>
          <a:ln/>
        </p:spPr>
        <p:txBody>
          <a:bodyPr wrap="square" lIns="0" tIns="0" rIns="0" bIns="0" rtlCol="0" anchor="ctr"/>
          <a:lstStyle/>
          <a:p>
            <a:pPr marL="0" indent="0" algn="ctr">
              <a:buNone/>
            </a:pPr>
            <a:r>
              <a:rPr lang="en-US" sz="900" dirty="0">
                <a:solidFill>
                  <a:srgbClr val="7A8FA6"/>
                </a:solidFill>
                <a:latin typeface="Calibri" pitchFamily="34" charset="0"/>
                <a:ea typeface="Calibri" pitchFamily="34" charset="-122"/>
                <a:cs typeface="Calibri" pitchFamily="34" charset="-120"/>
              </a:rPr>
              <a:t>QWK Decision Tree</a:t>
            </a:r>
            <a:endParaRPr lang="en-US" sz="900" dirty="0"/>
          </a:p>
        </p:txBody>
      </p:sp>
      <p:pic>
        <p:nvPicPr>
          <p:cNvPr id="27" name="Immagine 26">
            <a:extLst>
              <a:ext uri="{FF2B5EF4-FFF2-40B4-BE49-F238E27FC236}">
                <a16:creationId xmlns:a16="http://schemas.microsoft.com/office/drawing/2014/main" id="{FAA4E237-12B2-7219-AB50-1705FED108BB}"/>
              </a:ext>
            </a:extLst>
          </p:cNvPr>
          <p:cNvPicPr>
            <a:picLocks noChangeAspect="1"/>
          </p:cNvPicPr>
          <p:nvPr/>
        </p:nvPicPr>
        <p:blipFill>
          <a:blip r:embed="rId3"/>
          <a:stretch>
            <a:fillRect/>
          </a:stretch>
        </p:blipFill>
        <p:spPr>
          <a:xfrm>
            <a:off x="411480" y="1097280"/>
            <a:ext cx="3524706" cy="2643530"/>
          </a:xfrm>
          <a:prstGeom prst="rect">
            <a:avLst/>
          </a:prstGeom>
        </p:spPr>
      </p:pic>
      <p:pic>
        <p:nvPicPr>
          <p:cNvPr id="29" name="Immagine 28">
            <a:extLst>
              <a:ext uri="{FF2B5EF4-FFF2-40B4-BE49-F238E27FC236}">
                <a16:creationId xmlns:a16="http://schemas.microsoft.com/office/drawing/2014/main" id="{30417ADB-AA80-FD90-9796-B4A2F158C599}"/>
              </a:ext>
            </a:extLst>
          </p:cNvPr>
          <p:cNvPicPr>
            <a:picLocks noChangeAspect="1"/>
          </p:cNvPicPr>
          <p:nvPr/>
        </p:nvPicPr>
        <p:blipFill>
          <a:blip r:embed="rId4"/>
          <a:stretch>
            <a:fillRect/>
          </a:stretch>
        </p:blipFill>
        <p:spPr>
          <a:xfrm>
            <a:off x="5207814" y="1059791"/>
            <a:ext cx="3524706" cy="2643529"/>
          </a:xfrm>
          <a:prstGeom prst="rect">
            <a:avLst/>
          </a:prstGeom>
        </p:spPr>
      </p:pic>
      <p:sp>
        <p:nvSpPr>
          <p:cNvPr id="30" name="CasellaDiTesto 29">
            <a:extLst>
              <a:ext uri="{FF2B5EF4-FFF2-40B4-BE49-F238E27FC236}">
                <a16:creationId xmlns:a16="http://schemas.microsoft.com/office/drawing/2014/main" id="{1CD71980-C55B-6ED5-12AA-E7B10CEDCC61}"/>
              </a:ext>
            </a:extLst>
          </p:cNvPr>
          <p:cNvSpPr txBox="1"/>
          <p:nvPr/>
        </p:nvSpPr>
        <p:spPr>
          <a:xfrm>
            <a:off x="1076679" y="1050270"/>
            <a:ext cx="2138236" cy="230832"/>
          </a:xfrm>
          <a:prstGeom prst="rect">
            <a:avLst/>
          </a:prstGeom>
          <a:solidFill>
            <a:srgbClr val="0070C0"/>
          </a:solidFill>
          <a:ln>
            <a:solidFill>
              <a:schemeClr val="bg1"/>
            </a:solidFill>
          </a:ln>
        </p:spPr>
        <p:txBody>
          <a:bodyPr wrap="square" rtlCol="0">
            <a:spAutoFit/>
          </a:bodyPr>
          <a:lstStyle/>
          <a:p>
            <a:pPr algn="ctr"/>
            <a:r>
              <a:rPr lang="it-IT" sz="900" dirty="0" err="1">
                <a:solidFill>
                  <a:schemeClr val="bg1"/>
                </a:solidFill>
              </a:rPr>
              <a:t>XGBoost</a:t>
            </a:r>
            <a:r>
              <a:rPr lang="it-IT" sz="900" dirty="0">
                <a:solidFill>
                  <a:schemeClr val="bg1"/>
                </a:solidFill>
              </a:rPr>
              <a:t> </a:t>
            </a:r>
            <a:r>
              <a:rPr lang="it-IT" sz="900" dirty="0" err="1">
                <a:solidFill>
                  <a:schemeClr val="bg1"/>
                </a:solidFill>
              </a:rPr>
              <a:t>confusion</a:t>
            </a:r>
            <a:r>
              <a:rPr lang="it-IT" sz="900" dirty="0">
                <a:solidFill>
                  <a:schemeClr val="bg1"/>
                </a:solidFill>
              </a:rPr>
              <a:t> </a:t>
            </a:r>
            <a:r>
              <a:rPr lang="it-IT" sz="900" dirty="0" err="1">
                <a:solidFill>
                  <a:schemeClr val="bg1"/>
                </a:solidFill>
              </a:rPr>
              <a:t>matrix</a:t>
            </a:r>
            <a:r>
              <a:rPr lang="it-IT" sz="900" dirty="0">
                <a:solidFill>
                  <a:schemeClr val="bg1"/>
                </a:solidFill>
              </a:rPr>
              <a:t> post-release</a:t>
            </a:r>
          </a:p>
        </p:txBody>
      </p:sp>
      <p:sp>
        <p:nvSpPr>
          <p:cNvPr id="32" name="CasellaDiTesto 31">
            <a:extLst>
              <a:ext uri="{FF2B5EF4-FFF2-40B4-BE49-F238E27FC236}">
                <a16:creationId xmlns:a16="http://schemas.microsoft.com/office/drawing/2014/main" id="{F023D95B-B862-5BFA-0F95-E44341721532}"/>
              </a:ext>
            </a:extLst>
          </p:cNvPr>
          <p:cNvSpPr txBox="1"/>
          <p:nvPr/>
        </p:nvSpPr>
        <p:spPr>
          <a:xfrm>
            <a:off x="5823281" y="1018440"/>
            <a:ext cx="2189295" cy="230832"/>
          </a:xfrm>
          <a:prstGeom prst="rect">
            <a:avLst/>
          </a:prstGeom>
          <a:solidFill>
            <a:srgbClr val="0070C0"/>
          </a:solidFill>
          <a:ln>
            <a:solidFill>
              <a:schemeClr val="bg1"/>
            </a:solidFill>
          </a:ln>
        </p:spPr>
        <p:txBody>
          <a:bodyPr wrap="square" rtlCol="0">
            <a:spAutoFit/>
          </a:bodyPr>
          <a:lstStyle/>
          <a:p>
            <a:pPr algn="ctr"/>
            <a:r>
              <a:rPr lang="it-IT" sz="900" dirty="0" err="1">
                <a:solidFill>
                  <a:schemeClr val="bg1"/>
                </a:solidFill>
              </a:rPr>
              <a:t>XGBoost</a:t>
            </a:r>
            <a:r>
              <a:rPr lang="it-IT" sz="900" dirty="0">
                <a:solidFill>
                  <a:schemeClr val="bg1"/>
                </a:solidFill>
              </a:rPr>
              <a:t> </a:t>
            </a:r>
            <a:r>
              <a:rPr lang="it-IT" sz="900" dirty="0" err="1">
                <a:solidFill>
                  <a:schemeClr val="bg1"/>
                </a:solidFill>
              </a:rPr>
              <a:t>confusion</a:t>
            </a:r>
            <a:r>
              <a:rPr lang="it-IT" sz="900" dirty="0">
                <a:solidFill>
                  <a:schemeClr val="bg1"/>
                </a:solidFill>
              </a:rPr>
              <a:t> </a:t>
            </a:r>
            <a:r>
              <a:rPr lang="it-IT" sz="900" dirty="0" err="1">
                <a:solidFill>
                  <a:schemeClr val="bg1"/>
                </a:solidFill>
              </a:rPr>
              <a:t>matrix</a:t>
            </a:r>
            <a:r>
              <a:rPr lang="it-IT" sz="900" dirty="0">
                <a:solidFill>
                  <a:schemeClr val="bg1"/>
                </a:solidFill>
              </a:rPr>
              <a:t> </a:t>
            </a:r>
            <a:r>
              <a:rPr lang="it-IT" sz="900" dirty="0" err="1">
                <a:solidFill>
                  <a:schemeClr val="bg1"/>
                </a:solidFill>
              </a:rPr>
              <a:t>pre</a:t>
            </a:r>
            <a:r>
              <a:rPr lang="it-IT" sz="900" dirty="0">
                <a:solidFill>
                  <a:schemeClr val="bg1"/>
                </a:solidFill>
              </a:rPr>
              <a:t>-release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1371600"/>
            <a:ext cx="8321040" cy="384048"/>
          </a:xfrm>
          <a:prstGeom prst="rect">
            <a:avLst/>
          </a:prstGeom>
          <a:noFill/>
          <a:ln/>
        </p:spPr>
        <p:txBody>
          <a:bodyPr wrap="square" lIns="0" tIns="0" rIns="0" bIns="0" rtlCol="0" anchor="ctr"/>
          <a:lstStyle/>
          <a:p>
            <a:pPr marL="0" indent="0">
              <a:buNone/>
            </a:pPr>
            <a:r>
              <a:rPr lang="en-US" sz="1100" b="1" kern="0" spc="300" dirty="0">
                <a:solidFill>
                  <a:srgbClr val="00B4A6"/>
                </a:solidFill>
                <a:latin typeface="Calibri" pitchFamily="34" charset="0"/>
                <a:ea typeface="Calibri" pitchFamily="34" charset="-122"/>
                <a:cs typeface="Calibri" pitchFamily="34" charset="-120"/>
              </a:rPr>
              <a:t>PART 2 — CRITICAL ANALYSIS</a:t>
            </a:r>
            <a:endParaRPr lang="en-US" sz="1100" dirty="0"/>
          </a:p>
        </p:txBody>
      </p:sp>
      <p:sp>
        <p:nvSpPr>
          <p:cNvPr id="4" name="Text 2"/>
          <p:cNvSpPr/>
          <p:nvPr/>
        </p:nvSpPr>
        <p:spPr>
          <a:xfrm>
            <a:off x="411480" y="1828800"/>
            <a:ext cx="8321040" cy="105156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Explainability &amp;</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Critical Discussion</a:t>
            </a:r>
            <a:endParaRPr lang="en-US" sz="3800" dirty="0"/>
          </a:p>
        </p:txBody>
      </p:sp>
      <p:sp>
        <p:nvSpPr>
          <p:cNvPr id="5" name="Text 3"/>
          <p:cNvSpPr/>
          <p:nvPr/>
        </p:nvSpPr>
        <p:spPr>
          <a:xfrm>
            <a:off x="411480" y="3017520"/>
            <a:ext cx="8321040" cy="502920"/>
          </a:xfrm>
          <a:prstGeom prst="rect">
            <a:avLst/>
          </a:prstGeom>
          <a:noFill/>
          <a:ln/>
        </p:spPr>
        <p:txBody>
          <a:bodyPr wrap="square" lIns="0" tIns="0" rIns="0" bIns="0" rtlCol="0" anchor="ctr"/>
          <a:lstStyle/>
          <a:p>
            <a:pPr marL="0" indent="0">
              <a:buNone/>
            </a:pPr>
            <a:r>
              <a:rPr lang="en-US" sz="1250" dirty="0">
                <a:solidFill>
                  <a:srgbClr val="7A8FA6"/>
                </a:solidFill>
                <a:latin typeface="Calibri" pitchFamily="34" charset="0"/>
                <a:ea typeface="Calibri" pitchFamily="34" charset="-122"/>
                <a:cs typeface="Calibri" pitchFamily="34" charset="-120"/>
              </a:rPr>
              <a:t>How does the model work? · What did it get wrong and why?</a:t>
            </a:r>
            <a:endParaRPr lang="en-US" sz="1250" dirty="0"/>
          </a:p>
          <a:p>
            <a:pPr marL="0" indent="0">
              <a:buNone/>
            </a:pPr>
            <a:r>
              <a:rPr lang="en-US" sz="1250" dirty="0">
                <a:solidFill>
                  <a:srgbClr val="7A8FA6"/>
                </a:solidFill>
                <a:latin typeface="Calibri" pitchFamily="34" charset="0"/>
                <a:ea typeface="Calibri" pitchFamily="34" charset="-122"/>
                <a:cs typeface="Calibri" pitchFamily="34" charset="-120"/>
              </a:rPr>
              <a:t>Limitations · future directions · domain impact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EXPLAINABILITY</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Global Explainability: What Drives the Model Overall?</a:t>
            </a:r>
            <a:endParaRPr lang="en-US" sz="2400" dirty="0"/>
          </a:p>
        </p:txBody>
      </p:sp>
      <p:sp>
        <p:nvSpPr>
          <p:cNvPr id="8" name="Text 6"/>
          <p:cNvSpPr/>
          <p:nvPr/>
        </p:nvSpPr>
        <p:spPr>
          <a:xfrm>
            <a:off x="4234373" y="1097280"/>
            <a:ext cx="4498146" cy="274320"/>
          </a:xfrm>
          <a:prstGeom prst="rect">
            <a:avLst/>
          </a:prstGeom>
          <a:noFill/>
          <a:ln/>
        </p:spPr>
        <p:txBody>
          <a:bodyPr wrap="square" lIns="0" tIns="0" rIns="0" bIns="0" rtlCol="0" anchor="ctr"/>
          <a:lstStyle/>
          <a:p>
            <a:pPr marL="0" indent="0">
              <a:buNone/>
            </a:pPr>
            <a:r>
              <a:rPr lang="en-US" sz="1600" b="1" dirty="0">
                <a:solidFill>
                  <a:srgbClr val="1C2B4A"/>
                </a:solidFill>
                <a:latin typeface="Calibri" pitchFamily="34" charset="0"/>
                <a:ea typeface="Calibri" pitchFamily="34" charset="-122"/>
                <a:cs typeface="Calibri" pitchFamily="34" charset="-120"/>
              </a:rPr>
              <a:t>Interpretation</a:t>
            </a:r>
            <a:endParaRPr lang="en-US" sz="1200" dirty="0"/>
          </a:p>
        </p:txBody>
      </p:sp>
      <p:sp>
        <p:nvSpPr>
          <p:cNvPr id="9" name="Text 7"/>
          <p:cNvSpPr/>
          <p:nvPr/>
        </p:nvSpPr>
        <p:spPr>
          <a:xfrm>
            <a:off x="4234374" y="1371600"/>
            <a:ext cx="4498145" cy="3570006"/>
          </a:xfrm>
          <a:prstGeom prst="rect">
            <a:avLst/>
          </a:prstGeom>
          <a:noFill/>
          <a:ln/>
        </p:spPr>
        <p:txBody>
          <a:bodyPr wrap="square" lIns="0" tIns="0" rIns="0" bIns="0" rtlCol="0" anchor="t"/>
          <a:lstStyle/>
          <a:p>
            <a:pPr>
              <a:spcAft>
                <a:spcPts val="500"/>
              </a:spcAft>
              <a:buSzPct val="100000"/>
            </a:pPr>
            <a:r>
              <a:rPr lang="en-US" sz="1400">
                <a:solidFill>
                  <a:srgbClr val="1E293B"/>
                </a:solidFill>
                <a:latin typeface="Calibri" pitchFamily="34" charset="0"/>
                <a:ea typeface="Calibri" pitchFamily="34" charset="-122"/>
                <a:cs typeface="Calibri" pitchFamily="34" charset="-120"/>
              </a:rPr>
              <a:t>SHAP was </a:t>
            </a:r>
            <a:r>
              <a:rPr lang="en-US" sz="1400" dirty="0">
                <a:solidFill>
                  <a:srgbClr val="1E293B"/>
                </a:solidFill>
                <a:latin typeface="Calibri" pitchFamily="34" charset="0"/>
                <a:ea typeface="Calibri" pitchFamily="34" charset="-122"/>
                <a:cs typeface="Calibri" pitchFamily="34" charset="-120"/>
              </a:rPr>
              <a:t>used because </a:t>
            </a:r>
            <a:r>
              <a:rPr lang="en-US" sz="1400" dirty="0" err="1">
                <a:solidFill>
                  <a:srgbClr val="1E293B"/>
                </a:solidFill>
                <a:latin typeface="Calibri" pitchFamily="34" charset="0"/>
                <a:ea typeface="Calibri" pitchFamily="34" charset="-122"/>
                <a:cs typeface="Calibri" pitchFamily="34" charset="-120"/>
              </a:rPr>
              <a:t>XGBoost</a:t>
            </a:r>
            <a:r>
              <a:rPr lang="en-US" sz="1400" dirty="0">
                <a:solidFill>
                  <a:srgbClr val="1E293B"/>
                </a:solidFill>
                <a:latin typeface="Calibri" pitchFamily="34" charset="0"/>
                <a:ea typeface="Calibri" pitchFamily="34" charset="-122"/>
                <a:cs typeface="Calibri" pitchFamily="34" charset="-120"/>
              </a:rPr>
              <a:t> is a complex, non-linear ensemble. An Inverse Scaling Mechanism was applied to convert perturbed instances back to human-readable real-world units</a:t>
            </a:r>
          </a:p>
          <a:p>
            <a:pPr>
              <a:spcAft>
                <a:spcPts val="500"/>
              </a:spcAft>
              <a:buSzPct val="100000"/>
            </a:pPr>
            <a:r>
              <a:rPr lang="en-US" sz="1400" dirty="0">
                <a:solidFill>
                  <a:srgbClr val="1E293B"/>
                </a:solidFill>
                <a:latin typeface="Calibri" pitchFamily="34" charset="0"/>
                <a:ea typeface="Calibri" pitchFamily="34" charset="-122"/>
                <a:cs typeface="Calibri" pitchFamily="34" charset="-120"/>
              </a:rPr>
              <a:t>High base pricing and extensive language localization systematically push predictions toward Tier 4 (AAA Hit), acting as reliable proxies for high-budget, high-effort development</a:t>
            </a:r>
          </a:p>
          <a:p>
            <a:pPr>
              <a:spcAft>
                <a:spcPts val="500"/>
              </a:spcAft>
              <a:buSzPct val="100000"/>
            </a:pPr>
            <a:r>
              <a:rPr lang="en-US" sz="1400" dirty="0">
                <a:solidFill>
                  <a:srgbClr val="1E293B"/>
                </a:solidFill>
                <a:latin typeface="Calibri" pitchFamily="34" charset="0"/>
                <a:ea typeface="Calibri" pitchFamily="34" charset="-122"/>
                <a:cs typeface="Calibri" pitchFamily="34" charset="-120"/>
              </a:rPr>
              <a:t>When Post-Launch features are evaluated, community engagement metrics (e.g., average playtime) completely dominate the decision tree splits, proving they are mathematically far more predictive than day-zero metadata</a:t>
            </a:r>
          </a:p>
          <a:p>
            <a:pPr>
              <a:spcAft>
                <a:spcPts val="500"/>
              </a:spcAft>
              <a:buSzPct val="100000"/>
            </a:pPr>
            <a:r>
              <a:rPr lang="en-US" sz="1400" dirty="0">
                <a:solidFill>
                  <a:srgbClr val="1E293B"/>
                </a:solidFill>
                <a:latin typeface="Calibri" pitchFamily="34" charset="0"/>
                <a:ea typeface="Calibri" pitchFamily="34" charset="-122"/>
                <a:cs typeface="Calibri" pitchFamily="34" charset="-120"/>
              </a:rPr>
              <a:t>The global explanation strongly supports the model logic. Features that actively suppress a game into Tier 0 (e.g., lack of languages) are the exact inverted signals required to push a title into Tier 4</a:t>
            </a:r>
          </a:p>
        </p:txBody>
      </p:sp>
      <p:pic>
        <p:nvPicPr>
          <p:cNvPr id="15" name="Immagine 14">
            <a:extLst>
              <a:ext uri="{FF2B5EF4-FFF2-40B4-BE49-F238E27FC236}">
                <a16:creationId xmlns:a16="http://schemas.microsoft.com/office/drawing/2014/main" id="{9A05B653-DB8D-A1C7-89B0-F0EAC3E3CA86}"/>
              </a:ext>
            </a:extLst>
          </p:cNvPr>
          <p:cNvPicPr>
            <a:picLocks noChangeAspect="1"/>
          </p:cNvPicPr>
          <p:nvPr/>
        </p:nvPicPr>
        <p:blipFill>
          <a:blip r:embed="rId3"/>
          <a:stretch>
            <a:fillRect/>
          </a:stretch>
        </p:blipFill>
        <p:spPr>
          <a:xfrm>
            <a:off x="411480" y="1097280"/>
            <a:ext cx="2795874" cy="1922163"/>
          </a:xfrm>
          <a:prstGeom prst="rect">
            <a:avLst/>
          </a:prstGeom>
        </p:spPr>
      </p:pic>
      <p:pic>
        <p:nvPicPr>
          <p:cNvPr id="17" name="Immagine 16">
            <a:extLst>
              <a:ext uri="{FF2B5EF4-FFF2-40B4-BE49-F238E27FC236}">
                <a16:creationId xmlns:a16="http://schemas.microsoft.com/office/drawing/2014/main" id="{5CB8E74A-E780-4010-A5CD-589169861308}"/>
              </a:ext>
            </a:extLst>
          </p:cNvPr>
          <p:cNvPicPr>
            <a:picLocks noChangeAspect="1"/>
          </p:cNvPicPr>
          <p:nvPr/>
        </p:nvPicPr>
        <p:blipFill>
          <a:blip r:embed="rId4"/>
          <a:stretch>
            <a:fillRect/>
          </a:stretch>
        </p:blipFill>
        <p:spPr>
          <a:xfrm>
            <a:off x="1311812" y="3019443"/>
            <a:ext cx="2795874" cy="192216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1200" b="1" kern="0" spc="150" dirty="0">
                <a:solidFill>
                  <a:srgbClr val="FFFFFF"/>
                </a:solidFill>
              </a:rPr>
              <a:t>EXPLAINABILITY</a:t>
            </a:r>
            <a:endParaRPr lang="en-US" sz="12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Local Explainability: Why This Specific Prediction?</a:t>
            </a:r>
            <a:endParaRPr lang="en-US" sz="2400" dirty="0"/>
          </a:p>
        </p:txBody>
      </p:sp>
      <p:sp>
        <p:nvSpPr>
          <p:cNvPr id="8" name="Text 6"/>
          <p:cNvSpPr/>
          <p:nvPr/>
        </p:nvSpPr>
        <p:spPr>
          <a:xfrm>
            <a:off x="3863692" y="1097280"/>
            <a:ext cx="4868828"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Case Analysis</a:t>
            </a:r>
            <a:endParaRPr lang="en-US" sz="1200" dirty="0"/>
          </a:p>
        </p:txBody>
      </p:sp>
      <p:sp>
        <p:nvSpPr>
          <p:cNvPr id="9" name="Text 7"/>
          <p:cNvSpPr/>
          <p:nvPr/>
        </p:nvSpPr>
        <p:spPr>
          <a:xfrm>
            <a:off x="3863692" y="1371600"/>
            <a:ext cx="4868828" cy="2468880"/>
          </a:xfrm>
          <a:prstGeom prst="rect">
            <a:avLst/>
          </a:prstGeom>
          <a:noFill/>
          <a:ln/>
        </p:spPr>
        <p:txBody>
          <a:bodyPr wrap="square" lIns="0" tIns="0" rIns="0" bIns="0" rtlCol="0" anchor="t"/>
          <a:lstStyle/>
          <a:p>
            <a:pPr>
              <a:spcAft>
                <a:spcPts val="500"/>
              </a:spcAft>
              <a:buSzPct val="100000"/>
            </a:pPr>
            <a:r>
              <a:rPr lang="en-US" sz="1200" dirty="0">
                <a:solidFill>
                  <a:srgbClr val="1E293B"/>
                </a:solidFill>
                <a:latin typeface="Calibri" pitchFamily="34" charset="0"/>
                <a:ea typeface="Calibri" pitchFamily="34" charset="-122"/>
                <a:cs typeface="Calibri" pitchFamily="34" charset="-120"/>
              </a:rPr>
              <a:t>The analyzed represents a game of the "Indie Long-Tail" market (titles with the lowest adoption bracket).</a:t>
            </a: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Key features driving this instance include:  Release Year: 2018 Monetization: Free (</a:t>
            </a:r>
            <a:r>
              <a:rPr lang="en-US" sz="1200" dirty="0" err="1">
                <a:solidFill>
                  <a:srgbClr val="1E293B"/>
                </a:solidFill>
                <a:latin typeface="Calibri" pitchFamily="34" charset="0"/>
                <a:ea typeface="Calibri" pitchFamily="34" charset="-122"/>
                <a:cs typeface="Calibri" pitchFamily="34" charset="-120"/>
              </a:rPr>
              <a:t>tag_Free_to_Play</a:t>
            </a:r>
            <a:r>
              <a:rPr lang="en-US" sz="1200" dirty="0">
                <a:solidFill>
                  <a:srgbClr val="1E293B"/>
                </a:solidFill>
                <a:latin typeface="Calibri" pitchFamily="34" charset="0"/>
                <a:ea typeface="Calibri" pitchFamily="34" charset="-122"/>
                <a:cs typeface="Calibri" pitchFamily="34" charset="-120"/>
              </a:rPr>
              <a:t> = 1 and price = 0). Game Characteristics: Indie category, no multiplayer, and no Steam Trading Cards</a:t>
            </a:r>
          </a:p>
        </p:txBody>
      </p:sp>
      <p:pic>
        <p:nvPicPr>
          <p:cNvPr id="15" name="Immagine 14">
            <a:extLst>
              <a:ext uri="{FF2B5EF4-FFF2-40B4-BE49-F238E27FC236}">
                <a16:creationId xmlns:a16="http://schemas.microsoft.com/office/drawing/2014/main" id="{2E89CAC3-6A1F-285C-9AF9-8BDAB06ADBA1}"/>
              </a:ext>
            </a:extLst>
          </p:cNvPr>
          <p:cNvPicPr>
            <a:picLocks noChangeAspect="1"/>
          </p:cNvPicPr>
          <p:nvPr/>
        </p:nvPicPr>
        <p:blipFill>
          <a:blip r:embed="rId3"/>
          <a:stretch>
            <a:fillRect/>
          </a:stretch>
        </p:blipFill>
        <p:spPr>
          <a:xfrm>
            <a:off x="411480" y="1097280"/>
            <a:ext cx="2301474" cy="1869948"/>
          </a:xfrm>
          <a:prstGeom prst="rect">
            <a:avLst/>
          </a:prstGeom>
        </p:spPr>
      </p:pic>
      <p:pic>
        <p:nvPicPr>
          <p:cNvPr id="19" name="Immagine 18">
            <a:extLst>
              <a:ext uri="{FF2B5EF4-FFF2-40B4-BE49-F238E27FC236}">
                <a16:creationId xmlns:a16="http://schemas.microsoft.com/office/drawing/2014/main" id="{3C957521-A2CD-E093-7CF0-984D2B24ECBB}"/>
              </a:ext>
            </a:extLst>
          </p:cNvPr>
          <p:cNvPicPr>
            <a:picLocks noChangeAspect="1"/>
          </p:cNvPicPr>
          <p:nvPr/>
        </p:nvPicPr>
        <p:blipFill>
          <a:blip r:embed="rId4"/>
          <a:stretch>
            <a:fillRect/>
          </a:stretch>
        </p:blipFill>
        <p:spPr>
          <a:xfrm>
            <a:off x="1562217" y="2967228"/>
            <a:ext cx="2301475" cy="1869948"/>
          </a:xfrm>
          <a:prstGeom prst="rect">
            <a:avLst/>
          </a:prstGeom>
        </p:spPr>
      </p:pic>
      <p:pic>
        <p:nvPicPr>
          <p:cNvPr id="25" name="Immagine 24">
            <a:extLst>
              <a:ext uri="{FF2B5EF4-FFF2-40B4-BE49-F238E27FC236}">
                <a16:creationId xmlns:a16="http://schemas.microsoft.com/office/drawing/2014/main" id="{2F0A0EED-BA71-012D-1ED5-E94A8EA3E821}"/>
              </a:ext>
            </a:extLst>
          </p:cNvPr>
          <p:cNvPicPr>
            <a:picLocks noChangeAspect="1"/>
          </p:cNvPicPr>
          <p:nvPr/>
        </p:nvPicPr>
        <p:blipFill>
          <a:blip r:embed="rId5"/>
          <a:stretch>
            <a:fillRect/>
          </a:stretch>
        </p:blipFill>
        <p:spPr>
          <a:xfrm>
            <a:off x="4660509" y="2471605"/>
            <a:ext cx="3275194" cy="24563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900" b="1" kern="0" spc="150" dirty="0">
                <a:solidFill>
                  <a:srgbClr val="FFFFFF"/>
                </a:solidFill>
              </a:rPr>
              <a:t>CRITICAL DISCUSSION</a:t>
            </a:r>
            <a:endParaRPr lang="en-US" sz="9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Error Analysis: What Did the Model Get Wrong and Why?</a:t>
            </a:r>
            <a:endParaRPr lang="en-US" sz="2400" dirty="0"/>
          </a:p>
        </p:txBody>
      </p:sp>
      <p:sp>
        <p:nvSpPr>
          <p:cNvPr id="6" name="Text 4"/>
          <p:cNvSpPr/>
          <p:nvPr/>
        </p:nvSpPr>
        <p:spPr>
          <a:xfrm>
            <a:off x="411480" y="1897380"/>
            <a:ext cx="4069080" cy="969264"/>
          </a:xfrm>
          <a:prstGeom prst="rect">
            <a:avLst/>
          </a:prstGeom>
          <a:noFill/>
          <a:ln/>
        </p:spPr>
        <p:txBody>
          <a:bodyPr wrap="square" lIns="0" tIns="0" rIns="0" bIns="0" rtlCol="0" anchor="ctr"/>
          <a:lstStyle/>
          <a:p>
            <a:pPr marL="0" indent="0" algn="ctr">
              <a:buNone/>
            </a:pPr>
            <a:r>
              <a:rPr lang="en-US" sz="1100" i="1" dirty="0">
                <a:solidFill>
                  <a:srgbClr val="7A8FA6"/>
                </a:solidFill>
              </a:rPr>
              <a:t>[ YOUR FIGURE HERE ]</a:t>
            </a:r>
            <a:endParaRPr lang="en-US" sz="1100" dirty="0"/>
          </a:p>
        </p:txBody>
      </p:sp>
      <p:sp>
        <p:nvSpPr>
          <p:cNvPr id="7" name="Text 5"/>
          <p:cNvSpPr/>
          <p:nvPr/>
        </p:nvSpPr>
        <p:spPr>
          <a:xfrm>
            <a:off x="411480" y="2672791"/>
            <a:ext cx="4069080" cy="775411"/>
          </a:xfrm>
          <a:prstGeom prst="rect">
            <a:avLst/>
          </a:prstGeom>
          <a:noFill/>
          <a:ln/>
        </p:spPr>
        <p:txBody>
          <a:bodyPr wrap="square" lIns="0" tIns="0" rIns="0" bIns="0" rtlCol="0" anchor="t"/>
          <a:lstStyle/>
          <a:p>
            <a:pPr marL="0" indent="0" algn="ctr">
              <a:buNone/>
            </a:pPr>
            <a:r>
              <a:rPr lang="en-US" sz="850" dirty="0">
                <a:solidFill>
                  <a:srgbClr val="7A8FA6"/>
                </a:solidFill>
              </a:rPr>
              <a:t>Error characterization figure</a:t>
            </a:r>
            <a:endParaRPr lang="en-US" sz="850" dirty="0"/>
          </a:p>
          <a:p>
            <a:pPr marL="0" indent="0" algn="ctr">
              <a:buNone/>
            </a:pPr>
            <a:r>
              <a:rPr lang="en-US" sz="850" dirty="0">
                <a:solidFill>
                  <a:srgbClr val="7A8FA6"/>
                </a:solidFill>
              </a:rPr>
              <a:t>e.g., misclassified samples in feature space,</a:t>
            </a:r>
            <a:endParaRPr lang="en-US" sz="850" dirty="0"/>
          </a:p>
          <a:p>
            <a:pPr marL="0" indent="0" algn="ctr">
              <a:buNone/>
            </a:pPr>
            <a:r>
              <a:rPr lang="en-US" sz="850" dirty="0">
                <a:solidFill>
                  <a:srgbClr val="7A8FA6"/>
                </a:solidFill>
              </a:rPr>
              <a:t>error histogram, SHAP for wrong predictions</a:t>
            </a:r>
            <a:endParaRPr lang="en-US" sz="850" dirty="0"/>
          </a:p>
        </p:txBody>
      </p:sp>
      <p:sp>
        <p:nvSpPr>
          <p:cNvPr id="8" name="Text 6"/>
          <p:cNvSpPr/>
          <p:nvPr/>
        </p:nvSpPr>
        <p:spPr>
          <a:xfrm>
            <a:off x="4128868" y="1170432"/>
            <a:ext cx="4603652" cy="274320"/>
          </a:xfrm>
          <a:prstGeom prst="rect">
            <a:avLst/>
          </a:prstGeom>
          <a:noFill/>
          <a:ln/>
        </p:spPr>
        <p:txBody>
          <a:bodyPr wrap="square" lIns="0" tIns="0" rIns="0" bIns="0" rtlCol="0" anchor="ctr"/>
          <a:lstStyle/>
          <a:p>
            <a:pPr marL="0" indent="0">
              <a:buNone/>
            </a:pPr>
            <a:r>
              <a:rPr lang="en-US" sz="1200" b="1" dirty="0">
                <a:solidFill>
                  <a:srgbClr val="1C2B4A"/>
                </a:solidFill>
                <a:latin typeface="Calibri" pitchFamily="34" charset="0"/>
                <a:ea typeface="Calibri" pitchFamily="34" charset="-122"/>
                <a:cs typeface="Calibri" pitchFamily="34" charset="-120"/>
              </a:rPr>
              <a:t>Reverse-Engineering Errors</a:t>
            </a:r>
            <a:endParaRPr lang="en-US" sz="1200" dirty="0"/>
          </a:p>
        </p:txBody>
      </p:sp>
      <p:sp>
        <p:nvSpPr>
          <p:cNvPr id="9" name="Text 7"/>
          <p:cNvSpPr/>
          <p:nvPr/>
        </p:nvSpPr>
        <p:spPr>
          <a:xfrm>
            <a:off x="4128868" y="1508760"/>
            <a:ext cx="4603652" cy="3067812"/>
          </a:xfrm>
          <a:prstGeom prst="rect">
            <a:avLst/>
          </a:prstGeom>
          <a:noFill/>
          <a:ln/>
        </p:spPr>
        <p:txBody>
          <a:bodyPr wrap="square" lIns="0" tIns="0" rIns="0" bIns="0" rtlCol="0" anchor="t"/>
          <a:lstStyle/>
          <a:p>
            <a:pPr>
              <a:spcAft>
                <a:spcPts val="500"/>
              </a:spcAft>
              <a:buSzPct val="100000"/>
            </a:pPr>
            <a:r>
              <a:rPr lang="en-US" sz="1200" dirty="0">
                <a:solidFill>
                  <a:srgbClr val="1E293B"/>
                </a:solidFill>
                <a:latin typeface="Calibri" pitchFamily="34" charset="0"/>
                <a:ea typeface="Calibri" pitchFamily="34" charset="-122"/>
                <a:cs typeface="Calibri" pitchFamily="34" charset="-120"/>
              </a:rPr>
              <a:t>Classification noise is almost entirely confined to adjacent classes (e.g., a true Tier 1 game misclassified as Tier 0 or Tier 2)</a:t>
            </a:r>
          </a:p>
          <a:p>
            <a:pPr>
              <a:spcAft>
                <a:spcPts val="500"/>
              </a:spcAft>
              <a:buSzPct val="100000"/>
            </a:pPr>
            <a:endParaRPr lang="en-US" sz="1200" dirty="0">
              <a:solidFill>
                <a:srgbClr val="1E293B"/>
              </a:solidFill>
              <a:latin typeface="Calibri" pitchFamily="34" charset="0"/>
              <a:ea typeface="Calibri" pitchFamily="34" charset="-122"/>
              <a:cs typeface="Calibri" pitchFamily="34" charset="-120"/>
            </a:endParaRPr>
          </a:p>
          <a:p>
            <a:pPr>
              <a:spcAft>
                <a:spcPts val="500"/>
              </a:spcAft>
              <a:buSzPct val="100000"/>
            </a:pPr>
            <a:r>
              <a:rPr lang="it-IT" sz="1200" dirty="0"/>
              <a:t>The errors stem not from unusual intrinsic features, but from the absence of extrinsic data. The model </a:t>
            </a:r>
            <a:r>
              <a:rPr lang="it-IT" sz="1200" dirty="0" err="1"/>
              <a:t>cannot</a:t>
            </a:r>
            <a:r>
              <a:rPr lang="it-IT" sz="1200" dirty="0"/>
              <a:t> </a:t>
            </a:r>
            <a:r>
              <a:rPr lang="it-IT" sz="1200" dirty="0" err="1"/>
              <a:t>see</a:t>
            </a:r>
            <a:r>
              <a:rPr lang="it-IT" sz="1200" dirty="0"/>
              <a:t> </a:t>
            </a:r>
            <a:r>
              <a:rPr lang="it-IT" sz="1200" dirty="0" err="1"/>
              <a:t>unmodeled</a:t>
            </a:r>
            <a:r>
              <a:rPr lang="it-IT" sz="1200" dirty="0"/>
              <a:t> </a:t>
            </a:r>
            <a:r>
              <a:rPr lang="it-IT" sz="1200" dirty="0" err="1"/>
              <a:t>external</a:t>
            </a:r>
            <a:r>
              <a:rPr lang="it-IT" sz="1200" dirty="0"/>
              <a:t> market </a:t>
            </a:r>
            <a:r>
              <a:rPr lang="it-IT" sz="1200" dirty="0" err="1"/>
              <a:t>forces</a:t>
            </a:r>
            <a:r>
              <a:rPr lang="it-IT" sz="1200" dirty="0"/>
              <a:t> like marketing budgets, streamer adoption, or </a:t>
            </a:r>
            <a:r>
              <a:rPr lang="it-IT" sz="1200" dirty="0" err="1"/>
              <a:t>viral</a:t>
            </a:r>
            <a:r>
              <a:rPr lang="it-IT" sz="1200" dirty="0"/>
              <a:t> </a:t>
            </a:r>
            <a:r>
              <a:rPr lang="it-IT" sz="1200" dirty="0" err="1"/>
              <a:t>momentum</a:t>
            </a:r>
            <a:endParaRPr lang="it-IT" sz="1200" dirty="0"/>
          </a:p>
          <a:p>
            <a:pPr>
              <a:spcAft>
                <a:spcPts val="500"/>
              </a:spcAft>
              <a:buSzPct val="100000"/>
            </a:pPr>
            <a:endParaRPr lang="it-IT" sz="1200" dirty="0"/>
          </a:p>
          <a:p>
            <a:pPr>
              <a:spcAft>
                <a:spcPts val="500"/>
              </a:spcAft>
              <a:buSzPct val="100000"/>
            </a:pPr>
            <a:r>
              <a:rPr lang="it-IT" sz="1200" dirty="0"/>
              <a:t>SHAP and LIME plots reveal that fundamentally identical games based on day-zero metadata (e.g. RAM </a:t>
            </a:r>
            <a:r>
              <a:rPr lang="it-IT" sz="1200" dirty="0" err="1"/>
              <a:t>requirements</a:t>
            </a:r>
            <a:r>
              <a:rPr lang="it-IT" sz="1200" dirty="0"/>
              <a:t>, </a:t>
            </a:r>
            <a:r>
              <a:rPr lang="it-IT" sz="1200" dirty="0" err="1"/>
              <a:t>textual</a:t>
            </a:r>
            <a:r>
              <a:rPr lang="it-IT" sz="1200" dirty="0"/>
              <a:t> </a:t>
            </a:r>
            <a:r>
              <a:rPr lang="it-IT" sz="1200" dirty="0" err="1"/>
              <a:t>descriptions</a:t>
            </a:r>
            <a:r>
              <a:rPr lang="it-IT" sz="1200" dirty="0"/>
              <a:t> and </a:t>
            </a:r>
            <a:r>
              <a:rPr lang="it-IT" sz="1200" dirty="0" err="1"/>
              <a:t>genres</a:t>
            </a:r>
            <a:r>
              <a:rPr lang="it-IT" sz="1200" dirty="0"/>
              <a:t>) can </a:t>
            </a:r>
            <a:r>
              <a:rPr lang="it-IT" sz="1200" dirty="0" err="1"/>
              <a:t>have</a:t>
            </a:r>
            <a:r>
              <a:rPr lang="it-IT" sz="1200" dirty="0"/>
              <a:t> </a:t>
            </a:r>
            <a:r>
              <a:rPr lang="it-IT" sz="1200" dirty="0" err="1"/>
              <a:t>drastically</a:t>
            </a:r>
            <a:r>
              <a:rPr lang="it-IT" sz="1200" dirty="0"/>
              <a:t> </a:t>
            </a:r>
            <a:r>
              <a:rPr lang="it-IT" sz="1200" dirty="0" err="1"/>
              <a:t>different</a:t>
            </a:r>
            <a:r>
              <a:rPr lang="it-IT" sz="1200" dirty="0"/>
              <a:t> </a:t>
            </a:r>
            <a:r>
              <a:rPr lang="it-IT" sz="1200" dirty="0" err="1"/>
              <a:t>real</a:t>
            </a:r>
            <a:r>
              <a:rPr lang="it-IT" sz="1200" dirty="0"/>
              <a:t>-world </a:t>
            </a:r>
            <a:r>
              <a:rPr lang="it-IT" sz="1200" dirty="0" err="1"/>
              <a:t>outcomes</a:t>
            </a:r>
            <a:r>
              <a:rPr lang="it-IT" sz="1200" dirty="0"/>
              <a:t> </a:t>
            </a:r>
            <a:r>
              <a:rPr lang="it-IT" sz="1200" dirty="0" err="1"/>
              <a:t>if</a:t>
            </a:r>
            <a:r>
              <a:rPr lang="it-IT" sz="1200" dirty="0"/>
              <a:t> one </a:t>
            </a:r>
            <a:r>
              <a:rPr lang="it-IT" sz="1200" dirty="0" err="1"/>
              <a:t>goes</a:t>
            </a:r>
            <a:r>
              <a:rPr lang="it-IT" sz="1200" dirty="0"/>
              <a:t> </a:t>
            </a:r>
            <a:r>
              <a:rPr lang="it-IT" sz="1200" dirty="0" err="1"/>
              <a:t>viral</a:t>
            </a:r>
            <a:r>
              <a:rPr lang="it-IT" sz="1200" dirty="0"/>
              <a:t>, making </a:t>
            </a:r>
            <a:r>
              <a:rPr lang="it-IT" sz="1200" dirty="0" err="1"/>
              <a:t>them</a:t>
            </a:r>
            <a:r>
              <a:rPr lang="it-IT" sz="1200" dirty="0"/>
              <a:t> </a:t>
            </a:r>
            <a:r>
              <a:rPr lang="it-IT" sz="1200" dirty="0" err="1"/>
              <a:t>mathematically</a:t>
            </a:r>
            <a:r>
              <a:rPr lang="it-IT" sz="1200" dirty="0"/>
              <a:t> </a:t>
            </a:r>
            <a:r>
              <a:rPr lang="it-IT" sz="1200" dirty="0" err="1"/>
              <a:t>indistinguishable</a:t>
            </a:r>
            <a:r>
              <a:rPr lang="it-IT" sz="1200" dirty="0"/>
              <a:t> in </a:t>
            </a:r>
            <a:r>
              <a:rPr lang="it-IT" sz="1200" dirty="0" err="1"/>
              <a:t>this</a:t>
            </a:r>
            <a:r>
              <a:rPr lang="it-IT" sz="1200" dirty="0"/>
              <a:t> </a:t>
            </a:r>
            <a:r>
              <a:rPr lang="it-IT" sz="1200" dirty="0" err="1"/>
              <a:t>latent</a:t>
            </a:r>
            <a:r>
              <a:rPr lang="it-IT" sz="1200" dirty="0"/>
              <a:t> </a:t>
            </a:r>
            <a:r>
              <a:rPr lang="it-IT" sz="1200" dirty="0" err="1"/>
              <a:t>space</a:t>
            </a:r>
            <a:endParaRPr lang="it-IT" sz="1200" dirty="0"/>
          </a:p>
          <a:p>
            <a:pPr>
              <a:spcAft>
                <a:spcPts val="500"/>
              </a:spcAft>
              <a:buSzPct val="100000"/>
            </a:pPr>
            <a:endParaRPr lang="en-US" sz="1200" dirty="0">
              <a:solidFill>
                <a:srgbClr val="1E293B"/>
              </a:solidFill>
              <a:latin typeface="Calibri" pitchFamily="34" charset="0"/>
              <a:ea typeface="Calibri" pitchFamily="34" charset="-122"/>
              <a:cs typeface="Calibri" pitchFamily="34" charset="-120"/>
            </a:endParaRPr>
          </a:p>
          <a:p>
            <a:pPr>
              <a:spcAft>
                <a:spcPts val="500"/>
              </a:spcAft>
              <a:buSzPct val="100000"/>
            </a:pPr>
            <a:r>
              <a:rPr lang="en-US" sz="1200" dirty="0">
                <a:solidFill>
                  <a:srgbClr val="1E293B"/>
                </a:solidFill>
                <a:latin typeface="Calibri" pitchFamily="34" charset="0"/>
                <a:ea typeface="Calibri" pitchFamily="34" charset="-122"/>
                <a:cs typeface="Calibri" pitchFamily="34" charset="-120"/>
              </a:rPr>
              <a:t>The most important fail: pre-release model struggles to differentiate between mid-tier games (e.g., Tier 2 vs Tier 3)</a:t>
            </a:r>
            <a:endParaRPr lang="en-US" sz="1200" dirty="0"/>
          </a:p>
        </p:txBody>
      </p:sp>
      <p:pic>
        <p:nvPicPr>
          <p:cNvPr id="14" name="Immagine 13">
            <a:extLst>
              <a:ext uri="{FF2B5EF4-FFF2-40B4-BE49-F238E27FC236}">
                <a16:creationId xmlns:a16="http://schemas.microsoft.com/office/drawing/2014/main" id="{CEAA4913-1413-FB7D-8258-D9875FB21250}"/>
              </a:ext>
            </a:extLst>
          </p:cNvPr>
          <p:cNvPicPr>
            <a:picLocks noChangeAspect="1"/>
          </p:cNvPicPr>
          <p:nvPr/>
        </p:nvPicPr>
        <p:blipFill>
          <a:blip r:embed="rId3"/>
          <a:stretch>
            <a:fillRect/>
          </a:stretch>
        </p:blipFill>
        <p:spPr>
          <a:xfrm>
            <a:off x="411480" y="1517904"/>
            <a:ext cx="3717388" cy="2788041"/>
          </a:xfrm>
          <a:prstGeom prst="rect">
            <a:avLst/>
          </a:prstGeom>
        </p:spPr>
      </p:pic>
      <p:sp>
        <p:nvSpPr>
          <p:cNvPr id="15" name="Rettangolo 14">
            <a:extLst>
              <a:ext uri="{FF2B5EF4-FFF2-40B4-BE49-F238E27FC236}">
                <a16:creationId xmlns:a16="http://schemas.microsoft.com/office/drawing/2014/main" id="{8632FFA8-D0B4-B4E8-1C9E-59B6C0DD9C5C}"/>
              </a:ext>
            </a:extLst>
          </p:cNvPr>
          <p:cNvSpPr/>
          <p:nvPr/>
        </p:nvSpPr>
        <p:spPr>
          <a:xfrm>
            <a:off x="2032782" y="3122957"/>
            <a:ext cx="858129" cy="47443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6" name="Rettangolo 15">
            <a:extLst>
              <a:ext uri="{FF2B5EF4-FFF2-40B4-BE49-F238E27FC236}">
                <a16:creationId xmlns:a16="http://schemas.microsoft.com/office/drawing/2014/main" id="{11C47E5D-A640-936C-49EE-F90C9BD02F41}"/>
              </a:ext>
            </a:extLst>
          </p:cNvPr>
          <p:cNvSpPr/>
          <p:nvPr/>
        </p:nvSpPr>
        <p:spPr>
          <a:xfrm>
            <a:off x="1097280" y="2222625"/>
            <a:ext cx="935502" cy="45016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8" name="CasellaDiTesto 17">
            <a:extLst>
              <a:ext uri="{FF2B5EF4-FFF2-40B4-BE49-F238E27FC236}">
                <a16:creationId xmlns:a16="http://schemas.microsoft.com/office/drawing/2014/main" id="{1822B02A-49BE-02E4-600F-7DF1523E05AC}"/>
              </a:ext>
            </a:extLst>
          </p:cNvPr>
          <p:cNvSpPr txBox="1"/>
          <p:nvPr/>
        </p:nvSpPr>
        <p:spPr>
          <a:xfrm>
            <a:off x="1112212" y="1460827"/>
            <a:ext cx="2189295" cy="230832"/>
          </a:xfrm>
          <a:prstGeom prst="rect">
            <a:avLst/>
          </a:prstGeom>
          <a:solidFill>
            <a:srgbClr val="0070C0"/>
          </a:solidFill>
          <a:ln>
            <a:solidFill>
              <a:schemeClr val="bg1"/>
            </a:solidFill>
          </a:ln>
        </p:spPr>
        <p:txBody>
          <a:bodyPr wrap="square" rtlCol="0">
            <a:spAutoFit/>
          </a:bodyPr>
          <a:lstStyle/>
          <a:p>
            <a:pPr algn="ctr"/>
            <a:r>
              <a:rPr lang="it-IT" sz="900" dirty="0" err="1">
                <a:solidFill>
                  <a:schemeClr val="bg1"/>
                </a:solidFill>
              </a:rPr>
              <a:t>XGBoost</a:t>
            </a:r>
            <a:r>
              <a:rPr lang="it-IT" sz="900" dirty="0">
                <a:solidFill>
                  <a:schemeClr val="bg1"/>
                </a:solidFill>
              </a:rPr>
              <a:t> </a:t>
            </a:r>
            <a:r>
              <a:rPr lang="it-IT" sz="900" dirty="0" err="1">
                <a:solidFill>
                  <a:schemeClr val="bg1"/>
                </a:solidFill>
              </a:rPr>
              <a:t>confusion</a:t>
            </a:r>
            <a:r>
              <a:rPr lang="it-IT" sz="900" dirty="0">
                <a:solidFill>
                  <a:schemeClr val="bg1"/>
                </a:solidFill>
              </a:rPr>
              <a:t> </a:t>
            </a:r>
            <a:r>
              <a:rPr lang="it-IT" sz="900" dirty="0" err="1">
                <a:solidFill>
                  <a:schemeClr val="bg1"/>
                </a:solidFill>
              </a:rPr>
              <a:t>matrix</a:t>
            </a:r>
            <a:r>
              <a:rPr lang="it-IT" sz="900" dirty="0">
                <a:solidFill>
                  <a:schemeClr val="bg1"/>
                </a:solidFill>
              </a:rPr>
              <a:t> </a:t>
            </a:r>
            <a:r>
              <a:rPr lang="it-IT" sz="900" dirty="0" err="1">
                <a:solidFill>
                  <a:schemeClr val="bg1"/>
                </a:solidFill>
              </a:rPr>
              <a:t>pre</a:t>
            </a:r>
            <a:r>
              <a:rPr lang="it-IT" sz="900" dirty="0">
                <a:solidFill>
                  <a:schemeClr val="bg1"/>
                </a:solidFill>
              </a:rPr>
              <a:t>-release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11480" y="256032"/>
            <a:ext cx="1463040" cy="246888"/>
          </a:xfrm>
          <a:prstGeom prst="roundRect">
            <a:avLst>
              <a:gd name="adj" fmla="val 22222"/>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246888"/>
            <a:ext cx="1463040" cy="256032"/>
          </a:xfrm>
          <a:prstGeom prst="rect">
            <a:avLst/>
          </a:prstGeom>
          <a:noFill/>
          <a:ln/>
        </p:spPr>
        <p:txBody>
          <a:bodyPr wrap="square" lIns="0" tIns="0" rIns="0" bIns="0" rtlCol="0" anchor="ctr"/>
          <a:lstStyle/>
          <a:p>
            <a:pPr marL="0" indent="0" algn="ctr">
              <a:buNone/>
            </a:pPr>
            <a:r>
              <a:rPr lang="en-US" sz="900" b="1" kern="0" spc="150" dirty="0">
                <a:solidFill>
                  <a:srgbClr val="FFFFFF"/>
                </a:solidFill>
              </a:rPr>
              <a:t>CRITICAL DISCUSSION</a:t>
            </a:r>
            <a:endParaRPr lang="en-US" sz="900" dirty="0"/>
          </a:p>
        </p:txBody>
      </p:sp>
      <p:sp>
        <p:nvSpPr>
          <p:cNvPr id="4" name="Text 2"/>
          <p:cNvSpPr/>
          <p:nvPr/>
        </p:nvSpPr>
        <p:spPr>
          <a:xfrm>
            <a:off x="411480" y="566928"/>
            <a:ext cx="8321040" cy="530352"/>
          </a:xfrm>
          <a:prstGeom prst="rect">
            <a:avLst/>
          </a:prstGeom>
          <a:noFill/>
          <a:ln/>
        </p:spPr>
        <p:txBody>
          <a:bodyPr wrap="square" lIns="0" tIns="0" rIns="0" bIns="0" rtlCol="0" anchor="ctr"/>
          <a:lstStyle/>
          <a:p>
            <a:pPr marL="0" indent="0">
              <a:buNone/>
            </a:pPr>
            <a:r>
              <a:rPr lang="en-US" sz="2400" b="1" dirty="0">
                <a:solidFill>
                  <a:srgbClr val="1C2B4A"/>
                </a:solidFill>
                <a:latin typeface="Calibri" pitchFamily="34" charset="0"/>
                <a:ea typeface="Calibri" pitchFamily="34" charset="-122"/>
                <a:cs typeface="Calibri" pitchFamily="34" charset="-120"/>
              </a:rPr>
              <a:t>Domain Impact, Limitations &amp; Future Directions</a:t>
            </a:r>
            <a:endParaRPr lang="en-US" sz="2400" dirty="0"/>
          </a:p>
        </p:txBody>
      </p:sp>
      <p:sp>
        <p:nvSpPr>
          <p:cNvPr id="5" name="Shape 3"/>
          <p:cNvSpPr/>
          <p:nvPr/>
        </p:nvSpPr>
        <p:spPr>
          <a:xfrm>
            <a:off x="411480" y="1170432"/>
            <a:ext cx="2651760" cy="35661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6" name="Shape 4"/>
          <p:cNvSpPr/>
          <p:nvPr/>
        </p:nvSpPr>
        <p:spPr>
          <a:xfrm>
            <a:off x="411480" y="1170432"/>
            <a:ext cx="2651760" cy="384048"/>
          </a:xfrm>
          <a:prstGeom prst="roundRect">
            <a:avLst>
              <a:gd name="adj" fmla="val 23810"/>
            </a:avLst>
          </a:prstGeom>
          <a:solidFill>
            <a:srgbClr val="008F84"/>
          </a:solidFill>
          <a:ln w="12700">
            <a:solidFill>
              <a:srgbClr val="008F84"/>
            </a:solidFill>
            <a:prstDash val="solid"/>
          </a:ln>
        </p:spPr>
        <p:txBody>
          <a:bodyPr/>
          <a:lstStyle/>
          <a:p>
            <a:endParaRPr lang="it-IT"/>
          </a:p>
        </p:txBody>
      </p:sp>
      <p:sp>
        <p:nvSpPr>
          <p:cNvPr id="7" name="Shape 5"/>
          <p:cNvSpPr/>
          <p:nvPr/>
        </p:nvSpPr>
        <p:spPr>
          <a:xfrm>
            <a:off x="411480" y="1417320"/>
            <a:ext cx="2651760" cy="137160"/>
          </a:xfrm>
          <a:prstGeom prst="rect">
            <a:avLst/>
          </a:prstGeom>
          <a:solidFill>
            <a:srgbClr val="008F84"/>
          </a:solidFill>
          <a:ln w="12700">
            <a:solidFill>
              <a:srgbClr val="008F84"/>
            </a:solidFill>
            <a:prstDash val="solid"/>
          </a:ln>
        </p:spPr>
        <p:txBody>
          <a:bodyPr/>
          <a:lstStyle/>
          <a:p>
            <a:endParaRPr lang="it-IT"/>
          </a:p>
        </p:txBody>
      </p:sp>
      <p:sp>
        <p:nvSpPr>
          <p:cNvPr id="8" name="Text 6"/>
          <p:cNvSpPr/>
          <p:nvPr/>
        </p:nvSpPr>
        <p:spPr>
          <a:xfrm>
            <a:off x="521208" y="1207008"/>
            <a:ext cx="2432304"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Domain Impact</a:t>
            </a:r>
            <a:endParaRPr lang="en-US" sz="1150" dirty="0"/>
          </a:p>
        </p:txBody>
      </p:sp>
      <p:sp>
        <p:nvSpPr>
          <p:cNvPr id="9" name="Text 7"/>
          <p:cNvSpPr/>
          <p:nvPr/>
        </p:nvSpPr>
        <p:spPr>
          <a:xfrm>
            <a:off x="539496" y="1627632"/>
            <a:ext cx="2377440" cy="2926080"/>
          </a:xfrm>
          <a:prstGeom prst="rect">
            <a:avLst/>
          </a:prstGeom>
          <a:noFill/>
          <a:ln/>
        </p:spPr>
        <p:txBody>
          <a:bodyPr wrap="square" lIns="0" tIns="0" rIns="0" bIns="0" rtlCol="0" anchor="t"/>
          <a:lstStyle/>
          <a:p>
            <a:pPr>
              <a:spcAft>
                <a:spcPts val="500"/>
              </a:spcAft>
              <a:buSzPct val="100000"/>
            </a:pPr>
            <a:r>
              <a:rPr lang="en-US" sz="1100" dirty="0">
                <a:solidFill>
                  <a:srgbClr val="1E293B"/>
                </a:solidFill>
                <a:ea typeface="Calibri" pitchFamily="34" charset="-122"/>
                <a:cs typeface="Calibri" pitchFamily="34" charset="-120"/>
              </a:rPr>
              <a:t>This system can be used as a forecasting tool to equip independent developers and publishers with data-driven decision capabilities prior to capital allocation</a:t>
            </a:r>
            <a:endParaRPr lang="en-US" sz="1100" dirty="0"/>
          </a:p>
          <a:p>
            <a:pPr>
              <a:spcAft>
                <a:spcPts val="500"/>
              </a:spcAft>
              <a:buSzPct val="100000"/>
            </a:pPr>
            <a:r>
              <a:rPr lang="en-US" sz="1100" dirty="0">
                <a:solidFill>
                  <a:srgbClr val="1E293B"/>
                </a:solidFill>
                <a:ea typeface="Calibri" pitchFamily="34" charset="-122"/>
                <a:cs typeface="Calibri" pitchFamily="34" charset="-120"/>
              </a:rPr>
              <a:t>It supports targeted 'what-if' analyses during pre-production, allowing developers to adjust game design thanks to textual descriptions, localization, and pricing strategies to elevate their prototype's tier</a:t>
            </a:r>
          </a:p>
          <a:p>
            <a:pPr>
              <a:spcAft>
                <a:spcPts val="500"/>
              </a:spcAft>
              <a:buSzPct val="100000"/>
            </a:pPr>
            <a:r>
              <a:rPr lang="en-US" sz="1100" dirty="0">
                <a:solidFill>
                  <a:srgbClr val="1E293B"/>
                </a:solidFill>
                <a:ea typeface="Calibri" pitchFamily="34" charset="-122"/>
                <a:cs typeface="Calibri" pitchFamily="34" charset="-120"/>
              </a:rPr>
              <a:t>Human oversight is required to contextualize predictions with external macroeconomic signals (</a:t>
            </a:r>
            <a:r>
              <a:rPr lang="en-US" sz="1100" dirty="0" err="1">
                <a:solidFill>
                  <a:srgbClr val="1E293B"/>
                </a:solidFill>
                <a:ea typeface="Calibri" pitchFamily="34" charset="-122"/>
                <a:cs typeface="Calibri" pitchFamily="34" charset="-120"/>
              </a:rPr>
              <a:t>e.g</a:t>
            </a:r>
            <a:r>
              <a:rPr lang="en-US" sz="1100" dirty="0">
                <a:solidFill>
                  <a:srgbClr val="1E293B"/>
                </a:solidFill>
                <a:ea typeface="Calibri" pitchFamily="34" charset="-122"/>
                <a:cs typeface="Calibri" pitchFamily="34" charset="-120"/>
              </a:rPr>
              <a:t>, social media trends) that the model cannot observe. Predicting a long-tail failure as a major hit leads to financial misallocation for publishers</a:t>
            </a:r>
          </a:p>
        </p:txBody>
      </p:sp>
      <p:sp>
        <p:nvSpPr>
          <p:cNvPr id="10" name="Shape 8"/>
          <p:cNvSpPr/>
          <p:nvPr/>
        </p:nvSpPr>
        <p:spPr>
          <a:xfrm>
            <a:off x="3246120" y="1170432"/>
            <a:ext cx="2651760" cy="35661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11" name="Shape 9"/>
          <p:cNvSpPr/>
          <p:nvPr/>
        </p:nvSpPr>
        <p:spPr>
          <a:xfrm>
            <a:off x="3246120" y="1170432"/>
            <a:ext cx="2651760" cy="384048"/>
          </a:xfrm>
          <a:prstGeom prst="roundRect">
            <a:avLst>
              <a:gd name="adj" fmla="val 23810"/>
            </a:avLst>
          </a:prstGeom>
          <a:solidFill>
            <a:srgbClr val="C0392B"/>
          </a:solidFill>
          <a:ln w="12700">
            <a:solidFill>
              <a:srgbClr val="C0392B"/>
            </a:solidFill>
            <a:prstDash val="solid"/>
          </a:ln>
        </p:spPr>
        <p:txBody>
          <a:bodyPr/>
          <a:lstStyle/>
          <a:p>
            <a:endParaRPr lang="it-IT"/>
          </a:p>
        </p:txBody>
      </p:sp>
      <p:sp>
        <p:nvSpPr>
          <p:cNvPr id="12" name="Shape 10"/>
          <p:cNvSpPr/>
          <p:nvPr/>
        </p:nvSpPr>
        <p:spPr>
          <a:xfrm>
            <a:off x="3246120" y="1417320"/>
            <a:ext cx="2651760" cy="137160"/>
          </a:xfrm>
          <a:prstGeom prst="rect">
            <a:avLst/>
          </a:prstGeom>
          <a:solidFill>
            <a:srgbClr val="C0392B"/>
          </a:solidFill>
          <a:ln w="12700">
            <a:solidFill>
              <a:srgbClr val="C0392B"/>
            </a:solidFill>
            <a:prstDash val="solid"/>
          </a:ln>
        </p:spPr>
        <p:txBody>
          <a:bodyPr/>
          <a:lstStyle/>
          <a:p>
            <a:endParaRPr lang="it-IT"/>
          </a:p>
        </p:txBody>
      </p:sp>
      <p:sp>
        <p:nvSpPr>
          <p:cNvPr id="13" name="Text 11"/>
          <p:cNvSpPr/>
          <p:nvPr/>
        </p:nvSpPr>
        <p:spPr>
          <a:xfrm>
            <a:off x="3355848" y="1207008"/>
            <a:ext cx="2432304"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Limitations</a:t>
            </a:r>
            <a:endParaRPr lang="en-US" sz="1150" dirty="0"/>
          </a:p>
        </p:txBody>
      </p:sp>
      <p:sp>
        <p:nvSpPr>
          <p:cNvPr id="14" name="Text 12"/>
          <p:cNvSpPr/>
          <p:nvPr/>
        </p:nvSpPr>
        <p:spPr>
          <a:xfrm>
            <a:off x="3381170" y="1627632"/>
            <a:ext cx="2377440" cy="2926080"/>
          </a:xfrm>
          <a:prstGeom prst="rect">
            <a:avLst/>
          </a:prstGeom>
          <a:noFill/>
          <a:ln/>
        </p:spPr>
        <p:txBody>
          <a:bodyPr wrap="square" lIns="0" tIns="0" rIns="0" bIns="0" rtlCol="0" anchor="t"/>
          <a:lstStyle/>
          <a:p>
            <a:pPr>
              <a:spcAft>
                <a:spcPts val="500"/>
              </a:spcAft>
              <a:buSzPct val="100000"/>
            </a:pPr>
            <a:r>
              <a:rPr lang="en-US" sz="1100" dirty="0">
                <a:solidFill>
                  <a:srgbClr val="1E293B"/>
                </a:solidFill>
                <a:latin typeface="Calibri" pitchFamily="34" charset="0"/>
                <a:ea typeface="Calibri" pitchFamily="34" charset="-122"/>
                <a:cs typeface="Calibri" pitchFamily="34" charset="-120"/>
              </a:rPr>
              <a:t>The dataset reflects an extreme power-law distribution where over 69% of games reside in the lowest adoption bracket, requiring aggressive dynamic </a:t>
            </a:r>
            <a:r>
              <a:rPr lang="en-US" sz="1100" dirty="0" err="1">
                <a:solidFill>
                  <a:srgbClr val="1E293B"/>
                </a:solidFill>
                <a:latin typeface="Calibri" pitchFamily="34" charset="0"/>
                <a:ea typeface="Calibri" pitchFamily="34" charset="-122"/>
                <a:cs typeface="Calibri" pitchFamily="34" charset="-120"/>
              </a:rPr>
              <a:t>undersampling</a:t>
            </a:r>
            <a:r>
              <a:rPr lang="en-US" sz="1100" dirty="0">
                <a:solidFill>
                  <a:srgbClr val="1E293B"/>
                </a:solidFill>
                <a:latin typeface="Calibri" pitchFamily="34" charset="0"/>
                <a:ea typeface="Calibri" pitchFamily="34" charset="-122"/>
                <a:cs typeface="Calibri" pitchFamily="34" charset="-120"/>
              </a:rPr>
              <a:t> and SMOTENC</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Extrinsic macroeconomic signals, marketing budget allocations, viral social media momentum, and streamer adoption rates are fundamentally missing</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Evaluation limitations: The non-parametric statistical significance testing (Wilcoxon) was mathematically underpowered and constrained by the limited sample size of the outer cross-validation (N=5 folds)</a:t>
            </a:r>
            <a:endParaRPr lang="en-US" sz="1100" dirty="0"/>
          </a:p>
        </p:txBody>
      </p:sp>
      <p:sp>
        <p:nvSpPr>
          <p:cNvPr id="15" name="Shape 13"/>
          <p:cNvSpPr/>
          <p:nvPr/>
        </p:nvSpPr>
        <p:spPr>
          <a:xfrm>
            <a:off x="6080760" y="1170432"/>
            <a:ext cx="2651760" cy="3566160"/>
          </a:xfrm>
          <a:prstGeom prst="roundRect">
            <a:avLst>
              <a:gd name="adj" fmla="val 3448"/>
            </a:avLst>
          </a:prstGeom>
          <a:solidFill>
            <a:srgbClr val="FFFFFF"/>
          </a:solidFill>
          <a:ln w="6350">
            <a:solidFill>
              <a:srgbClr val="CBD5E1"/>
            </a:solidFill>
            <a:prstDash val="solid"/>
          </a:ln>
          <a:effectLst>
            <a:outerShdw blurRad="101600" dist="38100" dir="8100000" algn="bl" rotWithShape="0">
              <a:srgbClr val="000000">
                <a:alpha val="12000"/>
              </a:srgbClr>
            </a:outerShdw>
          </a:effectLst>
        </p:spPr>
        <p:txBody>
          <a:bodyPr/>
          <a:lstStyle/>
          <a:p>
            <a:endParaRPr lang="it-IT"/>
          </a:p>
        </p:txBody>
      </p:sp>
      <p:sp>
        <p:nvSpPr>
          <p:cNvPr id="16" name="Shape 14"/>
          <p:cNvSpPr/>
          <p:nvPr/>
        </p:nvSpPr>
        <p:spPr>
          <a:xfrm>
            <a:off x="6080760" y="1170432"/>
            <a:ext cx="2651760" cy="384048"/>
          </a:xfrm>
          <a:prstGeom prst="roundRect">
            <a:avLst>
              <a:gd name="adj" fmla="val 23810"/>
            </a:avLst>
          </a:prstGeom>
          <a:solidFill>
            <a:srgbClr val="5C6BC0"/>
          </a:solidFill>
          <a:ln w="12700">
            <a:solidFill>
              <a:srgbClr val="5C6BC0"/>
            </a:solidFill>
            <a:prstDash val="solid"/>
          </a:ln>
        </p:spPr>
        <p:txBody>
          <a:bodyPr/>
          <a:lstStyle/>
          <a:p>
            <a:endParaRPr lang="it-IT"/>
          </a:p>
        </p:txBody>
      </p:sp>
      <p:sp>
        <p:nvSpPr>
          <p:cNvPr id="17" name="Shape 15"/>
          <p:cNvSpPr/>
          <p:nvPr/>
        </p:nvSpPr>
        <p:spPr>
          <a:xfrm>
            <a:off x="6080760" y="1417320"/>
            <a:ext cx="2651760" cy="137160"/>
          </a:xfrm>
          <a:prstGeom prst="rect">
            <a:avLst/>
          </a:prstGeom>
          <a:solidFill>
            <a:srgbClr val="5C6BC0"/>
          </a:solidFill>
          <a:ln w="12700">
            <a:solidFill>
              <a:srgbClr val="5C6BC0"/>
            </a:solidFill>
            <a:prstDash val="solid"/>
          </a:ln>
        </p:spPr>
        <p:txBody>
          <a:bodyPr/>
          <a:lstStyle/>
          <a:p>
            <a:endParaRPr lang="it-IT"/>
          </a:p>
        </p:txBody>
      </p:sp>
      <p:sp>
        <p:nvSpPr>
          <p:cNvPr id="18" name="Text 16"/>
          <p:cNvSpPr/>
          <p:nvPr/>
        </p:nvSpPr>
        <p:spPr>
          <a:xfrm>
            <a:off x="6190488" y="1207008"/>
            <a:ext cx="2432304" cy="310896"/>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Future Directions</a:t>
            </a:r>
            <a:endParaRPr lang="en-US" sz="1150" dirty="0"/>
          </a:p>
        </p:txBody>
      </p:sp>
      <p:sp>
        <p:nvSpPr>
          <p:cNvPr id="19" name="Text 17"/>
          <p:cNvSpPr/>
          <p:nvPr/>
        </p:nvSpPr>
        <p:spPr>
          <a:xfrm>
            <a:off x="6208776" y="1627632"/>
            <a:ext cx="2377440" cy="2926080"/>
          </a:xfrm>
          <a:prstGeom prst="rect">
            <a:avLst/>
          </a:prstGeom>
          <a:noFill/>
          <a:ln/>
        </p:spPr>
        <p:txBody>
          <a:bodyPr wrap="square" lIns="0" tIns="0" rIns="0" bIns="0" rtlCol="0" anchor="t"/>
          <a:lstStyle/>
          <a:p>
            <a:pPr>
              <a:spcAft>
                <a:spcPts val="500"/>
              </a:spcAft>
              <a:buSzPct val="100000"/>
            </a:pPr>
            <a:r>
              <a:rPr lang="en-US" sz="1100" dirty="0">
                <a:solidFill>
                  <a:srgbClr val="1E293B"/>
                </a:solidFill>
                <a:latin typeface="Calibri" pitchFamily="34" charset="0"/>
                <a:ea typeface="Calibri" pitchFamily="34" charset="-122"/>
                <a:cs typeface="Calibri" pitchFamily="34" charset="-120"/>
              </a:rPr>
              <a:t>Implementing an auxiliary regression pipeline to predict community Approval Rating (</a:t>
            </a:r>
            <a:r>
              <a:rPr lang="en-US" sz="1100" dirty="0" err="1">
                <a:solidFill>
                  <a:srgbClr val="1E293B"/>
                </a:solidFill>
                <a:latin typeface="Calibri" pitchFamily="34" charset="0"/>
                <a:ea typeface="Calibri" pitchFamily="34" charset="-122"/>
                <a:cs typeface="Calibri" pitchFamily="34" charset="-120"/>
              </a:rPr>
              <a:t>review_ratio</a:t>
            </a:r>
            <a:r>
              <a:rPr lang="en-US" sz="1100" dirty="0">
                <a:solidFill>
                  <a:srgbClr val="1E293B"/>
                </a:solidFill>
                <a:latin typeface="Calibri" pitchFamily="34" charset="0"/>
                <a:ea typeface="Calibri" pitchFamily="34" charset="-122"/>
                <a:cs typeface="Calibri" pitchFamily="34" charset="-120"/>
              </a:rPr>
              <a:t>)</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Developing a 2D Market Fit Matrix projecting prototypes across Volume (X-Axis) and Sentiment (Y-Axis) to visually identify Niche Critical Darlings vs. High-Risk Flops</a:t>
            </a:r>
          </a:p>
          <a:p>
            <a:pPr>
              <a:spcAft>
                <a:spcPts val="500"/>
              </a:spcAft>
              <a:buSzPct val="100000"/>
            </a:pPr>
            <a:r>
              <a:rPr lang="en-US" sz="1100" dirty="0">
                <a:solidFill>
                  <a:srgbClr val="1E293B"/>
                </a:solidFill>
                <a:latin typeface="Calibri" pitchFamily="34" charset="0"/>
                <a:ea typeface="Calibri" pitchFamily="34" charset="-122"/>
                <a:cs typeface="Calibri" pitchFamily="34" charset="-120"/>
              </a:rPr>
              <a:t>Multi-Modal Expansion incorporating deep architectures like CNNs for analyzing promotional screenshots and sequence models for gameplay trailer aesthetics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1C2B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A6"/>
          </a:solidFill>
          <a:ln w="12700">
            <a:solidFill>
              <a:srgbClr val="00B4A6"/>
            </a:solidFill>
            <a:prstDash val="solid"/>
          </a:ln>
        </p:spPr>
        <p:txBody>
          <a:bodyPr/>
          <a:lstStyle/>
          <a:p>
            <a:endParaRPr lang="it-IT"/>
          </a:p>
        </p:txBody>
      </p:sp>
      <p:sp>
        <p:nvSpPr>
          <p:cNvPr id="3" name="Text 1"/>
          <p:cNvSpPr/>
          <p:nvPr/>
        </p:nvSpPr>
        <p:spPr>
          <a:xfrm>
            <a:off x="411480" y="822960"/>
            <a:ext cx="8321040" cy="82296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Thank You</a:t>
            </a:r>
            <a:endParaRPr lang="en-US" sz="4800" dirty="0"/>
          </a:p>
        </p:txBody>
      </p:sp>
      <p:sp>
        <p:nvSpPr>
          <p:cNvPr id="4" name="Text 2"/>
          <p:cNvSpPr/>
          <p:nvPr/>
        </p:nvSpPr>
        <p:spPr>
          <a:xfrm>
            <a:off x="411480" y="1719776"/>
            <a:ext cx="8321040" cy="274320"/>
          </a:xfrm>
          <a:prstGeom prst="rect">
            <a:avLst/>
          </a:prstGeom>
          <a:noFill/>
          <a:ln/>
        </p:spPr>
        <p:txBody>
          <a:bodyPr wrap="square" lIns="0" tIns="0" rIns="0" bIns="0" rtlCol="0" anchor="ctr"/>
          <a:lstStyle/>
          <a:p>
            <a:pPr marL="0" indent="0">
              <a:buNone/>
            </a:pPr>
            <a:r>
              <a:rPr lang="en-US" sz="1250" b="1" dirty="0">
                <a:solidFill>
                  <a:srgbClr val="00B4A6"/>
                </a:solidFill>
                <a:latin typeface="Calibri" pitchFamily="34" charset="0"/>
                <a:ea typeface="Calibri" pitchFamily="34" charset="-122"/>
                <a:cs typeface="Calibri" pitchFamily="34" charset="-120"/>
              </a:rPr>
              <a:t>Conclusions:</a:t>
            </a:r>
            <a:endParaRPr lang="en-US" sz="1250" dirty="0"/>
          </a:p>
        </p:txBody>
      </p:sp>
      <p:sp>
        <p:nvSpPr>
          <p:cNvPr id="5" name="Text 3"/>
          <p:cNvSpPr/>
          <p:nvPr/>
        </p:nvSpPr>
        <p:spPr>
          <a:xfrm>
            <a:off x="411480" y="2029264"/>
            <a:ext cx="8321040" cy="14630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a:t>
            </a:r>
            <a:r>
              <a:rPr lang="en-US" sz="1200" dirty="0" err="1">
                <a:solidFill>
                  <a:srgbClr val="FFFFFF"/>
                </a:solidFill>
                <a:latin typeface="Calibri" pitchFamily="34" charset="0"/>
                <a:ea typeface="Calibri" pitchFamily="34" charset="-122"/>
                <a:cs typeface="Calibri" pitchFamily="34" charset="-120"/>
              </a:rPr>
              <a:t>HitPredictor</a:t>
            </a:r>
            <a:r>
              <a:rPr lang="en-US" sz="1200" dirty="0">
                <a:solidFill>
                  <a:srgbClr val="FFFFFF"/>
                </a:solidFill>
                <a:latin typeface="Calibri" pitchFamily="34" charset="0"/>
                <a:ea typeface="Calibri" pitchFamily="34" charset="-122"/>
                <a:cs typeface="Calibri" pitchFamily="34" charset="-120"/>
              </a:rPr>
              <a:t>-Steam project successfully models the commercial trajectory of digital PC games using structured storefront metadata and post-release community engagement signals</a:t>
            </a:r>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An </a:t>
            </a:r>
            <a:r>
              <a:rPr lang="en-US" sz="1200" dirty="0" err="1">
                <a:solidFill>
                  <a:srgbClr val="FFFFFF"/>
                </a:solidFill>
                <a:latin typeface="Calibri" pitchFamily="34" charset="0"/>
                <a:ea typeface="Calibri" pitchFamily="34" charset="-122"/>
                <a:cs typeface="Calibri" pitchFamily="34" charset="-120"/>
              </a:rPr>
              <a:t>XGBoost</a:t>
            </a:r>
            <a:r>
              <a:rPr lang="en-US" sz="1200" dirty="0">
                <a:solidFill>
                  <a:srgbClr val="FFFFFF"/>
                </a:solidFill>
                <a:latin typeface="Calibri" pitchFamily="34" charset="0"/>
                <a:ea typeface="Calibri" pitchFamily="34" charset="-122"/>
                <a:cs typeface="Calibri" pitchFamily="34" charset="-120"/>
              </a:rPr>
              <a:t> ensemble, optimized via Bayesian </a:t>
            </a:r>
            <a:r>
              <a:rPr lang="en-US" sz="1200" dirty="0" err="1">
                <a:solidFill>
                  <a:srgbClr val="FFFFFF"/>
                </a:solidFill>
                <a:latin typeface="Calibri" pitchFamily="34" charset="0"/>
                <a:ea typeface="Calibri" pitchFamily="34" charset="-122"/>
                <a:cs typeface="Calibri" pitchFamily="34" charset="-120"/>
              </a:rPr>
              <a:t>Optuna</a:t>
            </a:r>
            <a:r>
              <a:rPr lang="en-US" sz="1200" dirty="0">
                <a:solidFill>
                  <a:srgbClr val="FFFFFF"/>
                </a:solidFill>
                <a:latin typeface="Calibri" pitchFamily="34" charset="0"/>
                <a:ea typeface="Calibri" pitchFamily="34" charset="-122"/>
                <a:cs typeface="Calibri" pitchFamily="34" charset="-120"/>
              </a:rPr>
              <a:t>, rigorously validated through a 5x3 Nested Cross-Validation framework to guarantee zero data leakage</a:t>
            </a:r>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Explainability revealed that lack of language support and low prices anchor games to Tier 0, and that classification noise is strictly confined to adjacent tiers due to unmodeled viral market forces</a:t>
            </a:r>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The model lacks visibility into external marketing momentum; future work will focus on a 2D Market Fit Matrix (Volume vs. Sentiment) and multi-modal expansion using deep learning for visual assets</a:t>
            </a:r>
            <a:endParaRPr lang="en-US" sz="1200" dirty="0"/>
          </a:p>
        </p:txBody>
      </p:sp>
      <p:sp>
        <p:nvSpPr>
          <p:cNvPr id="6" name="Shape 4"/>
          <p:cNvSpPr/>
          <p:nvPr/>
        </p:nvSpPr>
        <p:spPr>
          <a:xfrm>
            <a:off x="411480" y="3703320"/>
            <a:ext cx="8321040" cy="13716"/>
          </a:xfrm>
          <a:prstGeom prst="rect">
            <a:avLst/>
          </a:prstGeom>
          <a:solidFill>
            <a:srgbClr val="2E4A70"/>
          </a:solidFill>
          <a:ln w="12700">
            <a:solidFill>
              <a:srgbClr val="2E4A70"/>
            </a:solidFill>
            <a:prstDash val="solid"/>
          </a:ln>
        </p:spPr>
        <p:txBody>
          <a:bodyPr/>
          <a:lstStyle/>
          <a:p>
            <a:endParaRPr lang="it-IT"/>
          </a:p>
        </p:txBody>
      </p:sp>
      <p:sp>
        <p:nvSpPr>
          <p:cNvPr id="7" name="Text 5"/>
          <p:cNvSpPr/>
          <p:nvPr/>
        </p:nvSpPr>
        <p:spPr>
          <a:xfrm>
            <a:off x="411480" y="3928052"/>
            <a:ext cx="8321040" cy="256032"/>
          </a:xfrm>
          <a:prstGeom prst="rect">
            <a:avLst/>
          </a:prstGeom>
          <a:noFill/>
          <a:ln/>
        </p:spPr>
        <p:txBody>
          <a:bodyPr wrap="square" lIns="0" tIns="0" rIns="0" bIns="0" rtlCol="0" anchor="ctr"/>
          <a:lstStyle/>
          <a:p>
            <a:pPr marL="0" indent="0">
              <a:buNone/>
            </a:pPr>
            <a:r>
              <a:rPr lang="en-US" sz="1050" dirty="0">
                <a:solidFill>
                  <a:srgbClr val="4A6587"/>
                </a:solidFill>
                <a:latin typeface="Calibri" pitchFamily="34" charset="0"/>
                <a:ea typeface="Calibri" pitchFamily="34" charset="-122"/>
                <a:cs typeface="Calibri" pitchFamily="34" charset="-120"/>
              </a:rPr>
              <a:t>Andrea Zanin   ·   a.zanin@studenti.unipi.it</a:t>
            </a:r>
          </a:p>
          <a:p>
            <a:r>
              <a:rPr lang="en-US" sz="1050" dirty="0">
                <a:solidFill>
                  <a:srgbClr val="4A6587"/>
                </a:solidFill>
                <a:latin typeface="Calibri" pitchFamily="34" charset="0"/>
                <a:ea typeface="Calibri" pitchFamily="34" charset="-122"/>
                <a:cs typeface="Calibri" pitchFamily="34" charset="-120"/>
              </a:rPr>
              <a:t>Pedro Carneiro   ·   p.carneirojunior@studenti.unipi.it</a:t>
            </a:r>
            <a:endParaRPr lang="en-US" sz="1050" dirty="0"/>
          </a:p>
        </p:txBody>
      </p:sp>
      <p:sp>
        <p:nvSpPr>
          <p:cNvPr id="8" name="Text 6"/>
          <p:cNvSpPr/>
          <p:nvPr/>
        </p:nvSpPr>
        <p:spPr>
          <a:xfrm>
            <a:off x="411480" y="4160520"/>
            <a:ext cx="8321040" cy="822960"/>
          </a:xfrm>
          <a:prstGeom prst="rect">
            <a:avLst/>
          </a:prstGeom>
          <a:noFill/>
          <a:ln/>
        </p:spPr>
        <p:txBody>
          <a:bodyPr wrap="square" lIns="0" tIns="0" rIns="0" bIns="0" rtlCol="0" anchor="ctr"/>
          <a:lstStyle/>
          <a:p>
            <a:pPr marL="0" indent="0">
              <a:buNone/>
            </a:pP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TotalTime>
  <Words>1889</Words>
  <Application>Microsoft Office PowerPoint</Application>
  <PresentationFormat>Presentazione su schermo (16:9)</PresentationFormat>
  <Paragraphs>218</Paragraphs>
  <Slides>15</Slides>
  <Notes>15</Notes>
  <HiddenSlides>0</HiddenSlides>
  <MMClips>0</MMClips>
  <ScaleCrop>false</ScaleCrop>
  <HeadingPairs>
    <vt:vector size="6" baseType="variant">
      <vt:variant>
        <vt:lpstr>Caratteri utilizzati</vt:lpstr>
      </vt:variant>
      <vt:variant>
        <vt:i4>2</vt:i4>
      </vt:variant>
      <vt:variant>
        <vt:lpstr>Tema</vt:lpstr>
      </vt:variant>
      <vt:variant>
        <vt:i4>1</vt:i4>
      </vt:variant>
      <vt:variant>
        <vt:lpstr>Titoli diapositive</vt:lpstr>
      </vt:variant>
      <vt:variant>
        <vt:i4>15</vt:i4>
      </vt:variant>
    </vt:vector>
  </HeadingPairs>
  <TitlesOfParts>
    <vt:vector size="18" baseType="lpstr">
      <vt:lpstr>Arial</vt:lpstr>
      <vt:lpstr>Calibri</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 &amp; Machine Learning — Project Presentation Template</dc:title>
  <dc:subject>PptxGenJS Presentation</dc:subject>
  <dc:creator>PptxGenJS</dc:creator>
  <cp:lastModifiedBy>Andrea Zanin</cp:lastModifiedBy>
  <cp:revision>16</cp:revision>
  <dcterms:created xsi:type="dcterms:W3CDTF">2026-05-31T14:27:00Z</dcterms:created>
  <dcterms:modified xsi:type="dcterms:W3CDTF">2026-09-11T16:50:11Z</dcterms:modified>
</cp:coreProperties>
</file>