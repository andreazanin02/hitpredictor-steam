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50" r:id="rId2"/>
  </p:sldMasterIdLst>
  <p:notesMasterIdLst>
    <p:notesMasterId r:id="rId18"/>
  </p:notesMasterIdLst>
  <p:handoutMasterIdLst>
    <p:handoutMasterId r:id="rId19"/>
  </p:handoutMasterIdLst>
  <p:sldIdLst>
    <p:sldId id="722" r:id="rId3"/>
    <p:sldId id="1026" r:id="rId4"/>
    <p:sldId id="1027" r:id="rId5"/>
    <p:sldId id="1028" r:id="rId6"/>
    <p:sldId id="1029" r:id="rId7"/>
    <p:sldId id="1030" r:id="rId8"/>
    <p:sldId id="1031" r:id="rId9"/>
    <p:sldId id="1032" r:id="rId10"/>
    <p:sldId id="1033" r:id="rId11"/>
    <p:sldId id="1034" r:id="rId12"/>
    <p:sldId id="1035" r:id="rId13"/>
    <p:sldId id="1036" r:id="rId14"/>
    <p:sldId id="1037" r:id="rId15"/>
    <p:sldId id="1038" r:id="rId16"/>
    <p:sldId id="1039" r:id="rId17"/>
  </p:sldIdLst>
  <p:sldSz cx="9144000" cy="6858000" type="screen4x3"/>
  <p:notesSz cx="7099300" cy="10234613"/>
  <p:defaultTextStyle>
    <a:defPPr>
      <a:defRPr lang="it-IT"/>
    </a:defPPr>
    <a:lvl1pPr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1pPr>
    <a:lvl2pPr marL="4572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2pPr>
    <a:lvl3pPr marL="9144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3pPr>
    <a:lvl4pPr marL="13716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4pPr>
    <a:lvl5pPr marL="1828800" algn="ctr" rtl="0" fontAlgn="base">
      <a:spcBef>
        <a:spcPct val="0"/>
      </a:spcBef>
      <a:spcAft>
        <a:spcPct val="0"/>
      </a:spcAft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5pPr>
    <a:lvl6pPr marL="2286000" algn="l" defTabSz="914400" rtl="0" eaLnBrk="1" latinLnBrk="0" hangingPunct="1"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6pPr>
    <a:lvl7pPr marL="2743200" algn="l" defTabSz="914400" rtl="0" eaLnBrk="1" latinLnBrk="0" hangingPunct="1"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7pPr>
    <a:lvl8pPr marL="3200400" algn="l" defTabSz="914400" rtl="0" eaLnBrk="1" latinLnBrk="0" hangingPunct="1"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8pPr>
    <a:lvl9pPr marL="3657600" algn="l" defTabSz="914400" rtl="0" eaLnBrk="1" latinLnBrk="0" hangingPunct="1">
      <a:defRPr sz="4000" kern="1200">
        <a:solidFill>
          <a:schemeClr val="bg1"/>
        </a:solidFill>
        <a:latin typeface="Franklin Gothic Heavy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99FF"/>
    <a:srgbClr val="5555FF"/>
    <a:srgbClr val="4C4CA6"/>
    <a:srgbClr val="5455E1"/>
    <a:srgbClr val="5555C2"/>
    <a:srgbClr val="6699FF"/>
    <a:srgbClr val="3366FF"/>
    <a:srgbClr val="3333FF"/>
    <a:srgbClr val="003366"/>
    <a:srgbClr val="00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Stile medio 2 - Color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Stile con tema 1 - Colore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398" autoAdjust="0"/>
    <p:restoredTop sz="98757" autoAdjust="0"/>
  </p:normalViewPr>
  <p:slideViewPr>
    <p:cSldViewPr>
      <p:cViewPr varScale="1">
        <p:scale>
          <a:sx n="82" d="100"/>
          <a:sy n="82" d="100"/>
        </p:scale>
        <p:origin x="9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59616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53" d="100"/>
          <a:sy n="53" d="100"/>
        </p:scale>
        <p:origin x="-1818" y="-84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72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872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872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5872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C1B76BBF-8223-4799-95C3-859F065E8F8C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5968435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40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8350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024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2513"/>
            <a:ext cx="5680075" cy="4603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 noProof="0"/>
              <a:t>Fare clic per modificare gli stili del testo dello schema</a:t>
            </a:r>
          </a:p>
          <a:p>
            <a:pPr lvl="1"/>
            <a:r>
              <a:rPr lang="it-IT" noProof="0"/>
              <a:t>Secondo livello</a:t>
            </a:r>
          </a:p>
          <a:p>
            <a:pPr lvl="2"/>
            <a:r>
              <a:rPr lang="it-IT" noProof="0"/>
              <a:t>Terzo livello</a:t>
            </a:r>
          </a:p>
          <a:p>
            <a:pPr lvl="3"/>
            <a:r>
              <a:rPr lang="it-IT" noProof="0"/>
              <a:t>Quarto livello</a:t>
            </a:r>
          </a:p>
          <a:p>
            <a:pPr lvl="4"/>
            <a:r>
              <a:rPr lang="it-IT" noProof="0"/>
              <a:t>Quinto livello</a:t>
            </a:r>
          </a:p>
        </p:txBody>
      </p:sp>
      <p:sp>
        <p:nvSpPr>
          <p:cNvPr id="1024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l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endParaRPr lang="it-IT"/>
          </a:p>
        </p:txBody>
      </p:sp>
      <p:sp>
        <p:nvSpPr>
          <p:cNvPr id="1024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6661" tIns="48331" rIns="96661" bIns="48331" numCol="1" anchor="b" anchorCtr="0" compatLnSpc="1">
            <a:prstTxWarp prst="textNoShape">
              <a:avLst/>
            </a:prstTxWarp>
          </a:bodyPr>
          <a:lstStyle>
            <a:lvl1pPr algn="r" defTabSz="966788">
              <a:defRPr sz="1300">
                <a:solidFill>
                  <a:schemeClr val="tx1"/>
                </a:solidFill>
                <a:latin typeface="Arial" charset="0"/>
              </a:defRPr>
            </a:lvl1pPr>
          </a:lstStyle>
          <a:p>
            <a:pPr>
              <a:defRPr/>
            </a:pPr>
            <a:fld id="{2C11F25B-D58C-4A79-8AD6-38119B174837}" type="slidenum">
              <a:rPr lang="it-IT"/>
              <a:pPr>
                <a:defRPr/>
              </a:pPr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1470688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3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pPr defTabSz="989013"/>
            <a:fld id="{364B05ED-9CA2-4935-8602-1081F943AF8B}" type="slidenum">
              <a:rPr lang="it-IT" smtClean="0"/>
              <a:pPr defTabSz="989013"/>
              <a:t>1</a:t>
            </a:fld>
            <a:endParaRPr lang="it-IT"/>
          </a:p>
        </p:txBody>
      </p:sp>
      <p:sp>
        <p:nvSpPr>
          <p:cNvPr id="1413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413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08320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2C11F25B-D58C-4A79-8AD6-38119B174837}" type="slidenum">
              <a:rPr lang="it-IT" smtClean="0"/>
              <a:pPr>
                <a:defRPr/>
              </a:pPr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97374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slideMaster" Target="../slideMasters/slideMaster2.xml"/><Relationship Id="rId1" Type="http://schemas.openxmlformats.org/officeDocument/2006/relationships/themeOverride" Target="../theme/themeOverride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7"/>
          <p:cNvSpPr>
            <a:spLocks noChangeArrowheads="1"/>
          </p:cNvSpPr>
          <p:nvPr userDrawn="1"/>
        </p:nvSpPr>
        <p:spPr bwMode="auto">
          <a:xfrm>
            <a:off x="323850" y="404813"/>
            <a:ext cx="8496300" cy="2592387"/>
          </a:xfrm>
          <a:prstGeom prst="roundRect">
            <a:avLst>
              <a:gd name="adj" fmla="val 6986"/>
            </a:avLst>
          </a:prstGeom>
          <a:solidFill>
            <a:srgbClr val="000080">
              <a:alpha val="80000"/>
            </a:srgb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it-IT"/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620713"/>
            <a:ext cx="7772400" cy="2087562"/>
          </a:xfrm>
          <a:effectLst>
            <a:outerShdw dist="35921" dir="2700000" algn="ctr" rotWithShape="0">
              <a:schemeClr val="bg2">
                <a:alpha val="50000"/>
              </a:schemeClr>
            </a:outerShdw>
          </a:effectLst>
        </p:spPr>
        <p:txBody>
          <a:bodyPr/>
          <a:lstStyle>
            <a:lvl1pPr algn="ctr">
              <a:defRPr>
                <a:latin typeface="Franklin Gothic Demi" pitchFamily="34" charset="0"/>
              </a:defRPr>
            </a:lvl1pPr>
          </a:lstStyle>
          <a:p>
            <a:r>
              <a:rPr lang="it-IT"/>
              <a:t>Energy-efficient Data Collection in Wireless Sensor Networks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539750" y="3284538"/>
            <a:ext cx="8064500" cy="3240087"/>
          </a:xfrm>
        </p:spPr>
        <p:txBody>
          <a:bodyPr/>
          <a:lstStyle>
            <a:lvl1pPr marL="0" indent="0">
              <a:buFont typeface="Wingdings" pitchFamily="2" charset="2"/>
              <a:buNone/>
              <a:defRPr sz="2100"/>
            </a:lvl1pPr>
          </a:lstStyle>
          <a:p>
            <a:r>
              <a:rPr lang="it-IT"/>
              <a:t>Fare clic per modificare lo stile del sottotitolo dello schema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9"/>
          <p:cNvSpPr>
            <a:spLocks noChangeArrowheads="1"/>
          </p:cNvSpPr>
          <p:nvPr userDrawn="1"/>
        </p:nvSpPr>
        <p:spPr bwMode="auto">
          <a:xfrm>
            <a:off x="0" y="6669088"/>
            <a:ext cx="9144000" cy="18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827584" y="44450"/>
            <a:ext cx="7344866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" panose="020F0502020204030204" pitchFamily="34" charset="0"/>
              </a:defRPr>
            </a:lvl1pPr>
            <a:lvl2pPr>
              <a:defRPr>
                <a:latin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</a:defRPr>
            </a:lvl5pPr>
          </a:lstStyle>
          <a:p>
            <a:pPr lvl="0"/>
            <a:r>
              <a:rPr lang="it-IT" dirty="0"/>
              <a:t>Fare clic per modificare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63" y="-14395"/>
            <a:ext cx="791310" cy="807796"/>
          </a:xfrm>
          <a:prstGeom prst="rect">
            <a:avLst/>
          </a:prstGeom>
        </p:spPr>
      </p:pic>
      <p:sp>
        <p:nvSpPr>
          <p:cNvPr id="8" name="Rectangle 7"/>
          <p:cNvSpPr/>
          <p:nvPr userDrawn="1"/>
        </p:nvSpPr>
        <p:spPr bwMode="auto">
          <a:xfrm>
            <a:off x="8172450" y="0"/>
            <a:ext cx="954087" cy="954087"/>
          </a:xfrm>
          <a:prstGeom prst="rect">
            <a:avLst/>
          </a:prstGeom>
          <a:solidFill>
            <a:schemeClr val="bg1"/>
          </a:solidFill>
          <a:ln w="9525" cap="flat" cmpd="sng" algn="ctr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it-IT" sz="4000" b="0" i="0" u="none" strike="noStrike" cap="none" normalizeH="0" baseline="0">
              <a:ln>
                <a:noFill/>
              </a:ln>
              <a:solidFill>
                <a:schemeClr val="bg1"/>
              </a:solidFill>
              <a:effectLst/>
              <a:latin typeface="Franklin Gothic Heavy" pitchFamily="34" charset="0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9"/>
          <p:cNvSpPr>
            <a:spLocks noChangeArrowheads="1"/>
          </p:cNvSpPr>
          <p:nvPr userDrawn="1"/>
        </p:nvSpPr>
        <p:spPr bwMode="auto">
          <a:xfrm>
            <a:off x="0" y="6669088"/>
            <a:ext cx="9144000" cy="18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250825" y="981075"/>
            <a:ext cx="4244975" cy="57610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4244975" cy="57610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sp>
        <p:nvSpPr>
          <p:cNvPr id="7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sp>
        <p:nvSpPr>
          <p:cNvPr id="8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39"/>
          <p:cNvSpPr>
            <a:spLocks noChangeArrowheads="1"/>
          </p:cNvSpPr>
          <p:nvPr userDrawn="1"/>
        </p:nvSpPr>
        <p:spPr bwMode="auto">
          <a:xfrm>
            <a:off x="0" y="6669088"/>
            <a:ext cx="9144000" cy="18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5382" y="6128569"/>
            <a:ext cx="705139" cy="643706"/>
          </a:xfrm>
          <a:prstGeom prst="rect">
            <a:avLst/>
          </a:prstGeom>
        </p:spPr>
      </p:pic>
      <p:sp>
        <p:nvSpPr>
          <p:cNvPr id="6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sp>
        <p:nvSpPr>
          <p:cNvPr id="3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  <p:sp>
        <p:nvSpPr>
          <p:cNvPr id="6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it-IT" noProof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982" y="5976169"/>
            <a:ext cx="705139" cy="6437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715125" y="44450"/>
            <a:ext cx="2178050" cy="6697663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179388" y="44450"/>
            <a:ext cx="6383337" cy="6697663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olo e contenuto sopra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250825" y="981075"/>
            <a:ext cx="8642350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250825" y="3937000"/>
            <a:ext cx="8642350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olo, test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sz="half" idx="1"/>
          </p:nvPr>
        </p:nvSpPr>
        <p:spPr>
          <a:xfrm>
            <a:off x="250825" y="981075"/>
            <a:ext cx="4244975" cy="57610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4244975" cy="57610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Titolo e testo sopra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sz="half" idx="1"/>
          </p:nvPr>
        </p:nvSpPr>
        <p:spPr>
          <a:xfrm>
            <a:off x="250825" y="981075"/>
            <a:ext cx="8642350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250825" y="3937000"/>
            <a:ext cx="8642350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 preserve="1">
  <p:cSld name="Titolo, testo e Clip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sz="half" idx="1"/>
          </p:nvPr>
        </p:nvSpPr>
        <p:spPr>
          <a:xfrm>
            <a:off x="250825" y="981075"/>
            <a:ext cx="4244975" cy="57610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lipArt 3"/>
          <p:cNvSpPr>
            <a:spLocks noGrp="1"/>
          </p:cNvSpPr>
          <p:nvPr>
            <p:ph type="clipArt" sz="half" idx="2"/>
          </p:nvPr>
        </p:nvSpPr>
        <p:spPr>
          <a:xfrm>
            <a:off x="4648200" y="981075"/>
            <a:ext cx="4244975" cy="5761038"/>
          </a:xfrm>
        </p:spPr>
        <p:txBody>
          <a:bodyPr/>
          <a:lstStyle/>
          <a:p>
            <a:pPr lvl="0"/>
            <a:endParaRPr lang="it-IT" noProof="0"/>
          </a:p>
        </p:txBody>
      </p:sp>
      <p:sp>
        <p:nvSpPr>
          <p:cNvPr id="5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olo, contenuto e contenu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250825" y="981075"/>
            <a:ext cx="4244975" cy="5761038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quarter" idx="2"/>
          </p:nvPr>
        </p:nvSpPr>
        <p:spPr>
          <a:xfrm>
            <a:off x="4648200" y="981075"/>
            <a:ext cx="4244975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3"/>
          </p:nvPr>
        </p:nvSpPr>
        <p:spPr>
          <a:xfrm>
            <a:off x="4648200" y="3937000"/>
            <a:ext cx="4244975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Titolo e tabel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abella 2"/>
          <p:cNvSpPr>
            <a:spLocks noGrp="1"/>
          </p:cNvSpPr>
          <p:nvPr>
            <p:ph type="tbl" idx="1"/>
          </p:nvPr>
        </p:nvSpPr>
        <p:spPr>
          <a:xfrm>
            <a:off x="250825" y="981075"/>
            <a:ext cx="8642350" cy="5761038"/>
          </a:xfrm>
        </p:spPr>
        <p:txBody>
          <a:bodyPr/>
          <a:lstStyle/>
          <a:p>
            <a:pPr lvl="0"/>
            <a:endParaRPr lang="it-IT" noProof="0"/>
          </a:p>
        </p:txBody>
      </p:sp>
      <p:sp>
        <p:nvSpPr>
          <p:cNvPr id="4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olo e  contenu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 sz="quarter"/>
          </p:nvPr>
        </p:nvSpPr>
        <p:spPr>
          <a:xfrm>
            <a:off x="179388" y="44450"/>
            <a:ext cx="7993062" cy="720725"/>
          </a:xfrm>
        </p:spPr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quarter" idx="1"/>
          </p:nvPr>
        </p:nvSpPr>
        <p:spPr>
          <a:xfrm>
            <a:off x="250825" y="981075"/>
            <a:ext cx="4244975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quarter" idx="2"/>
          </p:nvPr>
        </p:nvSpPr>
        <p:spPr>
          <a:xfrm>
            <a:off x="4648200" y="981075"/>
            <a:ext cx="4244975" cy="2803525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contenuto 4"/>
          <p:cNvSpPr>
            <a:spLocks noGrp="1"/>
          </p:cNvSpPr>
          <p:nvPr>
            <p:ph sz="quarter" idx="3"/>
          </p:nvPr>
        </p:nvSpPr>
        <p:spPr>
          <a:xfrm>
            <a:off x="250825" y="3937000"/>
            <a:ext cx="4244975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8200" y="3937000"/>
            <a:ext cx="4244975" cy="2805113"/>
          </a:xfrm>
        </p:spPr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piè di pagina 3"/>
          <p:cNvSpPr txBox="1">
            <a:spLocks/>
          </p:cNvSpPr>
          <p:nvPr userDrawn="1"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>
                <a:latin typeface="Calibri" panose="020F0502020204030204" pitchFamily="34" charset="0"/>
              </a:rPr>
              <a:t>IEEE 802.15.4e: a Building Block for the Internet of Things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337BAA41-9988-4011-ACAC-72357787D6F3}" type="slidenum">
              <a:rPr lang="en-US" sz="1100" smtClean="0">
                <a:latin typeface="Calibri" panose="020F0502020204030204" pitchFamily="34" charset="0"/>
              </a:rPr>
              <a:t>‹N›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bg>
      <p:bgPr>
        <a:blipFill dpi="0" rotWithShape="0">
          <a:blip r:embed="rId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>
            <a:spLocks noChangeArrowheads="1"/>
          </p:cNvSpPr>
          <p:nvPr userDrawn="1"/>
        </p:nvSpPr>
        <p:spPr bwMode="auto">
          <a:xfrm>
            <a:off x="323850" y="1052513"/>
            <a:ext cx="8496300" cy="2592387"/>
          </a:xfrm>
          <a:prstGeom prst="roundRect">
            <a:avLst>
              <a:gd name="adj" fmla="val 6986"/>
            </a:avLst>
          </a:prstGeom>
          <a:solidFill>
            <a:srgbClr val="000080">
              <a:alpha val="80000"/>
            </a:srgb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it-IT"/>
          </a:p>
        </p:txBody>
      </p:sp>
      <p:sp>
        <p:nvSpPr>
          <p:cNvPr id="5" name="AutoShape 5"/>
          <p:cNvSpPr>
            <a:spLocks noChangeArrowheads="1"/>
          </p:cNvSpPr>
          <p:nvPr userDrawn="1"/>
        </p:nvSpPr>
        <p:spPr bwMode="auto">
          <a:xfrm>
            <a:off x="539750" y="4292600"/>
            <a:ext cx="8064500" cy="1860550"/>
          </a:xfrm>
          <a:prstGeom prst="roundRect">
            <a:avLst>
              <a:gd name="adj" fmla="val 6986"/>
            </a:avLst>
          </a:prstGeom>
          <a:solidFill>
            <a:schemeClr val="bg1">
              <a:alpha val="70000"/>
            </a:schemeClr>
          </a:solidFill>
          <a:ln w="9525">
            <a:noFill/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it-IT"/>
          </a:p>
        </p:txBody>
      </p:sp>
      <p:sp>
        <p:nvSpPr>
          <p:cNvPr id="1198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468313" y="1268413"/>
            <a:ext cx="8135937" cy="2160587"/>
          </a:xfrm>
        </p:spPr>
        <p:txBody>
          <a:bodyPr/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1198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84213" y="4424363"/>
            <a:ext cx="7127875" cy="1655762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800">
                <a:latin typeface="Franklin Gothic Medium Cond" pitchFamily="34" charset="0"/>
              </a:defRPr>
            </a:lvl1pPr>
          </a:lstStyle>
          <a:p>
            <a:r>
              <a:rPr lang="it-IT"/>
              <a:t>Fare clic per modificare lo stile del sottotitolo dello schema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68313" y="1628775"/>
            <a:ext cx="4038600" cy="4957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659313" y="1628775"/>
            <a:ext cx="4038600" cy="49577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  <p:sp>
        <p:nvSpPr>
          <p:cNvPr id="6" name="Segnaposto contenut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immagine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it-IT" noProof="0"/>
          </a:p>
        </p:txBody>
      </p:sp>
      <p:sp>
        <p:nvSpPr>
          <p:cNvPr id="4" name="Segnaposto tes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stili del testo dello schema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/>
          <p:cNvSpPr>
            <a:spLocks noGrp="1"/>
          </p:cNvSpPr>
          <p:nvPr>
            <p:ph type="title" orient="vert"/>
          </p:nvPr>
        </p:nvSpPr>
        <p:spPr>
          <a:xfrm>
            <a:off x="6638925" y="274638"/>
            <a:ext cx="2058988" cy="6311900"/>
          </a:xfrm>
        </p:spPr>
        <p:txBody>
          <a:bodyPr vert="eaVert"/>
          <a:lstStyle/>
          <a:p>
            <a:r>
              <a:rPr lang="it-IT"/>
              <a:t>Fare clic per modificare lo stile del titolo</a:t>
            </a:r>
          </a:p>
        </p:txBody>
      </p:sp>
      <p:sp>
        <p:nvSpPr>
          <p:cNvPr id="3" name="Segnaposto testo verticale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29325" cy="6311900"/>
          </a:xfrm>
        </p:spPr>
        <p:txBody>
          <a:bodyPr vert="eaVert"/>
          <a:lstStyle/>
          <a:p>
            <a:pPr lvl="0"/>
            <a:r>
              <a:rPr lang="it-IT"/>
              <a:t>Fare clic per modificare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4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1" name="Freeform 27"/>
          <p:cNvSpPr>
            <a:spLocks/>
          </p:cNvSpPr>
          <p:nvPr userDrawn="1"/>
        </p:nvSpPr>
        <p:spPr bwMode="auto">
          <a:xfrm>
            <a:off x="-36513" y="-26988"/>
            <a:ext cx="8280401" cy="793751"/>
          </a:xfrm>
          <a:custGeom>
            <a:avLst/>
            <a:gdLst/>
            <a:ahLst/>
            <a:cxnLst>
              <a:cxn ang="0">
                <a:pos x="4990" y="499"/>
              </a:cxn>
              <a:cxn ang="0">
                <a:pos x="0" y="499"/>
              </a:cxn>
              <a:cxn ang="0">
                <a:pos x="0" y="0"/>
              </a:cxn>
              <a:cxn ang="0">
                <a:pos x="5063" y="5"/>
              </a:cxn>
              <a:cxn ang="0">
                <a:pos x="5219" y="5"/>
              </a:cxn>
              <a:cxn ang="0">
                <a:pos x="4990" y="497"/>
              </a:cxn>
              <a:cxn ang="0">
                <a:pos x="4988" y="497"/>
              </a:cxn>
              <a:cxn ang="0">
                <a:pos x="4990" y="499"/>
              </a:cxn>
            </a:cxnLst>
            <a:rect l="0" t="0" r="r" b="b"/>
            <a:pathLst>
              <a:path w="5275" h="500">
                <a:moveTo>
                  <a:pt x="4990" y="499"/>
                </a:moveTo>
                <a:lnTo>
                  <a:pt x="0" y="499"/>
                </a:lnTo>
                <a:lnTo>
                  <a:pt x="0" y="0"/>
                </a:lnTo>
                <a:lnTo>
                  <a:pt x="5063" y="5"/>
                </a:lnTo>
                <a:lnTo>
                  <a:pt x="5219" y="5"/>
                </a:lnTo>
                <a:cubicBezTo>
                  <a:pt x="5207" y="87"/>
                  <a:pt x="5275" y="491"/>
                  <a:pt x="4990" y="497"/>
                </a:cubicBezTo>
                <a:cubicBezTo>
                  <a:pt x="4987" y="500"/>
                  <a:pt x="4988" y="497"/>
                  <a:pt x="4988" y="497"/>
                </a:cubicBezTo>
                <a:cubicBezTo>
                  <a:pt x="4988" y="497"/>
                  <a:pt x="4990" y="499"/>
                  <a:pt x="4990" y="499"/>
                </a:cubicBezTo>
                <a:close/>
              </a:path>
            </a:pathLst>
          </a:custGeom>
          <a:solidFill>
            <a:srgbClr val="000080">
              <a:alpha val="70000"/>
            </a:srgb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/>
          <a:lstStyle/>
          <a:p>
            <a:pPr>
              <a:defRPr/>
            </a:pPr>
            <a:endParaRPr lang="it-IT"/>
          </a:p>
        </p:txBody>
      </p:sp>
      <p:sp>
        <p:nvSpPr>
          <p:cNvPr id="2457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250825" y="981075"/>
            <a:ext cx="8642350" cy="5761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2458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9388" y="44450"/>
            <a:ext cx="7993062" cy="72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Fare clic per modificare lo stile del titolo</a:t>
            </a:r>
          </a:p>
        </p:txBody>
      </p:sp>
      <p:grpSp>
        <p:nvGrpSpPr>
          <p:cNvPr id="24581" name="Group 33"/>
          <p:cNvGrpSpPr>
            <a:grpSpLocks/>
          </p:cNvGrpSpPr>
          <p:nvPr userDrawn="1"/>
        </p:nvGrpSpPr>
        <p:grpSpPr bwMode="auto">
          <a:xfrm>
            <a:off x="8243888" y="0"/>
            <a:ext cx="762000" cy="960438"/>
            <a:chOff x="4656" y="672"/>
            <a:chExt cx="480" cy="605"/>
          </a:xfrm>
        </p:grpSpPr>
        <p:grpSp>
          <p:nvGrpSpPr>
            <p:cNvPr id="24583" name="Group 34"/>
            <p:cNvGrpSpPr>
              <a:grpSpLocks/>
            </p:cNvGrpSpPr>
            <p:nvPr/>
          </p:nvGrpSpPr>
          <p:grpSpPr bwMode="auto">
            <a:xfrm>
              <a:off x="4656" y="672"/>
              <a:ext cx="480" cy="576"/>
              <a:chOff x="5280" y="0"/>
              <a:chExt cx="480" cy="576"/>
            </a:xfrm>
          </p:grpSpPr>
          <p:pic>
            <p:nvPicPr>
              <p:cNvPr id="24585" name="Picture 35" descr="images-3"/>
              <p:cNvPicPr>
                <a:picLocks noChangeAspect="1" noChangeArrowheads="1"/>
              </p:cNvPicPr>
              <p:nvPr/>
            </p:nvPicPr>
            <p:blipFill>
              <a:blip r:embed="rId20" cstate="print"/>
              <a:srcRect/>
              <a:stretch>
                <a:fillRect/>
              </a:stretch>
            </p:blipFill>
            <p:spPr bwMode="auto">
              <a:xfrm>
                <a:off x="5280" y="0"/>
                <a:ext cx="480" cy="4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</p:pic>
          <p:sp>
            <p:nvSpPr>
              <p:cNvPr id="1060" name="Rectangle 36"/>
              <p:cNvSpPr>
                <a:spLocks noChangeArrowheads="1"/>
              </p:cNvSpPr>
              <p:nvPr/>
            </p:nvSpPr>
            <p:spPr bwMode="auto">
              <a:xfrm>
                <a:off x="5280" y="480"/>
                <a:ext cx="480" cy="96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 anchor="ctr"/>
              <a:lstStyle/>
              <a:p>
                <a:pPr>
                  <a:defRPr/>
                </a:pPr>
                <a:endParaRPr lang="it-IT"/>
              </a:p>
            </p:txBody>
          </p:sp>
        </p:grpSp>
        <p:sp>
          <p:nvSpPr>
            <p:cNvPr id="1061" name="Text Box 37"/>
            <p:cNvSpPr txBox="1">
              <a:spLocks noChangeArrowheads="1"/>
            </p:cNvSpPr>
            <p:nvPr/>
          </p:nvSpPr>
          <p:spPr bwMode="auto">
            <a:xfrm>
              <a:off x="4656" y="1104"/>
              <a:ext cx="478" cy="17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none">
              <a:spAutoFit/>
            </a:bodyPr>
            <a:lstStyle/>
            <a:p>
              <a:pPr algn="l">
                <a:defRPr/>
              </a:pPr>
              <a:r>
                <a:rPr lang="en-US" sz="300" b="1">
                  <a:solidFill>
                    <a:srgbClr val="003366"/>
                  </a:solidFill>
                  <a:latin typeface="Courier New" pitchFamily="49" charset="0"/>
                </a:rPr>
                <a:t> </a:t>
              </a:r>
              <a:r>
                <a:rPr lang="en-US" sz="1200" b="1">
                  <a:solidFill>
                    <a:srgbClr val="000080"/>
                  </a:solidFill>
                  <a:latin typeface="Courier New" pitchFamily="49" charset="0"/>
                </a:rPr>
                <a:t>PerLab</a:t>
              </a:r>
            </a:p>
          </p:txBody>
        </p:sp>
      </p:grpSp>
      <p:sp>
        <p:nvSpPr>
          <p:cNvPr id="10" name="Rectangle 39"/>
          <p:cNvSpPr>
            <a:spLocks noChangeArrowheads="1"/>
          </p:cNvSpPr>
          <p:nvPr userDrawn="1"/>
        </p:nvSpPr>
        <p:spPr bwMode="auto">
          <a:xfrm>
            <a:off x="0" y="6669088"/>
            <a:ext cx="9144000" cy="188912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755" r:id="rId1"/>
    <p:sldLayoutId id="2147484756" r:id="rId2"/>
    <p:sldLayoutId id="2147484731" r:id="rId3"/>
    <p:sldLayoutId id="2147484757" r:id="rId4"/>
    <p:sldLayoutId id="2147484732" r:id="rId5"/>
    <p:sldLayoutId id="2147484758" r:id="rId6"/>
    <p:sldLayoutId id="2147484733" r:id="rId7"/>
    <p:sldLayoutId id="2147484734" r:id="rId8"/>
    <p:sldLayoutId id="2147484735" r:id="rId9"/>
    <p:sldLayoutId id="2147484736" r:id="rId10"/>
    <p:sldLayoutId id="2147484737" r:id="rId11"/>
    <p:sldLayoutId id="2147484738" r:id="rId12"/>
    <p:sldLayoutId id="2147484739" r:id="rId13"/>
    <p:sldLayoutId id="2147484740" r:id="rId14"/>
    <p:sldLayoutId id="2147484741" r:id="rId15"/>
    <p:sldLayoutId id="2147484742" r:id="rId16"/>
    <p:sldLayoutId id="2147484743" r:id="rId17"/>
    <p:sldLayoutId id="2147484744" r:id="rId18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tabLst>
          <a:tab pos="7897813" algn="r"/>
          <a:tab pos="8613775" algn="r"/>
        </a:tabLst>
        <a:defRPr sz="4000">
          <a:solidFill>
            <a:schemeClr val="bg1"/>
          </a:solidFill>
          <a:latin typeface="Franklin Gothic Demi Cond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3000">
          <a:solidFill>
            <a:schemeClr val="tx1"/>
          </a:solidFill>
          <a:latin typeface="+mn-lt"/>
          <a:ea typeface="+mn-ea"/>
          <a:cs typeface="+mn-cs"/>
        </a:defRPr>
      </a:lvl1pPr>
      <a:lvl2pPr marL="793750" indent="-271463" algn="l" rtl="0" eaLnBrk="0" fontAlgn="base" hangingPunct="0">
        <a:spcBef>
          <a:spcPct val="20000"/>
        </a:spcBef>
        <a:spcAft>
          <a:spcPct val="0"/>
        </a:spcAft>
        <a:buClr>
          <a:srgbClr val="000080"/>
        </a:buClr>
        <a:buFont typeface="Wingdings" pitchFamily="2" charset="2"/>
        <a:buChar char="§"/>
        <a:defRPr sz="2600">
          <a:solidFill>
            <a:schemeClr val="tx1"/>
          </a:solidFill>
          <a:latin typeface="+mn-lt"/>
        </a:defRPr>
      </a:lvl2pPr>
      <a:lvl3pPr marL="1436688" indent="-363538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ð"/>
        <a:defRPr sz="2200">
          <a:solidFill>
            <a:schemeClr val="tx1"/>
          </a:solidFill>
          <a:latin typeface="+mn-lt"/>
        </a:defRPr>
      </a:lvl3pPr>
      <a:lvl4pPr marL="1844675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252663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709863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3167063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624263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4081463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0">
          <a:blip r:embed="rId13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it-IT"/>
              <a:t>Sommario</a:t>
            </a:r>
          </a:p>
        </p:txBody>
      </p:sp>
      <p:sp>
        <p:nvSpPr>
          <p:cNvPr id="25603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1628775"/>
            <a:ext cx="8229600" cy="4957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759" r:id="rId1"/>
    <p:sldLayoutId id="2147484745" r:id="rId2"/>
    <p:sldLayoutId id="2147484746" r:id="rId3"/>
    <p:sldLayoutId id="2147484747" r:id="rId4"/>
    <p:sldLayoutId id="2147484748" r:id="rId5"/>
    <p:sldLayoutId id="2147484749" r:id="rId6"/>
    <p:sldLayoutId id="2147484750" r:id="rId7"/>
    <p:sldLayoutId id="2147484751" r:id="rId8"/>
    <p:sldLayoutId id="2147484752" r:id="rId9"/>
    <p:sldLayoutId id="2147484753" r:id="rId10"/>
    <p:sldLayoutId id="2147484754" r:id="rId11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4000">
          <a:solidFill>
            <a:srgbClr val="000080"/>
          </a:solidFill>
          <a:latin typeface="Franklin Gothic Demi Cond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§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93750" indent="-271463" algn="l" rtl="0" eaLnBrk="0" fontAlgn="base" hangingPunct="0">
        <a:spcBef>
          <a:spcPct val="20000"/>
        </a:spcBef>
        <a:spcAft>
          <a:spcPct val="0"/>
        </a:spcAft>
        <a:buClr>
          <a:srgbClr val="006666"/>
        </a:buClr>
        <a:buFont typeface="Wingdings" pitchFamily="2" charset="2"/>
        <a:buChar char="§"/>
        <a:defRPr sz="2800">
          <a:solidFill>
            <a:schemeClr val="hlink"/>
          </a:solidFill>
          <a:latin typeface="+mn-lt"/>
        </a:defRPr>
      </a:lvl2pPr>
      <a:lvl3pPr marL="1436688" indent="-363538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ð"/>
        <a:defRPr sz="2400">
          <a:solidFill>
            <a:schemeClr val="hlink"/>
          </a:solidFill>
          <a:latin typeface="+mn-lt"/>
        </a:defRPr>
      </a:lvl3pPr>
      <a:lvl4pPr marL="1844675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hlink"/>
          </a:solidFill>
          <a:latin typeface="+mn-lt"/>
        </a:defRPr>
      </a:lvl4pPr>
      <a:lvl5pPr marL="2252663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5pPr>
      <a:lvl6pPr marL="2709863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6pPr>
      <a:lvl7pPr marL="3167063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7pPr>
      <a:lvl8pPr marL="3624263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8pPr>
      <a:lvl9pPr marL="4081463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hlink"/>
          </a:solidFill>
          <a:latin typeface="+mn-lt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23528" y="404665"/>
            <a:ext cx="8496944" cy="2592287"/>
          </a:xfrm>
          <a:effectLst>
            <a:outerShdw dist="35921" dir="2700000" algn="ctr" rotWithShape="0">
              <a:schemeClr val="tx2">
                <a:alpha val="50000"/>
              </a:schemeClr>
            </a:outerShdw>
          </a:effectLst>
        </p:spPr>
        <p:txBody>
          <a:bodyPr/>
          <a:lstStyle/>
          <a:p>
            <a:r>
              <a:rPr lang="it-IT" sz="4400" b="1" dirty="0" err="1"/>
              <a:t>HitPredictor-Steam</a:t>
            </a:r>
            <a:endParaRPr lang="it-IT" sz="4400" b="1" dirty="0"/>
          </a:p>
        </p:txBody>
      </p:sp>
      <p:pic>
        <p:nvPicPr>
          <p:cNvPr id="31748" name="Picture 34" descr="marchio_unipi_pant541_288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11364" y="5445224"/>
            <a:ext cx="1920875" cy="1020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Rectangle 19"/>
          <p:cNvSpPr>
            <a:spLocks noGrp="1" noChangeArrowheads="1"/>
          </p:cNvSpPr>
          <p:nvPr>
            <p:ph type="subTitle" idx="1"/>
          </p:nvPr>
        </p:nvSpPr>
        <p:spPr>
          <a:xfrm>
            <a:off x="539552" y="3284984"/>
            <a:ext cx="8064500" cy="1812776"/>
          </a:xfrm>
        </p:spPr>
        <p:txBody>
          <a:bodyPr anchor="b"/>
          <a:lstStyle/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2800" b="1" dirty="0">
              <a:latin typeface="Calibri" panose="020F0502020204030204" pitchFamily="34" charset="0"/>
            </a:endParaRPr>
          </a:p>
          <a:p>
            <a:pPr algn="ctr">
              <a:lnSpc>
                <a:spcPct val="90000"/>
              </a:lnSpc>
            </a:pPr>
            <a:endParaRPr lang="en-US" altLang="it-IT" sz="1800" dirty="0"/>
          </a:p>
          <a:p>
            <a:pPr algn="ctr">
              <a:lnSpc>
                <a:spcPct val="90000"/>
              </a:lnSpc>
            </a:pPr>
            <a:endParaRPr lang="en-US" altLang="it-IT" sz="1800" dirty="0"/>
          </a:p>
          <a:p>
            <a:pPr algn="ctr">
              <a:lnSpc>
                <a:spcPct val="90000"/>
              </a:lnSpc>
            </a:pPr>
            <a:endParaRPr lang="en-US" altLang="it-IT" sz="1600" dirty="0"/>
          </a:p>
          <a:p>
            <a:pPr algn="ctr">
              <a:lnSpc>
                <a:spcPct val="90000"/>
              </a:lnSpc>
            </a:pPr>
            <a:endParaRPr lang="en-US" altLang="it-IT" sz="1600" dirty="0"/>
          </a:p>
          <a:p>
            <a:pPr algn="ctr">
              <a:lnSpc>
                <a:spcPct val="90000"/>
              </a:lnSpc>
            </a:pPr>
            <a:endParaRPr lang="en-US" altLang="it-IT" sz="1600" dirty="0"/>
          </a:p>
          <a:p>
            <a:pPr algn="ctr">
              <a:lnSpc>
                <a:spcPct val="90000"/>
              </a:lnSpc>
            </a:pPr>
            <a:endParaRPr lang="en-US" altLang="it-IT" sz="1600" dirty="0"/>
          </a:p>
        </p:txBody>
      </p:sp>
      <p:sp>
        <p:nvSpPr>
          <p:cNvPr id="2" name="TextBox 1"/>
          <p:cNvSpPr txBox="1"/>
          <p:nvPr/>
        </p:nvSpPr>
        <p:spPr>
          <a:xfrm>
            <a:off x="512328" y="3098680"/>
            <a:ext cx="811895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003366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t>Data Mining and Machine Learning</a:t>
            </a:r>
          </a:p>
          <a:p>
            <a:r>
              <a:rPr lang="en-US" sz="3600" dirty="0">
                <a:solidFill>
                  <a:srgbClr val="003366"/>
                </a:solidFill>
                <a:latin typeface="Calibri" panose="020F0502020204030204" pitchFamily="34" charset="0"/>
                <a:cs typeface="Arial" panose="020B0604020202020204" pitchFamily="34" charset="0"/>
              </a:rPr>
              <a:t>Artificial Intelligence and Data Engineering</a:t>
            </a:r>
            <a:endParaRPr lang="it-IT" dirty="0">
              <a:solidFill>
                <a:srgbClr val="003366"/>
              </a:solidFill>
              <a:latin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87448" y="4634101"/>
            <a:ext cx="183396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it-IT" sz="2000" b="1" dirty="0">
                <a:solidFill>
                  <a:srgbClr val="003366"/>
                </a:solidFill>
                <a:latin typeface="Calibri" panose="020F0502020204030204" pitchFamily="34" charset="0"/>
              </a:rPr>
              <a:t>Students</a:t>
            </a:r>
          </a:p>
          <a:p>
            <a:pPr marL="87313" algn="just"/>
            <a:r>
              <a:rPr lang="it-IT" sz="2000" dirty="0">
                <a:solidFill>
                  <a:srgbClr val="003366"/>
                </a:solidFill>
                <a:latin typeface="Calibri" panose="020F0502020204030204" pitchFamily="34" charset="0"/>
              </a:rPr>
              <a:t>Andrea Zanin</a:t>
            </a:r>
          </a:p>
          <a:p>
            <a:pPr marL="87313" algn="just"/>
            <a:r>
              <a:rPr lang="it-IT" sz="2000" dirty="0">
                <a:solidFill>
                  <a:srgbClr val="003366"/>
                </a:solidFill>
                <a:latin typeface="Calibri" panose="020F0502020204030204" pitchFamily="34" charset="0"/>
              </a:rPr>
              <a:t>Pedro Carneiro</a:t>
            </a:r>
            <a:endParaRPr lang="it-IT" sz="2800" dirty="0">
              <a:solidFill>
                <a:srgbClr val="003366"/>
              </a:solidFill>
              <a:latin typeface="Calibri" panose="020F050202020403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84168" y="4591403"/>
            <a:ext cx="29523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it-IT" sz="2000" b="1" dirty="0">
                <a:solidFill>
                  <a:srgbClr val="003366"/>
                </a:solidFill>
                <a:latin typeface="Calibri" panose="020F0502020204030204" pitchFamily="34" charset="0"/>
              </a:rPr>
              <a:t>Professors</a:t>
            </a:r>
          </a:p>
          <a:p>
            <a:pPr marL="87313" algn="just"/>
            <a:r>
              <a:rPr lang="it-IT" sz="2000" dirty="0">
                <a:solidFill>
                  <a:srgbClr val="003366"/>
                </a:solidFill>
                <a:latin typeface="Calibri" panose="020F0502020204030204" pitchFamily="34" charset="0"/>
              </a:rPr>
              <a:t>Francesco </a:t>
            </a:r>
            <a:r>
              <a:rPr lang="it-IT" sz="2000" dirty="0" err="1">
                <a:solidFill>
                  <a:srgbClr val="003366"/>
                </a:solidFill>
                <a:latin typeface="Calibri" panose="020F0502020204030204" pitchFamily="34" charset="0"/>
              </a:rPr>
              <a:t>Marcelloni</a:t>
            </a:r>
            <a:endParaRPr lang="it-IT" sz="2000" dirty="0">
              <a:solidFill>
                <a:srgbClr val="003366"/>
              </a:solidFill>
              <a:latin typeface="Calibri" panose="020F0502020204030204" pitchFamily="34" charset="0"/>
            </a:endParaRPr>
          </a:p>
          <a:p>
            <a:pPr marL="87313" algn="just"/>
            <a:r>
              <a:rPr lang="it-IT" sz="2000" dirty="0">
                <a:solidFill>
                  <a:srgbClr val="003366"/>
                </a:solidFill>
                <a:latin typeface="Calibri" panose="020F0502020204030204" pitchFamily="34" charset="0"/>
              </a:rPr>
              <a:t>Francesco Pistolesi</a:t>
            </a:r>
          </a:p>
          <a:p>
            <a:pPr marL="87313" algn="just"/>
            <a:r>
              <a:rPr lang="it-IT" sz="2000" dirty="0">
                <a:solidFill>
                  <a:srgbClr val="003366"/>
                </a:solidFill>
                <a:latin typeface="Calibri" panose="020F0502020204030204" pitchFamily="34" charset="0"/>
              </a:rPr>
              <a:t>Fabrizio Ruffini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Project </a:t>
            </a:r>
            <a:r>
              <a:rPr lang="it-IT" b="1" dirty="0" err="1"/>
              <a:t>Overview</a:t>
            </a:r>
            <a:r>
              <a:rPr lang="it-IT" b="1" dirty="0"/>
              <a:t> &amp; Market </a:t>
            </a:r>
            <a:r>
              <a:rPr lang="it-IT" b="1" dirty="0" err="1"/>
              <a:t>Context</a:t>
            </a:r>
            <a:endParaRPr lang="it-IT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0825" y="919531"/>
            <a:ext cx="8642350" cy="5761038"/>
          </a:xfrm>
        </p:spPr>
        <p:txBody>
          <a:bodyPr/>
          <a:lstStyle/>
          <a:p>
            <a:r>
              <a:rPr lang="it-IT" sz="2400" dirty="0"/>
              <a:t>The </a:t>
            </a:r>
            <a:r>
              <a:rPr lang="it-IT" sz="2400" dirty="0" err="1"/>
              <a:t>Steam</a:t>
            </a:r>
            <a:r>
              <a:rPr lang="it-IT" sz="2400" dirty="0"/>
              <a:t> PC gaming market </a:t>
            </a:r>
            <a:r>
              <a:rPr lang="it-IT" sz="2400" dirty="0" err="1"/>
              <a:t>sees</a:t>
            </a:r>
            <a:r>
              <a:rPr lang="it-IT" sz="2400" dirty="0"/>
              <a:t> </a:t>
            </a:r>
            <a:r>
              <a:rPr lang="it-IT" sz="2400" dirty="0" err="1"/>
              <a:t>thousands</a:t>
            </a:r>
            <a:r>
              <a:rPr lang="it-IT" sz="2400" dirty="0"/>
              <a:t> of </a:t>
            </a:r>
            <a:r>
              <a:rPr lang="it-IT" sz="2400" dirty="0" err="1"/>
              <a:t>annual</a:t>
            </a:r>
            <a:r>
              <a:rPr lang="it-IT" sz="2400" dirty="0"/>
              <a:t> releases, with commercial performance following a </a:t>
            </a:r>
            <a:r>
              <a:rPr lang="it-IT" sz="2400" dirty="0" err="1"/>
              <a:t>steep</a:t>
            </a:r>
            <a:r>
              <a:rPr lang="it-IT" sz="2400" dirty="0"/>
              <a:t> </a:t>
            </a:r>
            <a:r>
              <a:rPr lang="it-IT" sz="2400" b="1" dirty="0"/>
              <a:t>power-</a:t>
            </a:r>
            <a:r>
              <a:rPr lang="it-IT" sz="2400" b="1" dirty="0" err="1"/>
              <a:t>law</a:t>
            </a:r>
            <a:r>
              <a:rPr lang="it-IT" sz="2400" b="1" dirty="0"/>
              <a:t> </a:t>
            </a:r>
            <a:r>
              <a:rPr lang="it-IT" sz="2400" b="1" dirty="0" err="1"/>
              <a:t>distribution</a:t>
            </a:r>
            <a:endParaRPr lang="it-IT" sz="2400" dirty="0"/>
          </a:p>
          <a:p>
            <a:r>
              <a:rPr lang="it-IT" sz="2400" dirty="0"/>
              <a:t>A </a:t>
            </a:r>
            <a:r>
              <a:rPr lang="it-IT" sz="2400" dirty="0" err="1"/>
              <a:t>tiny</a:t>
            </a:r>
            <a:r>
              <a:rPr lang="it-IT" sz="2400" dirty="0"/>
              <a:t> </a:t>
            </a:r>
            <a:r>
              <a:rPr lang="it-IT" sz="2400" dirty="0" err="1"/>
              <a:t>fraction</a:t>
            </a:r>
            <a:r>
              <a:rPr lang="it-IT" sz="2400" dirty="0"/>
              <a:t> of </a:t>
            </a:r>
            <a:r>
              <a:rPr lang="it-IT" sz="2400" dirty="0" err="1"/>
              <a:t>titles</a:t>
            </a:r>
            <a:r>
              <a:rPr lang="it-IT" sz="2400" dirty="0"/>
              <a:t> </a:t>
            </a:r>
            <a:r>
              <a:rPr lang="it-IT" sz="2400" dirty="0" err="1"/>
              <a:t>capture</a:t>
            </a:r>
            <a:r>
              <a:rPr lang="it-IT" sz="2400" dirty="0"/>
              <a:t> massive adoption; the </a:t>
            </a:r>
            <a:r>
              <a:rPr lang="it-IT" sz="2400" dirty="0" err="1"/>
              <a:t>vast</a:t>
            </a:r>
            <a:r>
              <a:rPr lang="it-IT" sz="2400" dirty="0"/>
              <a:t> </a:t>
            </a:r>
            <a:r>
              <a:rPr lang="it-IT" sz="2400" dirty="0" err="1"/>
              <a:t>majority</a:t>
            </a:r>
            <a:r>
              <a:rPr lang="it-IT" sz="2400" dirty="0"/>
              <a:t> </a:t>
            </a:r>
            <a:r>
              <a:rPr lang="it-IT" sz="2400" dirty="0" err="1"/>
              <a:t>remain</a:t>
            </a:r>
            <a:r>
              <a:rPr lang="it-IT" sz="2400" dirty="0"/>
              <a:t> in the long-</a:t>
            </a:r>
            <a:r>
              <a:rPr lang="it-IT" sz="2400" dirty="0" err="1"/>
              <a:t>tail</a:t>
            </a:r>
            <a:r>
              <a:rPr lang="it-IT" sz="2400" dirty="0"/>
              <a:t> with minimal sales</a:t>
            </a:r>
          </a:p>
          <a:p>
            <a:r>
              <a:rPr lang="it-IT" sz="2400" b="1" dirty="0" err="1"/>
              <a:t>HitPredictor-Steam</a:t>
            </a:r>
            <a:r>
              <a:rPr lang="it-IT" sz="2400" dirty="0"/>
              <a:t> </a:t>
            </a:r>
            <a:r>
              <a:rPr lang="it-IT" sz="2400" dirty="0" err="1"/>
              <a:t>delivers</a:t>
            </a:r>
            <a:r>
              <a:rPr lang="it-IT" sz="2400" dirty="0"/>
              <a:t> an ML pipeline to </a:t>
            </a:r>
            <a:r>
              <a:rPr lang="it-IT" sz="2400" dirty="0" err="1"/>
              <a:t>predict</a:t>
            </a:r>
            <a:r>
              <a:rPr lang="it-IT" sz="2400" dirty="0"/>
              <a:t> commercial adoption </a:t>
            </a:r>
            <a:r>
              <a:rPr lang="it-IT" sz="2400" dirty="0" err="1"/>
              <a:t>trajectories</a:t>
            </a:r>
            <a:r>
              <a:rPr lang="it-IT" sz="2400" dirty="0"/>
              <a:t> ("hit status") </a:t>
            </a:r>
            <a:r>
              <a:rPr lang="it-IT" sz="2400" dirty="0" err="1"/>
              <a:t>using</a:t>
            </a:r>
            <a:r>
              <a:rPr lang="it-IT" sz="2400" dirty="0"/>
              <a:t> </a:t>
            </a:r>
            <a:r>
              <a:rPr lang="it-IT" sz="2400" dirty="0" err="1"/>
              <a:t>storefront</a:t>
            </a:r>
            <a:r>
              <a:rPr lang="it-IT" sz="2400" dirty="0"/>
              <a:t> metadata</a:t>
            </a:r>
          </a:p>
          <a:p>
            <a:r>
              <a:rPr lang="it-IT" sz="2400" dirty="0" err="1"/>
              <a:t>Primary</a:t>
            </a:r>
            <a:r>
              <a:rPr lang="it-IT" sz="2400" dirty="0"/>
              <a:t> </a:t>
            </a:r>
            <a:r>
              <a:rPr lang="it-IT" sz="2400" dirty="0" err="1"/>
              <a:t>objective</a:t>
            </a:r>
            <a:r>
              <a:rPr lang="it-IT" sz="2400" dirty="0"/>
              <a:t>: </a:t>
            </a:r>
            <a:r>
              <a:rPr lang="it-IT" sz="2400" dirty="0" err="1"/>
              <a:t>equip</a:t>
            </a:r>
            <a:r>
              <a:rPr lang="it-IT" sz="2400" dirty="0"/>
              <a:t> </a:t>
            </a:r>
            <a:r>
              <a:rPr lang="it-IT" sz="2400" dirty="0" err="1"/>
              <a:t>independent</a:t>
            </a:r>
            <a:r>
              <a:rPr lang="it-IT" sz="2400" dirty="0"/>
              <a:t> developers and publishers with </a:t>
            </a:r>
            <a:r>
              <a:rPr lang="it-IT" sz="2400" b="1" dirty="0"/>
              <a:t>data-</a:t>
            </a:r>
            <a:r>
              <a:rPr lang="it-IT" sz="2400" b="1" dirty="0" err="1"/>
              <a:t>driven</a:t>
            </a:r>
            <a:r>
              <a:rPr lang="it-IT" sz="2400" b="1" dirty="0"/>
              <a:t> </a:t>
            </a:r>
            <a:r>
              <a:rPr lang="it-IT" sz="2400" b="1" dirty="0" err="1"/>
              <a:t>decision</a:t>
            </a:r>
            <a:r>
              <a:rPr lang="it-IT" sz="2400" b="1" dirty="0"/>
              <a:t> tools</a:t>
            </a:r>
            <a:r>
              <a:rPr lang="it-IT" sz="2400" dirty="0"/>
              <a:t> </a:t>
            </a:r>
            <a:r>
              <a:rPr lang="it-IT" sz="2400" dirty="0" err="1"/>
              <a:t>prior</a:t>
            </a:r>
            <a:r>
              <a:rPr lang="it-IT" sz="2400" dirty="0"/>
              <a:t> to capital </a:t>
            </a:r>
            <a:r>
              <a:rPr lang="it-IT" sz="2400" dirty="0" err="1"/>
              <a:t>allocation</a:t>
            </a:r>
            <a:endParaRPr lang="it-IT" sz="2400" dirty="0"/>
          </a:p>
        </p:txBody>
      </p:sp>
      <p:sp>
        <p:nvSpPr>
          <p:cNvPr id="4" name="Segnaposto piè di pagina 3"/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2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7034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Dataset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/>
              <a:t>29,235 </a:t>
            </a:r>
            <a:r>
              <a:rPr lang="it-IT" sz="2400" b="1" dirty="0" err="1"/>
              <a:t>unique</a:t>
            </a:r>
            <a:r>
              <a:rPr lang="it-IT" sz="2400" b="1" dirty="0"/>
              <a:t> game </a:t>
            </a:r>
            <a:r>
              <a:rPr lang="it-IT" sz="2400" b="1" dirty="0" err="1"/>
              <a:t>records</a:t>
            </a:r>
            <a:r>
              <a:rPr lang="it-IT" sz="2400" dirty="0"/>
              <a:t> from </a:t>
            </a:r>
            <a:r>
              <a:rPr lang="it-IT" sz="2400" dirty="0" err="1"/>
              <a:t>raw</a:t>
            </a:r>
            <a:r>
              <a:rPr lang="it-IT" sz="2400" dirty="0"/>
              <a:t> </a:t>
            </a:r>
            <a:r>
              <a:rPr lang="it-IT" sz="2400" dirty="0" err="1"/>
              <a:t>Steam</a:t>
            </a:r>
            <a:r>
              <a:rPr lang="it-IT" sz="2400" dirty="0"/>
              <a:t> </a:t>
            </a:r>
            <a:r>
              <a:rPr lang="it-IT" sz="2400" dirty="0" err="1"/>
              <a:t>storefront</a:t>
            </a:r>
            <a:r>
              <a:rPr lang="it-IT" sz="2400" dirty="0"/>
              <a:t> endpoints</a:t>
            </a:r>
          </a:p>
          <a:p>
            <a:r>
              <a:rPr lang="it-IT" sz="2400" b="1" dirty="0"/>
              <a:t>steamspy_data.csv:</a:t>
            </a:r>
            <a:r>
              <a:rPr lang="it-IT" sz="2400" dirty="0"/>
              <a:t> ownership </a:t>
            </a:r>
            <a:r>
              <a:rPr lang="it-IT" sz="2400" dirty="0" err="1"/>
              <a:t>interval</a:t>
            </a:r>
            <a:r>
              <a:rPr lang="it-IT" sz="2400" dirty="0"/>
              <a:t> </a:t>
            </a:r>
            <a:r>
              <a:rPr lang="it-IT" sz="2400" dirty="0" err="1"/>
              <a:t>estimates</a:t>
            </a:r>
            <a:r>
              <a:rPr lang="it-IT" sz="2400" dirty="0"/>
              <a:t>, community tags, pricing, developer/publisher metadata (20 </a:t>
            </a:r>
            <a:r>
              <a:rPr lang="it-IT" sz="2400" dirty="0" err="1"/>
              <a:t>attributes</a:t>
            </a:r>
            <a:r>
              <a:rPr lang="it-IT" sz="2400" dirty="0"/>
              <a:t>)</a:t>
            </a:r>
          </a:p>
          <a:p>
            <a:r>
              <a:rPr lang="it-IT" sz="2400" b="1" dirty="0"/>
              <a:t>steam_app_data.csv:</a:t>
            </a:r>
            <a:r>
              <a:rPr lang="it-IT" sz="2400" dirty="0"/>
              <a:t> technical system </a:t>
            </a:r>
            <a:r>
              <a:rPr lang="it-IT" sz="2400" dirty="0" err="1"/>
              <a:t>specs</a:t>
            </a:r>
            <a:r>
              <a:rPr lang="it-IT" sz="2400" dirty="0"/>
              <a:t>, </a:t>
            </a:r>
            <a:r>
              <a:rPr lang="it-IT" sz="2400" dirty="0" err="1"/>
              <a:t>language</a:t>
            </a:r>
            <a:r>
              <a:rPr lang="it-IT" sz="2400" dirty="0"/>
              <a:t> </a:t>
            </a:r>
            <a:r>
              <a:rPr lang="it-IT" sz="2400" dirty="0" err="1"/>
              <a:t>localizations</a:t>
            </a:r>
            <a:r>
              <a:rPr lang="it-IT" sz="2400" dirty="0"/>
              <a:t>, release </a:t>
            </a:r>
            <a:r>
              <a:rPr lang="it-IT" sz="2400" dirty="0" err="1"/>
              <a:t>dates</a:t>
            </a:r>
            <a:r>
              <a:rPr lang="it-IT" sz="2400" dirty="0"/>
              <a:t>, </a:t>
            </a:r>
            <a:r>
              <a:rPr lang="it-IT" sz="2400" dirty="0" err="1"/>
              <a:t>category</a:t>
            </a:r>
            <a:r>
              <a:rPr lang="it-IT" sz="2400" dirty="0"/>
              <a:t> </a:t>
            </a:r>
            <a:r>
              <a:rPr lang="it-IT" sz="2400" dirty="0" err="1"/>
              <a:t>classifications</a:t>
            </a:r>
            <a:endParaRPr lang="it-IT" sz="2400" dirty="0"/>
          </a:p>
          <a:p>
            <a:r>
              <a:rPr lang="it-IT" sz="2400" b="1" dirty="0"/>
              <a:t>Target </a:t>
            </a:r>
            <a:r>
              <a:rPr lang="it-IT" sz="2400" b="1" dirty="0" err="1"/>
              <a:t>Variable</a:t>
            </a:r>
            <a:r>
              <a:rPr lang="it-IT" sz="2400" b="1" dirty="0"/>
              <a:t>:</a:t>
            </a:r>
            <a:r>
              <a:rPr lang="it-IT" sz="2400" dirty="0"/>
              <a:t> </a:t>
            </a:r>
            <a:r>
              <a:rPr lang="it-IT" sz="2400" dirty="0" err="1"/>
              <a:t>SteamSpy</a:t>
            </a:r>
            <a:r>
              <a:rPr lang="it-IT" sz="2400" dirty="0"/>
              <a:t> ownership </a:t>
            </a:r>
            <a:r>
              <a:rPr lang="it-IT" sz="2400" dirty="0" err="1"/>
              <a:t>estimates</a:t>
            </a:r>
            <a:r>
              <a:rPr lang="it-IT" sz="2400" dirty="0"/>
              <a:t> → </a:t>
            </a:r>
            <a:r>
              <a:rPr lang="it-IT" sz="2400" dirty="0" err="1"/>
              <a:t>engineered</a:t>
            </a:r>
            <a:r>
              <a:rPr lang="it-IT" sz="2400" dirty="0"/>
              <a:t> </a:t>
            </a:r>
            <a:r>
              <a:rPr lang="it-IT" sz="2400" dirty="0" err="1"/>
              <a:t>into</a:t>
            </a:r>
            <a:r>
              <a:rPr lang="it-IT" sz="2400" dirty="0"/>
              <a:t> 5 </a:t>
            </a:r>
            <a:r>
              <a:rPr lang="it-IT" sz="2400" dirty="0" err="1"/>
              <a:t>ordinal</a:t>
            </a:r>
            <a:r>
              <a:rPr lang="it-IT" sz="2400" dirty="0"/>
              <a:t> macro-</a:t>
            </a:r>
            <a:r>
              <a:rPr lang="it-IT" sz="2400" dirty="0" err="1"/>
              <a:t>tiers</a:t>
            </a:r>
            <a:endParaRPr lang="it-IT" sz="2400" dirty="0"/>
          </a:p>
          <a:p>
            <a:endParaRPr lang="it-IT" sz="2400" dirty="0"/>
          </a:p>
        </p:txBody>
      </p:sp>
      <p:sp>
        <p:nvSpPr>
          <p:cNvPr id="4" name="Segnaposto piè di pagina 3"/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3</a:t>
            </a:fld>
            <a:endParaRPr lang="it-IT" sz="1100" dirty="0">
              <a:latin typeface="Calibri" panose="020F0502020204030204" pitchFamily="34" charset="0"/>
            </a:endParaRPr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7D4086A1-BEA8-1A5D-F109-E771B6851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405782"/>
              </p:ext>
            </p:extLst>
          </p:nvPr>
        </p:nvGraphicFramePr>
        <p:xfrm>
          <a:off x="1524000" y="4205041"/>
          <a:ext cx="6096000" cy="2225040"/>
        </p:xfrm>
        <a:graphic>
          <a:graphicData uri="http://schemas.openxmlformats.org/drawingml/2006/table">
            <a:tbl>
              <a:tblPr firstRow="1" bandRow="1">
                <a:effectLst/>
                <a:tableStyleId>{284E427A-3D55-4303-BF80-6455036E1DE7}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396911229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33824294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8291247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Tier</a:t>
                      </a:r>
                    </a:p>
                  </a:txBody>
                  <a:tcPr>
                    <a:solidFill>
                      <a:srgbClr val="4C4C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Players range</a:t>
                      </a:r>
                    </a:p>
                  </a:txBody>
                  <a:tcPr>
                    <a:solidFill>
                      <a:srgbClr val="4C4CA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dirty="0"/>
                        <a:t>Label</a:t>
                      </a:r>
                    </a:p>
                  </a:txBody>
                  <a:tcPr>
                    <a:solidFill>
                      <a:srgbClr val="4C4C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26809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Tier 0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0 – 20,000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Indie Long-Tail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93189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Tier 1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20,000 – 100,000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Healthy</a:t>
                      </a:r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 Niche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630194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Tier 2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100,000 – 500,000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 err="1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Mid</a:t>
                      </a:r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-Market Success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227585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Tier 3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500,000 – 2,000,000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Major Success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57523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Tier 4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2,000,000 +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it-IT" sz="1400" dirty="0">
                          <a:solidFill>
                            <a:schemeClr val="bg2">
                              <a:lumMod val="20000"/>
                              <a:lumOff val="80000"/>
                            </a:schemeClr>
                          </a:solidFill>
                        </a:rPr>
                        <a:t>Hit</a:t>
                      </a:r>
                    </a:p>
                  </a:txBody>
                  <a:tcPr>
                    <a:gradFill>
                      <a:gsLst>
                        <a:gs pos="19000">
                          <a:srgbClr val="4C4CA6"/>
                        </a:gs>
                        <a:gs pos="72000">
                          <a:srgbClr val="5455E1"/>
                        </a:gs>
                        <a:gs pos="54000">
                          <a:srgbClr val="5555C2"/>
                        </a:gs>
                        <a:gs pos="90000">
                          <a:srgbClr val="5555FF"/>
                        </a:gs>
                      </a:gsLst>
                      <a:lin ang="5400000" scaled="1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1707163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8626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Data </a:t>
            </a:r>
            <a:r>
              <a:rPr lang="it-IT" b="1" dirty="0" err="1"/>
              <a:t>Cleaning</a:t>
            </a:r>
            <a:r>
              <a:rPr lang="it-IT" b="1" dirty="0"/>
              <a:t> and Pre-Processing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 err="1"/>
              <a:t>Storefront</a:t>
            </a:r>
            <a:r>
              <a:rPr lang="it-IT" sz="2400" b="1" dirty="0"/>
              <a:t> </a:t>
            </a:r>
            <a:r>
              <a:rPr lang="it-IT" sz="2400" b="1" dirty="0" err="1"/>
              <a:t>Merging</a:t>
            </a:r>
            <a:r>
              <a:rPr lang="it-IT" sz="2400" b="1" dirty="0"/>
              <a:t>:</a:t>
            </a:r>
            <a:r>
              <a:rPr lang="it-IT" sz="2400" dirty="0"/>
              <a:t> </a:t>
            </a:r>
            <a:r>
              <a:rPr lang="it-IT" sz="2400" dirty="0" err="1"/>
              <a:t>Steam</a:t>
            </a:r>
            <a:r>
              <a:rPr lang="it-IT" sz="2400" dirty="0"/>
              <a:t> Store metadata and </a:t>
            </a:r>
            <a:r>
              <a:rPr lang="it-IT" sz="2400" dirty="0" err="1"/>
              <a:t>SteamSpy</a:t>
            </a:r>
            <a:r>
              <a:rPr lang="it-IT" sz="2400" dirty="0"/>
              <a:t> </a:t>
            </a:r>
            <a:r>
              <a:rPr lang="it-IT" sz="2400" dirty="0" err="1"/>
              <a:t>statistics</a:t>
            </a:r>
            <a:r>
              <a:rPr lang="it-IT" sz="2400" dirty="0"/>
              <a:t> </a:t>
            </a:r>
            <a:r>
              <a:rPr lang="it-IT" sz="2400" dirty="0" err="1"/>
              <a:t>joined</a:t>
            </a:r>
            <a:r>
              <a:rPr lang="it-IT" sz="2400" dirty="0"/>
              <a:t> via </a:t>
            </a:r>
            <a:r>
              <a:rPr lang="it-IT" sz="2400" dirty="0" err="1"/>
              <a:t>appid</a:t>
            </a:r>
            <a:r>
              <a:rPr lang="it-IT" sz="2400" dirty="0"/>
              <a:t>; </a:t>
            </a:r>
            <a:r>
              <a:rPr lang="it-IT" sz="2400" dirty="0" err="1"/>
              <a:t>DLCs</a:t>
            </a:r>
            <a:r>
              <a:rPr lang="it-IT" sz="2400" dirty="0"/>
              <a:t>, software, and </a:t>
            </a:r>
            <a:r>
              <a:rPr lang="it-IT" sz="2400" dirty="0" err="1"/>
              <a:t>videos</a:t>
            </a:r>
            <a:r>
              <a:rPr lang="it-IT" sz="2400" dirty="0"/>
              <a:t> </a:t>
            </a:r>
            <a:r>
              <a:rPr lang="it-IT" sz="2400" dirty="0" err="1"/>
              <a:t>dropped</a:t>
            </a:r>
            <a:endParaRPr lang="it-IT" sz="2400" dirty="0"/>
          </a:p>
          <a:p>
            <a:r>
              <a:rPr lang="it-IT" sz="2400" b="1" dirty="0"/>
              <a:t>Hardware </a:t>
            </a:r>
            <a:r>
              <a:rPr lang="it-IT" sz="2400" b="1" dirty="0" err="1"/>
              <a:t>Extraction</a:t>
            </a:r>
            <a:r>
              <a:rPr lang="it-IT" sz="2400" b="1" dirty="0"/>
              <a:t>:</a:t>
            </a:r>
            <a:r>
              <a:rPr lang="it-IT" sz="2400" dirty="0"/>
              <a:t> RAM </a:t>
            </a:r>
            <a:r>
              <a:rPr lang="it-IT" sz="2400" dirty="0" err="1"/>
              <a:t>specs</a:t>
            </a:r>
            <a:r>
              <a:rPr lang="it-IT" sz="2400" dirty="0"/>
              <a:t> </a:t>
            </a:r>
            <a:r>
              <a:rPr lang="it-IT" sz="2400" dirty="0" err="1"/>
              <a:t>parsed</a:t>
            </a:r>
            <a:r>
              <a:rPr lang="it-IT" sz="2400" dirty="0"/>
              <a:t> to GB; </a:t>
            </a:r>
            <a:r>
              <a:rPr lang="it-IT" sz="2400" dirty="0" err="1"/>
              <a:t>binary</a:t>
            </a:r>
            <a:r>
              <a:rPr lang="it-IT" sz="2400" dirty="0"/>
              <a:t> CPU/GPU </a:t>
            </a:r>
            <a:r>
              <a:rPr lang="it-IT" sz="2400" dirty="0" err="1"/>
              <a:t>tier</a:t>
            </a:r>
            <a:r>
              <a:rPr lang="it-IT" sz="2400" dirty="0"/>
              <a:t> </a:t>
            </a:r>
            <a:r>
              <a:rPr lang="it-IT" sz="2400" dirty="0" err="1"/>
              <a:t>indicators</a:t>
            </a:r>
            <a:r>
              <a:rPr lang="it-IT" sz="2400" dirty="0"/>
              <a:t> </a:t>
            </a:r>
            <a:r>
              <a:rPr lang="it-IT" sz="2400" dirty="0" err="1"/>
              <a:t>derived</a:t>
            </a:r>
            <a:r>
              <a:rPr lang="it-IT" sz="2400" dirty="0"/>
              <a:t> via keyword matching (i5, i7, RTX, GTX…)</a:t>
            </a:r>
          </a:p>
          <a:p>
            <a:r>
              <a:rPr lang="it-IT" sz="2400" b="1" dirty="0"/>
              <a:t>Quality Filtering:</a:t>
            </a:r>
            <a:r>
              <a:rPr lang="it-IT" sz="2400" dirty="0"/>
              <a:t> CJK/</a:t>
            </a:r>
            <a:r>
              <a:rPr lang="it-IT" sz="2400" dirty="0" err="1"/>
              <a:t>Cyrillic</a:t>
            </a:r>
            <a:r>
              <a:rPr lang="it-IT" sz="2400" dirty="0"/>
              <a:t> </a:t>
            </a:r>
            <a:r>
              <a:rPr lang="it-IT" sz="2400" dirty="0" err="1"/>
              <a:t>unicode</a:t>
            </a:r>
            <a:r>
              <a:rPr lang="it-IT" sz="2400" dirty="0"/>
              <a:t> tags </a:t>
            </a:r>
            <a:r>
              <a:rPr lang="it-IT" sz="2400" dirty="0" err="1"/>
              <a:t>purged</a:t>
            </a:r>
            <a:r>
              <a:rPr lang="it-IT" sz="2400" dirty="0"/>
              <a:t>; NaN </a:t>
            </a:r>
            <a:r>
              <a:rPr lang="it-IT" sz="2400" dirty="0" err="1"/>
              <a:t>imputation</a:t>
            </a:r>
            <a:r>
              <a:rPr lang="it-IT" sz="2400" dirty="0"/>
              <a:t> on </a:t>
            </a:r>
            <a:r>
              <a:rPr lang="it-IT" sz="2400" dirty="0" err="1"/>
              <a:t>numeric</a:t>
            </a:r>
            <a:r>
              <a:rPr lang="it-IT" sz="2400" dirty="0"/>
              <a:t> features; </a:t>
            </a:r>
            <a:r>
              <a:rPr lang="it-IT" sz="2400" dirty="0" err="1"/>
              <a:t>boolean</a:t>
            </a:r>
            <a:r>
              <a:rPr lang="it-IT" sz="2400" dirty="0"/>
              <a:t> flags </a:t>
            </a:r>
            <a:r>
              <a:rPr lang="it-IT" sz="2400" dirty="0" err="1"/>
              <a:t>clipped</a:t>
            </a:r>
            <a:r>
              <a:rPr lang="it-IT" sz="2400" dirty="0"/>
              <a:t> to [0,1]</a:t>
            </a:r>
          </a:p>
          <a:p>
            <a:r>
              <a:rPr lang="it-IT" sz="2400" b="1" dirty="0"/>
              <a:t>Text </a:t>
            </a:r>
            <a:r>
              <a:rPr lang="it-IT" sz="2400" b="1" dirty="0" err="1"/>
              <a:t>Vectorization</a:t>
            </a:r>
            <a:r>
              <a:rPr lang="it-IT" sz="2400" b="1" dirty="0"/>
              <a:t>:</a:t>
            </a:r>
            <a:r>
              <a:rPr lang="it-IT" sz="2400" dirty="0"/>
              <a:t> TF-IDF + deep semantic </a:t>
            </a:r>
            <a:r>
              <a:rPr lang="it-IT" sz="2400" dirty="0" err="1"/>
              <a:t>embeddings</a:t>
            </a:r>
            <a:r>
              <a:rPr lang="it-IT" sz="2400" dirty="0"/>
              <a:t> via </a:t>
            </a:r>
            <a:r>
              <a:rPr lang="it-IT" sz="2400" dirty="0" err="1"/>
              <a:t>SentenceTransformer</a:t>
            </a:r>
            <a:r>
              <a:rPr lang="it-IT" sz="2400" dirty="0"/>
              <a:t>('all-mpnet-base-v2'), </a:t>
            </a:r>
            <a:r>
              <a:rPr lang="it-IT" sz="2400" dirty="0" err="1"/>
              <a:t>compressed</a:t>
            </a:r>
            <a:r>
              <a:rPr lang="it-IT" sz="2400" dirty="0"/>
              <a:t> with  PLS-DA</a:t>
            </a:r>
          </a:p>
          <a:p>
            <a:r>
              <a:rPr lang="it-IT" sz="2400" b="1" dirty="0"/>
              <a:t>Pre/Post-</a:t>
            </a:r>
            <a:r>
              <a:rPr lang="it-IT" sz="2400" b="1" dirty="0" err="1"/>
              <a:t>Launch</a:t>
            </a:r>
            <a:r>
              <a:rPr lang="it-IT" sz="2400" b="1" dirty="0"/>
              <a:t> </a:t>
            </a:r>
            <a:r>
              <a:rPr lang="it-IT" sz="2400" b="1" dirty="0" err="1"/>
              <a:t>Bifurcation</a:t>
            </a:r>
            <a:r>
              <a:rPr lang="it-IT" sz="2400" b="1" dirty="0"/>
              <a:t>:</a:t>
            </a:r>
            <a:r>
              <a:rPr lang="it-IT" sz="2400" dirty="0"/>
              <a:t> CCU, </a:t>
            </a:r>
            <a:r>
              <a:rPr lang="it-IT" sz="2400" dirty="0" err="1"/>
              <a:t>playtime</a:t>
            </a:r>
            <a:r>
              <a:rPr lang="it-IT" sz="2400" dirty="0"/>
              <a:t>, reviews </a:t>
            </a:r>
            <a:r>
              <a:rPr lang="it-IT" sz="2400" dirty="0" err="1"/>
              <a:t>removed</a:t>
            </a:r>
            <a:r>
              <a:rPr lang="it-IT" sz="2400" dirty="0"/>
              <a:t> in Pre-</a:t>
            </a:r>
            <a:r>
              <a:rPr lang="it-IT" sz="2400" dirty="0" err="1"/>
              <a:t>Launch</a:t>
            </a:r>
            <a:r>
              <a:rPr lang="it-IT" sz="2400" dirty="0"/>
              <a:t> Mode</a:t>
            </a:r>
          </a:p>
        </p:txBody>
      </p:sp>
      <p:sp>
        <p:nvSpPr>
          <p:cNvPr id="4" name="Segnaposto piè di pagina 3"/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4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466360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0B5AB1-6649-DCFF-1EAD-A96C9B42F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DE0C4E-FDA5-7E98-A61C-063175888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Class </a:t>
            </a:r>
            <a:r>
              <a:rPr lang="it-IT" b="1" dirty="0" err="1"/>
              <a:t>Imbalance</a:t>
            </a:r>
            <a:r>
              <a:rPr lang="it-IT" b="1" dirty="0"/>
              <a:t> </a:t>
            </a:r>
            <a:r>
              <a:rPr lang="it-IT" b="1" dirty="0" err="1"/>
              <a:t>Resolution</a:t>
            </a:r>
            <a:endParaRPr lang="it-IT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99558-68F9-F1C5-691E-D0A61544A8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dirty="0"/>
              <a:t>Over </a:t>
            </a:r>
            <a:r>
              <a:rPr lang="it-IT" sz="2400" b="1" dirty="0"/>
              <a:t>69% of games</a:t>
            </a:r>
            <a:r>
              <a:rPr lang="it-IT" sz="2400" dirty="0"/>
              <a:t> </a:t>
            </a:r>
            <a:r>
              <a:rPr lang="it-IT" sz="2400" dirty="0" err="1"/>
              <a:t>reside</a:t>
            </a:r>
            <a:r>
              <a:rPr lang="it-IT" sz="2400" dirty="0"/>
              <a:t> in Tier 0 —&gt; </a:t>
            </a:r>
            <a:r>
              <a:rPr lang="it-IT" sz="2400" dirty="0" err="1"/>
              <a:t>extreme</a:t>
            </a:r>
            <a:r>
              <a:rPr lang="it-IT" sz="2400" dirty="0"/>
              <a:t> power-</a:t>
            </a:r>
            <a:r>
              <a:rPr lang="it-IT" sz="2400" dirty="0" err="1"/>
              <a:t>law</a:t>
            </a:r>
            <a:r>
              <a:rPr lang="it-IT" sz="2400" dirty="0"/>
              <a:t> </a:t>
            </a:r>
            <a:r>
              <a:rPr lang="it-IT" sz="2400" dirty="0" err="1"/>
              <a:t>imbalance</a:t>
            </a:r>
            <a:endParaRPr lang="it-IT" sz="2400" dirty="0"/>
          </a:p>
          <a:p>
            <a:r>
              <a:rPr lang="it-IT" sz="2400" b="1" dirty="0"/>
              <a:t>Dynamic </a:t>
            </a:r>
            <a:r>
              <a:rPr lang="it-IT" sz="2400" b="1" dirty="0" err="1"/>
              <a:t>Majority</a:t>
            </a:r>
            <a:r>
              <a:rPr lang="it-IT" sz="2400" b="1" dirty="0"/>
              <a:t> </a:t>
            </a:r>
            <a:r>
              <a:rPr lang="it-IT" sz="2400" b="1" dirty="0" err="1"/>
              <a:t>Undersampling</a:t>
            </a:r>
            <a:r>
              <a:rPr lang="it-IT" sz="2400" b="1" dirty="0"/>
              <a:t>:</a:t>
            </a:r>
            <a:r>
              <a:rPr lang="it-IT" sz="2400" dirty="0"/>
              <a:t> </a:t>
            </a:r>
            <a:r>
              <a:rPr lang="it-IT" sz="2400" dirty="0" err="1"/>
              <a:t>adaptive</a:t>
            </a:r>
            <a:r>
              <a:rPr lang="it-IT" sz="2400" dirty="0"/>
              <a:t> ratio </a:t>
            </a:r>
            <a:r>
              <a:rPr lang="it-IT" sz="2400" dirty="0" err="1"/>
              <a:t>caps</a:t>
            </a:r>
            <a:r>
              <a:rPr lang="it-IT" sz="2400" dirty="0"/>
              <a:t> Class 0 to 25% of training </a:t>
            </a:r>
            <a:r>
              <a:rPr lang="it-IT" sz="2400" dirty="0" err="1"/>
              <a:t>fold</a:t>
            </a:r>
            <a:r>
              <a:rPr lang="it-IT" sz="2400" dirty="0"/>
              <a:t> size</a:t>
            </a:r>
          </a:p>
          <a:p>
            <a:r>
              <a:rPr lang="it-IT" sz="2400" b="1" dirty="0"/>
              <a:t>SMOTENC:</a:t>
            </a:r>
            <a:r>
              <a:rPr lang="it-IT" sz="2400" dirty="0"/>
              <a:t> </a:t>
            </a:r>
            <a:r>
              <a:rPr lang="it-IT" sz="2400" dirty="0" err="1"/>
              <a:t>synthetic</a:t>
            </a:r>
            <a:r>
              <a:rPr lang="it-IT" sz="2400" dirty="0"/>
              <a:t> </a:t>
            </a:r>
            <a:r>
              <a:rPr lang="it-IT" sz="2400" dirty="0" err="1"/>
              <a:t>minority</a:t>
            </a:r>
            <a:r>
              <a:rPr lang="it-IT" sz="2400" dirty="0"/>
              <a:t> </a:t>
            </a:r>
            <a:r>
              <a:rPr lang="it-IT" sz="2400" dirty="0" err="1"/>
              <a:t>oversampling</a:t>
            </a:r>
            <a:r>
              <a:rPr lang="it-IT" sz="2400" dirty="0"/>
              <a:t> for </a:t>
            </a:r>
            <a:r>
              <a:rPr lang="it-IT" sz="2400" dirty="0" err="1"/>
              <a:t>mid</a:t>
            </a:r>
            <a:r>
              <a:rPr lang="it-IT" sz="2400" dirty="0"/>
              <a:t>/high-</a:t>
            </a:r>
            <a:r>
              <a:rPr lang="it-IT" sz="2400" dirty="0" err="1"/>
              <a:t>tier</a:t>
            </a:r>
            <a:r>
              <a:rPr lang="it-IT" sz="2400" dirty="0"/>
              <a:t> classes (handles mixed </a:t>
            </a:r>
            <a:r>
              <a:rPr lang="it-IT" sz="2400" dirty="0" err="1"/>
              <a:t>continuous</a:t>
            </a:r>
            <a:r>
              <a:rPr lang="it-IT" sz="2400" dirty="0"/>
              <a:t> + </a:t>
            </a:r>
            <a:r>
              <a:rPr lang="it-IT" sz="2400" dirty="0" err="1"/>
              <a:t>categorical</a:t>
            </a:r>
            <a:r>
              <a:rPr lang="it-IT" sz="2400" dirty="0"/>
              <a:t> features)</a:t>
            </a:r>
          </a:p>
          <a:p>
            <a:r>
              <a:rPr lang="it-IT" sz="2400" b="1" dirty="0"/>
              <a:t>Tomek Links:</a:t>
            </a:r>
            <a:r>
              <a:rPr lang="it-IT" sz="2400" dirty="0"/>
              <a:t> </a:t>
            </a:r>
            <a:r>
              <a:rPr lang="it-IT" sz="2400" dirty="0" err="1"/>
              <a:t>boundary</a:t>
            </a:r>
            <a:r>
              <a:rPr lang="it-IT" sz="2400" dirty="0"/>
              <a:t> </a:t>
            </a:r>
            <a:r>
              <a:rPr lang="it-IT" sz="2400" dirty="0" err="1"/>
              <a:t>cleaning</a:t>
            </a:r>
            <a:r>
              <a:rPr lang="it-IT" sz="2400" dirty="0"/>
              <a:t> to </a:t>
            </a:r>
            <a:r>
              <a:rPr lang="it-IT" sz="2400" dirty="0" err="1"/>
              <a:t>remove</a:t>
            </a:r>
            <a:r>
              <a:rPr lang="it-IT" sz="2400" dirty="0"/>
              <a:t> </a:t>
            </a:r>
            <a:r>
              <a:rPr lang="it-IT" sz="2400" dirty="0" err="1"/>
              <a:t>ambiguous</a:t>
            </a:r>
            <a:r>
              <a:rPr lang="it-IT" sz="2400" dirty="0"/>
              <a:t> </a:t>
            </a:r>
            <a:r>
              <a:rPr lang="it-IT" sz="2400" dirty="0" err="1"/>
              <a:t>overlapping</a:t>
            </a:r>
            <a:r>
              <a:rPr lang="it-IT" sz="2400" dirty="0"/>
              <a:t> </a:t>
            </a:r>
            <a:r>
              <a:rPr lang="it-IT" sz="2400" dirty="0" err="1"/>
              <a:t>instance</a:t>
            </a:r>
            <a:r>
              <a:rPr lang="it-IT" sz="2400" dirty="0"/>
              <a:t> </a:t>
            </a:r>
            <a:r>
              <a:rPr lang="it-IT" sz="2400" dirty="0" err="1"/>
              <a:t>pairs</a:t>
            </a:r>
            <a:endParaRPr lang="it-IT" sz="2400" dirty="0"/>
          </a:p>
          <a:p>
            <a:r>
              <a:rPr lang="it-IT" sz="2400" b="1" dirty="0" err="1"/>
              <a:t>Empirical</a:t>
            </a:r>
            <a:r>
              <a:rPr lang="it-IT" sz="2400" b="1" dirty="0"/>
              <a:t> </a:t>
            </a:r>
            <a:r>
              <a:rPr lang="it-IT" sz="2400" b="1" dirty="0" err="1"/>
              <a:t>finding</a:t>
            </a:r>
            <a:r>
              <a:rPr lang="it-IT" sz="2400" b="1" dirty="0"/>
              <a:t>:</a:t>
            </a:r>
            <a:r>
              <a:rPr lang="it-IT" sz="2400" dirty="0"/>
              <a:t> </a:t>
            </a:r>
            <a:r>
              <a:rPr lang="it-IT" sz="2400" dirty="0" err="1"/>
              <a:t>oversampling</a:t>
            </a:r>
            <a:r>
              <a:rPr lang="it-IT" sz="2400" dirty="0"/>
              <a:t> </a:t>
            </a:r>
            <a:r>
              <a:rPr lang="it-IT" sz="2400" dirty="0" err="1"/>
              <a:t>strictly</a:t>
            </a:r>
            <a:r>
              <a:rPr lang="it-IT" sz="2400" dirty="0"/>
              <a:t> Tier 4 (</a:t>
            </a:r>
            <a:r>
              <a:rPr lang="it-IT" sz="2400" dirty="0" err="1"/>
              <a:t>not</a:t>
            </a:r>
            <a:r>
              <a:rPr lang="it-IT" sz="2400" dirty="0"/>
              <a:t> Tier 3+4) </a:t>
            </a:r>
            <a:r>
              <a:rPr lang="it-IT" sz="2400" dirty="0" err="1"/>
              <a:t>raised</a:t>
            </a:r>
            <a:r>
              <a:rPr lang="it-IT" sz="2400" dirty="0"/>
              <a:t> Macro-F1 from 0.565 → 0.622 and QWK from 0.811 → 0.817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9D4CDAA9-3BAC-11BB-24D6-6D7632746E8E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5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54504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6394B-116A-E182-1445-4122449DC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F164F-34D0-B1F6-59A0-D65CE3ECE1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Validation</a:t>
            </a:r>
            <a:r>
              <a:rPr lang="it-IT" b="1" dirty="0"/>
              <a:t>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4A8836-E810-E665-AA29-AF2860F983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/>
              <a:t>5×3 </a:t>
            </a:r>
            <a:r>
              <a:rPr lang="it-IT" sz="2400" b="1" dirty="0" err="1"/>
              <a:t>Nested</a:t>
            </a:r>
            <a:r>
              <a:rPr lang="it-IT" sz="2400" b="1" dirty="0"/>
              <a:t> Cross-</a:t>
            </a:r>
            <a:r>
              <a:rPr lang="it-IT" sz="2400" b="1" dirty="0" err="1"/>
              <a:t>Validation</a:t>
            </a:r>
            <a:r>
              <a:rPr lang="it-IT" sz="2400" b="1" dirty="0"/>
              <a:t>:</a:t>
            </a:r>
            <a:r>
              <a:rPr lang="it-IT" sz="2400" dirty="0"/>
              <a:t> 5 </a:t>
            </a:r>
            <a:r>
              <a:rPr lang="it-IT" sz="2400" dirty="0" err="1"/>
              <a:t>outer</a:t>
            </a:r>
            <a:r>
              <a:rPr lang="it-IT" sz="2400" dirty="0"/>
              <a:t> </a:t>
            </a:r>
            <a:r>
              <a:rPr lang="it-IT" sz="2400" dirty="0" err="1"/>
              <a:t>folds</a:t>
            </a:r>
            <a:r>
              <a:rPr lang="it-IT" sz="2400" dirty="0"/>
              <a:t> for </a:t>
            </a:r>
            <a:r>
              <a:rPr lang="it-IT" sz="2400" dirty="0" err="1"/>
              <a:t>generalization</a:t>
            </a:r>
            <a:r>
              <a:rPr lang="it-IT" sz="2400" dirty="0"/>
              <a:t>, 3 </a:t>
            </a:r>
            <a:r>
              <a:rPr lang="it-IT" sz="2400" dirty="0" err="1"/>
              <a:t>inner</a:t>
            </a:r>
            <a:r>
              <a:rPr lang="it-IT" sz="2400" dirty="0"/>
              <a:t> </a:t>
            </a:r>
            <a:r>
              <a:rPr lang="it-IT" sz="2400" dirty="0" err="1"/>
              <a:t>folds</a:t>
            </a:r>
            <a:r>
              <a:rPr lang="it-IT" sz="2400" dirty="0"/>
              <a:t> for </a:t>
            </a:r>
            <a:r>
              <a:rPr lang="it-IT" sz="2400" dirty="0" err="1"/>
              <a:t>hyperparameter</a:t>
            </a:r>
            <a:r>
              <a:rPr lang="it-IT" sz="2400" dirty="0"/>
              <a:t> </a:t>
            </a:r>
            <a:r>
              <a:rPr lang="it-IT" sz="2400" dirty="0" err="1"/>
              <a:t>selection</a:t>
            </a:r>
            <a:r>
              <a:rPr lang="it-IT" sz="2400" dirty="0"/>
              <a:t>, </a:t>
            </a:r>
            <a:r>
              <a:rPr lang="it-IT" sz="2400" dirty="0" err="1"/>
              <a:t>fully</a:t>
            </a:r>
            <a:r>
              <a:rPr lang="it-IT" sz="2400" dirty="0"/>
              <a:t> </a:t>
            </a:r>
            <a:r>
              <a:rPr lang="it-IT" sz="2400" dirty="0" err="1"/>
              <a:t>decoupled</a:t>
            </a:r>
            <a:r>
              <a:rPr lang="it-IT" sz="2400" dirty="0"/>
              <a:t> to </a:t>
            </a:r>
            <a:r>
              <a:rPr lang="it-IT" sz="2400" dirty="0" err="1"/>
              <a:t>prevent</a:t>
            </a:r>
            <a:r>
              <a:rPr lang="it-IT" sz="2400" dirty="0"/>
              <a:t> </a:t>
            </a:r>
            <a:r>
              <a:rPr lang="it-IT" sz="2400" dirty="0" err="1"/>
              <a:t>optimistic</a:t>
            </a:r>
            <a:r>
              <a:rPr lang="it-IT" sz="2400" dirty="0"/>
              <a:t> </a:t>
            </a:r>
            <a:r>
              <a:rPr lang="it-IT" sz="2400" dirty="0" err="1"/>
              <a:t>bias</a:t>
            </a:r>
            <a:endParaRPr lang="it-IT" sz="2400" dirty="0"/>
          </a:p>
          <a:p>
            <a:r>
              <a:rPr lang="it-IT" sz="2400" b="1" dirty="0" err="1"/>
              <a:t>Primary</a:t>
            </a:r>
            <a:r>
              <a:rPr lang="it-IT" sz="2400" b="1" dirty="0"/>
              <a:t> </a:t>
            </a:r>
            <a:r>
              <a:rPr lang="it-IT" sz="2400" b="1" dirty="0" err="1"/>
              <a:t>metric</a:t>
            </a:r>
            <a:r>
              <a:rPr lang="it-IT" sz="2400" b="1" dirty="0"/>
              <a:t>:</a:t>
            </a:r>
            <a:r>
              <a:rPr lang="it-IT" sz="2400" dirty="0"/>
              <a:t> </a:t>
            </a:r>
            <a:r>
              <a:rPr lang="it-IT" sz="2400" dirty="0" err="1"/>
              <a:t>Quadratic</a:t>
            </a:r>
            <a:r>
              <a:rPr lang="it-IT" sz="2400" dirty="0"/>
              <a:t> </a:t>
            </a:r>
            <a:r>
              <a:rPr lang="it-IT" sz="2400" dirty="0" err="1"/>
              <a:t>Weighted</a:t>
            </a:r>
            <a:r>
              <a:rPr lang="it-IT" sz="2400" dirty="0"/>
              <a:t> Kappa (QWK) — </a:t>
            </a:r>
            <a:r>
              <a:rPr lang="it-IT" sz="2400" dirty="0" err="1"/>
              <a:t>penalizes</a:t>
            </a:r>
            <a:r>
              <a:rPr lang="it-IT" sz="2400" dirty="0"/>
              <a:t> </a:t>
            </a:r>
            <a:r>
              <a:rPr lang="it-IT" sz="2400" dirty="0" err="1"/>
              <a:t>predictions</a:t>
            </a:r>
            <a:r>
              <a:rPr lang="it-IT" sz="2400" dirty="0"/>
              <a:t> far from the </a:t>
            </a:r>
            <a:r>
              <a:rPr lang="it-IT" sz="2400" dirty="0" err="1"/>
              <a:t>true</a:t>
            </a:r>
            <a:r>
              <a:rPr lang="it-IT" sz="2400" dirty="0"/>
              <a:t> </a:t>
            </a:r>
            <a:r>
              <a:rPr lang="it-IT" sz="2400" dirty="0" err="1"/>
              <a:t>tier</a:t>
            </a:r>
            <a:r>
              <a:rPr lang="it-IT" sz="2400" dirty="0"/>
              <a:t> more </a:t>
            </a:r>
            <a:r>
              <a:rPr lang="it-IT" sz="2400" dirty="0" err="1"/>
              <a:t>heavily</a:t>
            </a:r>
            <a:r>
              <a:rPr lang="it-IT" sz="2400" dirty="0"/>
              <a:t> </a:t>
            </a:r>
            <a:r>
              <a:rPr lang="it-IT" sz="2400" dirty="0" err="1"/>
              <a:t>than</a:t>
            </a:r>
            <a:r>
              <a:rPr lang="it-IT" sz="2400" dirty="0"/>
              <a:t> </a:t>
            </a:r>
            <a:r>
              <a:rPr lang="it-IT" sz="2400" dirty="0" err="1"/>
              <a:t>adjacent-tier</a:t>
            </a:r>
            <a:r>
              <a:rPr lang="it-IT" sz="2400" dirty="0"/>
              <a:t> </a:t>
            </a:r>
            <a:r>
              <a:rPr lang="it-IT" sz="2400" dirty="0" err="1"/>
              <a:t>errors</a:t>
            </a:r>
            <a:endParaRPr lang="it-IT" sz="2400" dirty="0"/>
          </a:p>
          <a:p>
            <a:r>
              <a:rPr lang="it-IT" sz="2400" dirty="0"/>
              <a:t>Non-</a:t>
            </a:r>
            <a:r>
              <a:rPr lang="it-IT" sz="2400" dirty="0" err="1"/>
              <a:t>parametric</a:t>
            </a:r>
            <a:r>
              <a:rPr lang="it-IT" sz="2400" dirty="0"/>
              <a:t> </a:t>
            </a:r>
            <a:r>
              <a:rPr lang="it-IT" sz="2400" dirty="0" err="1"/>
              <a:t>hypothesis</a:t>
            </a:r>
            <a:r>
              <a:rPr lang="it-IT" sz="2400" dirty="0"/>
              <a:t> testing: Friedman test + </a:t>
            </a:r>
            <a:r>
              <a:rPr lang="it-IT" sz="2400" dirty="0" err="1"/>
              <a:t>pairwise</a:t>
            </a:r>
            <a:r>
              <a:rPr lang="it-IT" sz="2400" dirty="0"/>
              <a:t> Wilcoxon </a:t>
            </a:r>
            <a:r>
              <a:rPr lang="it-IT" sz="2400" dirty="0" err="1"/>
              <a:t>Signed</a:t>
            </a:r>
            <a:r>
              <a:rPr lang="it-IT" sz="2400" dirty="0"/>
              <a:t>-Rank </a:t>
            </a:r>
            <a:r>
              <a:rPr lang="it-IT" sz="2400" dirty="0" err="1"/>
              <a:t>tests</a:t>
            </a:r>
            <a:endParaRPr lang="it-IT" sz="2400" dirty="0"/>
          </a:p>
          <a:p>
            <a:endParaRPr lang="it-IT" sz="2400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448D94F-1FC1-6796-0085-8C5D0F932AC4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6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2139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E91F4-125B-2543-09FA-785DC733D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5BBEF-F7DC-428A-BBA0-8FC32FEDEA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Hyperparameter</a:t>
            </a:r>
            <a:r>
              <a:rPr lang="it-IT" b="1" dirty="0"/>
              <a:t> </a:t>
            </a:r>
            <a:r>
              <a:rPr lang="it-IT" b="1" dirty="0" err="1"/>
              <a:t>Optimization</a:t>
            </a:r>
            <a:endParaRPr lang="it-IT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7CFB71-A6BC-D6F7-39CF-310B665BC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/>
              <a:t>Strategy A — Two-Stage </a:t>
            </a:r>
            <a:r>
              <a:rPr lang="it-IT" sz="2400" b="1" dirty="0" err="1"/>
              <a:t>Bayesian</a:t>
            </a:r>
            <a:r>
              <a:rPr lang="it-IT" sz="2400" b="1" dirty="0"/>
              <a:t> (</a:t>
            </a:r>
            <a:r>
              <a:rPr lang="it-IT" sz="2400" b="1" dirty="0" err="1"/>
              <a:t>Optuna</a:t>
            </a:r>
            <a:r>
              <a:rPr lang="it-IT" sz="2400" b="1" dirty="0"/>
              <a:t>):</a:t>
            </a:r>
            <a:r>
              <a:rPr lang="it-IT" sz="2400" dirty="0"/>
              <a:t> </a:t>
            </a:r>
            <a:r>
              <a:rPr lang="it-IT" sz="2400" dirty="0" err="1"/>
              <a:t>Phase</a:t>
            </a:r>
            <a:r>
              <a:rPr lang="it-IT" sz="2400" dirty="0"/>
              <a:t> 1 </a:t>
            </a:r>
            <a:r>
              <a:rPr lang="it-IT" sz="2400" dirty="0" err="1"/>
              <a:t>grid</a:t>
            </a:r>
            <a:r>
              <a:rPr lang="it-IT" sz="2400" dirty="0"/>
              <a:t> </a:t>
            </a:r>
            <a:r>
              <a:rPr lang="it-IT" sz="2400" dirty="0" err="1"/>
              <a:t>search</a:t>
            </a:r>
            <a:r>
              <a:rPr lang="it-IT" sz="2400" dirty="0"/>
              <a:t> for TF-IDF/PLS-DA </a:t>
            </a:r>
            <a:r>
              <a:rPr lang="it-IT" sz="2400" dirty="0" err="1"/>
              <a:t>structure</a:t>
            </a:r>
            <a:r>
              <a:rPr lang="it-IT" sz="2400" dirty="0"/>
              <a:t>; </a:t>
            </a:r>
            <a:r>
              <a:rPr lang="it-IT" sz="2400" dirty="0" err="1"/>
              <a:t>Phase</a:t>
            </a:r>
            <a:r>
              <a:rPr lang="it-IT" sz="2400" dirty="0"/>
              <a:t> 2 </a:t>
            </a:r>
            <a:r>
              <a:rPr lang="it-IT" sz="2400" dirty="0" err="1"/>
              <a:t>Bayesian</a:t>
            </a:r>
            <a:r>
              <a:rPr lang="it-IT" sz="2400" dirty="0"/>
              <a:t> sampling for </a:t>
            </a:r>
            <a:r>
              <a:rPr lang="it-IT" sz="2400" dirty="0" err="1"/>
              <a:t>tree</a:t>
            </a:r>
            <a:r>
              <a:rPr lang="it-IT" sz="2400" dirty="0"/>
              <a:t> </a:t>
            </a:r>
            <a:r>
              <a:rPr lang="it-IT" sz="2400" dirty="0" err="1"/>
              <a:t>hyperparameters</a:t>
            </a:r>
            <a:endParaRPr lang="it-IT" sz="2400" dirty="0"/>
          </a:p>
          <a:p>
            <a:r>
              <a:rPr lang="it-IT" sz="2400" b="1" dirty="0"/>
              <a:t>Strategy B — </a:t>
            </a:r>
            <a:r>
              <a:rPr lang="it-IT" sz="2400" b="1" dirty="0" err="1"/>
              <a:t>Cached</a:t>
            </a:r>
            <a:r>
              <a:rPr lang="it-IT" sz="2400" b="1" dirty="0"/>
              <a:t> </a:t>
            </a:r>
            <a:r>
              <a:rPr lang="it-IT" sz="2400" b="1" dirty="0" err="1"/>
              <a:t>Unified</a:t>
            </a:r>
            <a:r>
              <a:rPr lang="it-IT" sz="2400" b="1" dirty="0"/>
              <a:t> Grid Search:</a:t>
            </a:r>
            <a:r>
              <a:rPr lang="it-IT" sz="2400" dirty="0"/>
              <a:t> brute-force </a:t>
            </a:r>
            <a:r>
              <a:rPr lang="it-IT" sz="2400" dirty="0" err="1"/>
              <a:t>search</a:t>
            </a:r>
            <a:r>
              <a:rPr lang="it-IT" sz="2400" dirty="0"/>
              <a:t> with </a:t>
            </a:r>
            <a:r>
              <a:rPr lang="it-IT" sz="2400" dirty="0" err="1"/>
              <a:t>joblib</a:t>
            </a:r>
            <a:r>
              <a:rPr lang="it-IT" sz="2400" dirty="0"/>
              <a:t> disk caching; pipeline </a:t>
            </a:r>
            <a:r>
              <a:rPr lang="it-IT" sz="2400" dirty="0" err="1"/>
              <a:t>ordered</a:t>
            </a:r>
            <a:r>
              <a:rPr lang="it-IT" sz="2400" dirty="0"/>
              <a:t> to </a:t>
            </a:r>
            <a:r>
              <a:rPr lang="it-IT" sz="2400" dirty="0" err="1"/>
              <a:t>minimize</a:t>
            </a:r>
            <a:r>
              <a:rPr lang="it-IT" sz="2400" dirty="0"/>
              <a:t> cache </a:t>
            </a:r>
            <a:r>
              <a:rPr lang="it-IT" sz="2400" dirty="0" err="1"/>
              <a:t>invalidation</a:t>
            </a:r>
            <a:endParaRPr lang="it-IT" sz="2400" dirty="0"/>
          </a:p>
          <a:p>
            <a:r>
              <a:rPr lang="it-IT" sz="2400" dirty="0"/>
              <a:t>Both strategies </a:t>
            </a:r>
            <a:r>
              <a:rPr lang="it-IT" sz="2400" dirty="0" err="1"/>
              <a:t>converged</a:t>
            </a:r>
            <a:r>
              <a:rPr lang="it-IT" sz="2400" dirty="0"/>
              <a:t> on </a:t>
            </a:r>
            <a:r>
              <a:rPr lang="it-IT" sz="2400" b="1" dirty="0" err="1"/>
              <a:t>XGBoost</a:t>
            </a:r>
            <a:r>
              <a:rPr lang="it-IT" sz="2400" dirty="0"/>
              <a:t> </a:t>
            </a:r>
            <a:r>
              <a:rPr lang="it-IT" sz="2400" dirty="0" err="1"/>
              <a:t>as</a:t>
            </a:r>
            <a:r>
              <a:rPr lang="it-IT" sz="2400" dirty="0"/>
              <a:t> the </a:t>
            </a:r>
            <a:r>
              <a:rPr lang="it-IT" sz="2400" dirty="0" err="1"/>
              <a:t>dominant</a:t>
            </a:r>
            <a:r>
              <a:rPr lang="it-IT" sz="2400" dirty="0"/>
              <a:t> </a:t>
            </a:r>
            <a:r>
              <a:rPr lang="it-IT" sz="2400" dirty="0" err="1"/>
              <a:t>architecture</a:t>
            </a:r>
            <a:endParaRPr lang="it-IT" sz="2400" dirty="0"/>
          </a:p>
          <a:p>
            <a:r>
              <a:rPr lang="it-IT" sz="2400" b="1" dirty="0"/>
              <a:t>Champion </a:t>
            </a:r>
            <a:r>
              <a:rPr lang="it-IT" sz="2400" b="1" dirty="0" err="1"/>
              <a:t>hyperparameters</a:t>
            </a:r>
            <a:r>
              <a:rPr lang="it-IT" sz="2400" b="1" dirty="0"/>
              <a:t> (</a:t>
            </a:r>
            <a:r>
              <a:rPr lang="it-IT" sz="2400" b="1" dirty="0" err="1"/>
              <a:t>Bayesian</a:t>
            </a:r>
            <a:r>
              <a:rPr lang="it-IT" sz="2400" b="1" dirty="0"/>
              <a:t>):</a:t>
            </a:r>
            <a:r>
              <a:rPr lang="it-IT" sz="2400" dirty="0"/>
              <a:t> </a:t>
            </a:r>
            <a:r>
              <a:rPr lang="it-IT" sz="2400" dirty="0" err="1"/>
              <a:t>n_estimators</a:t>
            </a:r>
            <a:r>
              <a:rPr lang="it-IT" sz="2400" dirty="0"/>
              <a:t>=397, </a:t>
            </a:r>
            <a:r>
              <a:rPr lang="it-IT" sz="2400" dirty="0" err="1"/>
              <a:t>max_depth</a:t>
            </a:r>
            <a:r>
              <a:rPr lang="it-IT" sz="2400" dirty="0"/>
              <a:t>=5, learning_rate≈0.107, subsample≈0.965, reg_lambda≈0.825</a:t>
            </a:r>
          </a:p>
          <a:p>
            <a:r>
              <a:rPr lang="it-IT" sz="2400" dirty="0" err="1"/>
              <a:t>Optimal</a:t>
            </a:r>
            <a:r>
              <a:rPr lang="it-IT" sz="2400" dirty="0"/>
              <a:t> QWK ≈ </a:t>
            </a:r>
            <a:r>
              <a:rPr lang="it-IT" sz="2400" b="1" dirty="0"/>
              <a:t>0.7026</a:t>
            </a:r>
            <a:r>
              <a:rPr lang="it-IT" sz="2400" dirty="0"/>
              <a:t> (</a:t>
            </a:r>
            <a:r>
              <a:rPr lang="it-IT" sz="2400" dirty="0" err="1"/>
              <a:t>pre</a:t>
            </a:r>
            <a:r>
              <a:rPr lang="it-IT" sz="2400" dirty="0"/>
              <a:t>-release model) and ≈ 0.817 (post-release model)</a:t>
            </a:r>
            <a:endParaRPr lang="it-IT" dirty="0"/>
          </a:p>
          <a:p>
            <a:endParaRPr lang="it-IT" sz="2400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9E008E8-9A9C-FC84-8246-DBC811929DB8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7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10446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6A52C-7024-114C-2831-0817CAFF2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BEB90-0517-BF54-3682-66E8B0BE4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sz="3200" b="1" dirty="0"/>
              <a:t>Model </a:t>
            </a:r>
            <a:r>
              <a:rPr lang="it-IT" sz="3200" b="1" dirty="0" err="1"/>
              <a:t>Comparison</a:t>
            </a:r>
            <a:r>
              <a:rPr lang="it-IT" sz="3200" b="1" dirty="0"/>
              <a:t>: </a:t>
            </a:r>
            <a:r>
              <a:rPr lang="it-IT" sz="3200" b="1" dirty="0" err="1"/>
              <a:t>XGBoost</a:t>
            </a:r>
            <a:r>
              <a:rPr lang="it-IT" sz="3200" b="1" dirty="0"/>
              <a:t> </a:t>
            </a:r>
            <a:r>
              <a:rPr lang="it-IT" sz="3200" b="1" dirty="0" err="1"/>
              <a:t>Dominates</a:t>
            </a:r>
            <a:endParaRPr lang="it-IT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3E95C-5F64-ABDB-21E9-6D07EFEC1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dirty="0" err="1"/>
              <a:t>XGBoost</a:t>
            </a:r>
            <a:r>
              <a:rPr lang="it-IT" sz="2400" dirty="0"/>
              <a:t> </a:t>
            </a:r>
            <a:r>
              <a:rPr lang="it-IT" sz="2400" dirty="0" err="1"/>
              <a:t>consistently</a:t>
            </a:r>
            <a:r>
              <a:rPr lang="it-IT" sz="2400" dirty="0"/>
              <a:t> </a:t>
            </a:r>
            <a:r>
              <a:rPr lang="it-IT" sz="2400" dirty="0" err="1"/>
              <a:t>outperforms</a:t>
            </a:r>
            <a:r>
              <a:rPr lang="it-IT" sz="2400" dirty="0"/>
              <a:t> </a:t>
            </a:r>
            <a:r>
              <a:rPr lang="it-IT" sz="2400" dirty="0" err="1"/>
              <a:t>Decision</a:t>
            </a:r>
            <a:r>
              <a:rPr lang="it-IT" sz="2400" dirty="0"/>
              <a:t> Tree and Random Forest </a:t>
            </a:r>
            <a:r>
              <a:rPr lang="it-IT" sz="2400" dirty="0" err="1"/>
              <a:t>across</a:t>
            </a:r>
            <a:r>
              <a:rPr lang="it-IT" sz="2400" dirty="0"/>
              <a:t> </a:t>
            </a:r>
            <a:r>
              <a:rPr lang="it-IT" sz="2400" dirty="0" err="1"/>
              <a:t>all</a:t>
            </a:r>
            <a:r>
              <a:rPr lang="it-IT" sz="2400" dirty="0"/>
              <a:t> </a:t>
            </a:r>
            <a:r>
              <a:rPr lang="it-IT" sz="2400" dirty="0" err="1"/>
              <a:t>metrics</a:t>
            </a:r>
            <a:endParaRPr lang="it-IT" sz="2400" dirty="0"/>
          </a:p>
          <a:p>
            <a:r>
              <a:rPr lang="it-IT" sz="2400" dirty="0" err="1"/>
              <a:t>Tightest</a:t>
            </a:r>
            <a:r>
              <a:rPr lang="it-IT" sz="2400" dirty="0"/>
              <a:t> </a:t>
            </a:r>
            <a:r>
              <a:rPr lang="it-IT" sz="2400" dirty="0" err="1"/>
              <a:t>variance</a:t>
            </a:r>
            <a:r>
              <a:rPr lang="it-IT" sz="2400" dirty="0"/>
              <a:t> and </a:t>
            </a:r>
            <a:r>
              <a:rPr lang="it-IT" sz="2400" dirty="0" err="1"/>
              <a:t>highest</a:t>
            </a:r>
            <a:r>
              <a:rPr lang="it-IT" sz="2400" dirty="0"/>
              <a:t> </a:t>
            </a:r>
            <a:r>
              <a:rPr lang="it-IT" sz="2400" dirty="0" err="1"/>
              <a:t>median</a:t>
            </a:r>
            <a:r>
              <a:rPr lang="it-IT" sz="2400" dirty="0"/>
              <a:t> performance </a:t>
            </a:r>
            <a:r>
              <a:rPr lang="it-IT" sz="2400" dirty="0" err="1"/>
              <a:t>across</a:t>
            </a:r>
            <a:r>
              <a:rPr lang="it-IT" sz="2400" dirty="0"/>
              <a:t> </a:t>
            </a:r>
            <a:r>
              <a:rPr lang="it-IT" sz="2400" dirty="0" err="1"/>
              <a:t>all</a:t>
            </a:r>
            <a:r>
              <a:rPr lang="it-IT" sz="2400" dirty="0"/>
              <a:t> 5 </a:t>
            </a:r>
            <a:r>
              <a:rPr lang="it-IT" sz="2400" dirty="0" err="1"/>
              <a:t>outer</a:t>
            </a:r>
            <a:r>
              <a:rPr lang="it-IT" sz="2400" dirty="0"/>
              <a:t> CV </a:t>
            </a:r>
            <a:r>
              <a:rPr lang="it-IT" sz="2400" dirty="0" err="1"/>
              <a:t>folds</a:t>
            </a:r>
            <a:endParaRPr lang="it-IT" sz="2400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E542371-4F07-AA19-329B-22D1F48F22F1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8</a:t>
            </a:fld>
            <a:endParaRPr lang="it-IT" sz="1100" dirty="0">
              <a:latin typeface="Calibri" panose="020F0502020204030204" pitchFamily="34" charset="0"/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7FE45C14-9602-8F23-F2ED-B1367675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40" y="2636912"/>
            <a:ext cx="7683719" cy="3771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8464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31E0B-166C-E273-886E-AEA0955B2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4D5FC-6F51-79DE-1667-CD2675847D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Final</a:t>
            </a:r>
            <a:r>
              <a:rPr lang="it-IT" b="1" dirty="0"/>
              <a:t> </a:t>
            </a:r>
            <a:r>
              <a:rPr lang="it-IT" b="1" dirty="0" err="1"/>
              <a:t>Calibration</a:t>
            </a:r>
            <a:endParaRPr lang="it-IT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A647B-52F1-B360-037B-9ABB49F28B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dirty="0" err="1"/>
              <a:t>Residual</a:t>
            </a:r>
            <a:r>
              <a:rPr lang="it-IT" sz="2400" dirty="0"/>
              <a:t> </a:t>
            </a:r>
            <a:r>
              <a:rPr lang="it-IT" sz="2400" dirty="0" err="1"/>
              <a:t>probabilistic</a:t>
            </a:r>
            <a:r>
              <a:rPr lang="it-IT" sz="2400" dirty="0"/>
              <a:t> </a:t>
            </a:r>
            <a:r>
              <a:rPr lang="it-IT" sz="2400" dirty="0" err="1"/>
              <a:t>bias</a:t>
            </a:r>
            <a:r>
              <a:rPr lang="it-IT" sz="2400" dirty="0"/>
              <a:t> </a:t>
            </a:r>
            <a:r>
              <a:rPr lang="it-IT" sz="2400" dirty="0" err="1"/>
              <a:t>toward</a:t>
            </a:r>
            <a:r>
              <a:rPr lang="it-IT" sz="2400" dirty="0"/>
              <a:t> </a:t>
            </a:r>
            <a:r>
              <a:rPr lang="it-IT" sz="2400" dirty="0" err="1"/>
              <a:t>majority</a:t>
            </a:r>
            <a:r>
              <a:rPr lang="it-IT" sz="2400" dirty="0"/>
              <a:t> </a:t>
            </a:r>
            <a:r>
              <a:rPr lang="it-IT" sz="2400" dirty="0" err="1"/>
              <a:t>tiers</a:t>
            </a:r>
            <a:r>
              <a:rPr lang="it-IT" sz="2400" dirty="0"/>
              <a:t> </a:t>
            </a:r>
            <a:r>
              <a:rPr lang="it-IT" sz="2400" dirty="0" err="1"/>
              <a:t>persists</a:t>
            </a:r>
            <a:r>
              <a:rPr lang="it-IT" sz="2400" dirty="0"/>
              <a:t> after SMOTENC/Tomek Links</a:t>
            </a:r>
          </a:p>
          <a:p>
            <a:r>
              <a:rPr lang="it-IT" sz="2400" b="1" dirty="0" err="1"/>
              <a:t>Differential</a:t>
            </a:r>
            <a:r>
              <a:rPr lang="it-IT" sz="2400" b="1" dirty="0"/>
              <a:t> </a:t>
            </a:r>
            <a:r>
              <a:rPr lang="it-IT" sz="2400" b="1" dirty="0" err="1"/>
              <a:t>Evolution</a:t>
            </a:r>
            <a:r>
              <a:rPr lang="it-IT" sz="2400" b="1" dirty="0"/>
              <a:t> (DE):</a:t>
            </a:r>
            <a:r>
              <a:rPr lang="it-IT" sz="2400" dirty="0"/>
              <a:t> </a:t>
            </a:r>
            <a:r>
              <a:rPr lang="it-IT" sz="2400" dirty="0" err="1"/>
              <a:t>gradient</a:t>
            </a:r>
            <a:r>
              <a:rPr lang="it-IT" sz="2400" dirty="0"/>
              <a:t>-free global </a:t>
            </a:r>
            <a:r>
              <a:rPr lang="it-IT" sz="2400" dirty="0" err="1"/>
              <a:t>optimizer</a:t>
            </a:r>
            <a:r>
              <a:rPr lang="it-IT" sz="2400" dirty="0"/>
              <a:t> </a:t>
            </a:r>
            <a:r>
              <a:rPr lang="it-IT" sz="2400" dirty="0" err="1"/>
              <a:t>finds</a:t>
            </a:r>
            <a:r>
              <a:rPr lang="it-IT" sz="2400" dirty="0"/>
              <a:t> a 5-dimensional </a:t>
            </a:r>
            <a:r>
              <a:rPr lang="it-IT" sz="2400" dirty="0" err="1"/>
              <a:t>vector</a:t>
            </a:r>
            <a:r>
              <a:rPr lang="it-IT" sz="2400" dirty="0"/>
              <a:t> of </a:t>
            </a:r>
            <a:r>
              <a:rPr lang="it-IT" sz="2400" dirty="0" err="1"/>
              <a:t>optimal</a:t>
            </a:r>
            <a:r>
              <a:rPr lang="it-IT" sz="2400" dirty="0"/>
              <a:t> class weights</a:t>
            </a:r>
          </a:p>
          <a:p>
            <a:r>
              <a:rPr lang="it-IT" sz="2400" dirty="0"/>
              <a:t>Weights </a:t>
            </a:r>
            <a:r>
              <a:rPr lang="it-IT" sz="2400" dirty="0" err="1"/>
              <a:t>multiply</a:t>
            </a:r>
            <a:r>
              <a:rPr lang="it-IT" sz="2400" dirty="0"/>
              <a:t> </a:t>
            </a:r>
            <a:r>
              <a:rPr lang="it-IT" sz="2400" dirty="0" err="1"/>
              <a:t>predict_proba</a:t>
            </a:r>
            <a:r>
              <a:rPr lang="it-IT" sz="2400" dirty="0"/>
              <a:t> outputs to </a:t>
            </a:r>
            <a:r>
              <a:rPr lang="it-IT" sz="2400" dirty="0" err="1"/>
              <a:t>maximize</a:t>
            </a:r>
            <a:r>
              <a:rPr lang="it-IT" sz="2400" dirty="0"/>
              <a:t> QWK, </a:t>
            </a:r>
            <a:r>
              <a:rPr lang="it-IT" sz="2400" dirty="0" err="1"/>
              <a:t>corrects</a:t>
            </a:r>
            <a:r>
              <a:rPr lang="it-IT" sz="2400" dirty="0"/>
              <a:t> </a:t>
            </a:r>
            <a:r>
              <a:rPr lang="it-IT" sz="2400" dirty="0" err="1"/>
              <a:t>boundary</a:t>
            </a:r>
            <a:r>
              <a:rPr lang="it-IT" sz="2400" dirty="0"/>
              <a:t> </a:t>
            </a:r>
            <a:r>
              <a:rPr lang="it-IT" sz="2400" dirty="0" err="1"/>
              <a:t>ambiguity</a:t>
            </a:r>
            <a:r>
              <a:rPr lang="it-IT" sz="2400" dirty="0"/>
              <a:t> </a:t>
            </a:r>
            <a:r>
              <a:rPr lang="it-IT" sz="2400" dirty="0" err="1"/>
              <a:t>across</a:t>
            </a:r>
            <a:r>
              <a:rPr lang="it-IT" sz="2400" dirty="0"/>
              <a:t> </a:t>
            </a:r>
            <a:r>
              <a:rPr lang="it-IT" sz="2400" dirty="0" err="1"/>
              <a:t>all</a:t>
            </a:r>
            <a:r>
              <a:rPr lang="it-IT" sz="2400" dirty="0"/>
              <a:t> 5 </a:t>
            </a:r>
            <a:r>
              <a:rPr lang="it-IT" sz="2400" dirty="0" err="1"/>
              <a:t>tiers</a:t>
            </a:r>
            <a:endParaRPr lang="it-IT" sz="2400" dirty="0"/>
          </a:p>
          <a:p>
            <a:r>
              <a:rPr lang="it-IT" sz="2400" dirty="0" err="1"/>
              <a:t>Optimized</a:t>
            </a:r>
            <a:r>
              <a:rPr lang="it-IT" sz="2400" dirty="0"/>
              <a:t> weights </a:t>
            </a:r>
            <a:r>
              <a:rPr lang="it-IT" sz="2400" dirty="0" err="1"/>
              <a:t>normalized</a:t>
            </a:r>
            <a:r>
              <a:rPr lang="it-IT" sz="2400" dirty="0"/>
              <a:t> and </a:t>
            </a:r>
            <a:r>
              <a:rPr lang="it-IT" sz="2400" dirty="0" err="1"/>
              <a:t>saved</a:t>
            </a:r>
            <a:r>
              <a:rPr lang="it-IT" sz="2400" dirty="0"/>
              <a:t> </a:t>
            </a:r>
            <a:r>
              <a:rPr lang="it-IT" sz="2400" dirty="0" err="1"/>
              <a:t>alongside</a:t>
            </a:r>
            <a:r>
              <a:rPr lang="it-IT" sz="2400" dirty="0"/>
              <a:t> the model </a:t>
            </a:r>
            <a:r>
              <a:rPr lang="it-IT" sz="2400" dirty="0" err="1"/>
              <a:t>architecture</a:t>
            </a:r>
            <a:r>
              <a:rPr lang="it-IT" sz="2400" dirty="0"/>
              <a:t> for production deployment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88CC65B6-080C-D673-D440-DF4865C9AF7B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9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9449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39527-5F51-2C2C-98F7-26B2929F1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7BF147-B514-F1E3-D954-B4D3FE59F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Confusion</a:t>
            </a:r>
            <a:r>
              <a:rPr lang="it-IT" b="1" dirty="0"/>
              <a:t> Matrix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39239F-CE14-D6AD-34F0-90871AB91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dirty="0"/>
              <a:t>Both Pre-Release and Post-Release models show </a:t>
            </a:r>
            <a:r>
              <a:rPr lang="it-IT" sz="2400" b="1" dirty="0"/>
              <a:t>strong </a:t>
            </a:r>
            <a:r>
              <a:rPr lang="it-IT" sz="2400" b="1" dirty="0" err="1"/>
              <a:t>diagonal</a:t>
            </a:r>
            <a:r>
              <a:rPr lang="it-IT" sz="2400" b="1" dirty="0"/>
              <a:t> clustering</a:t>
            </a:r>
            <a:r>
              <a:rPr lang="it-IT" sz="2400" dirty="0"/>
              <a:t> — high </a:t>
            </a:r>
            <a:r>
              <a:rPr lang="it-IT" sz="2400" dirty="0" err="1"/>
              <a:t>classification</a:t>
            </a:r>
            <a:r>
              <a:rPr lang="it-IT" sz="2400" dirty="0"/>
              <a:t> </a:t>
            </a:r>
            <a:r>
              <a:rPr lang="it-IT" sz="2400" dirty="0" err="1"/>
              <a:t>accuracy</a:t>
            </a:r>
            <a:endParaRPr lang="it-IT" sz="2400" dirty="0"/>
          </a:p>
          <a:p>
            <a:r>
              <a:rPr lang="it-IT" sz="2400" dirty="0"/>
              <a:t>Tier 0 vs Tier 4 </a:t>
            </a:r>
            <a:r>
              <a:rPr lang="it-IT" sz="2400" dirty="0" err="1"/>
              <a:t>misclassifications</a:t>
            </a:r>
            <a:r>
              <a:rPr lang="it-IT" sz="2400" dirty="0"/>
              <a:t> are </a:t>
            </a:r>
            <a:r>
              <a:rPr lang="it-IT" sz="2400" b="1" dirty="0" err="1"/>
              <a:t>completely</a:t>
            </a:r>
            <a:r>
              <a:rPr lang="it-IT" sz="2400" b="1" dirty="0"/>
              <a:t> </a:t>
            </a:r>
            <a:r>
              <a:rPr lang="it-IT" sz="2400" b="1" dirty="0" err="1"/>
              <a:t>eliminated</a:t>
            </a:r>
            <a:endParaRPr lang="it-IT" sz="2400" dirty="0"/>
          </a:p>
          <a:p>
            <a:r>
              <a:rPr lang="it-IT" sz="2400" dirty="0" err="1"/>
              <a:t>Residual</a:t>
            </a:r>
            <a:r>
              <a:rPr lang="it-IT" sz="2400" dirty="0"/>
              <a:t> </a:t>
            </a:r>
            <a:r>
              <a:rPr lang="it-IT" sz="2400" dirty="0" err="1"/>
              <a:t>noise</a:t>
            </a:r>
            <a:r>
              <a:rPr lang="it-IT" sz="2400" dirty="0"/>
              <a:t> </a:t>
            </a:r>
            <a:r>
              <a:rPr lang="it-IT" sz="2400" dirty="0" err="1"/>
              <a:t>confined</a:t>
            </a:r>
            <a:r>
              <a:rPr lang="it-IT" sz="2400" dirty="0"/>
              <a:t> to </a:t>
            </a:r>
            <a:r>
              <a:rPr lang="it-IT" sz="2400" b="1" dirty="0" err="1"/>
              <a:t>adjacent</a:t>
            </a:r>
            <a:r>
              <a:rPr lang="it-IT" sz="2400" b="1" dirty="0"/>
              <a:t> classes</a:t>
            </a:r>
            <a:r>
              <a:rPr lang="it-IT" sz="2400" dirty="0"/>
              <a:t> (e.g., Tier 1 ↔ Tier 0/2) — </a:t>
            </a:r>
            <a:r>
              <a:rPr lang="it-IT" sz="2400" dirty="0" err="1"/>
              <a:t>represents</a:t>
            </a:r>
            <a:r>
              <a:rPr lang="it-IT" sz="2400" dirty="0"/>
              <a:t> the ceiling of </a:t>
            </a:r>
            <a:r>
              <a:rPr lang="it-IT" sz="2400" dirty="0" err="1"/>
              <a:t>intrinsic</a:t>
            </a:r>
            <a:r>
              <a:rPr lang="it-IT" sz="2400" dirty="0"/>
              <a:t> metadata </a:t>
            </a:r>
            <a:r>
              <a:rPr lang="it-IT" sz="2400" dirty="0" err="1"/>
              <a:t>predictability</a:t>
            </a:r>
            <a:endParaRPr lang="it-IT" sz="2400" dirty="0"/>
          </a:p>
          <a:p>
            <a:r>
              <a:rPr lang="it-IT" sz="2400" dirty="0" err="1"/>
              <a:t>Adjacent</a:t>
            </a:r>
            <a:r>
              <a:rPr lang="it-IT" sz="2400" dirty="0"/>
              <a:t>-class </a:t>
            </a:r>
            <a:r>
              <a:rPr lang="it-IT" sz="2400" dirty="0" err="1"/>
              <a:t>ambiguity</a:t>
            </a:r>
            <a:r>
              <a:rPr lang="it-IT" sz="2400" dirty="0"/>
              <a:t> </a:t>
            </a:r>
            <a:r>
              <a:rPr lang="it-IT" sz="2400" dirty="0" err="1"/>
              <a:t>reflects</a:t>
            </a:r>
            <a:r>
              <a:rPr lang="it-IT" sz="2400" dirty="0"/>
              <a:t> </a:t>
            </a:r>
            <a:r>
              <a:rPr lang="it-IT" sz="2400" dirty="0" err="1"/>
              <a:t>unmodeled</a:t>
            </a:r>
            <a:r>
              <a:rPr lang="it-IT" sz="2400" dirty="0"/>
              <a:t> </a:t>
            </a:r>
            <a:r>
              <a:rPr lang="it-IT" sz="2400" dirty="0" err="1"/>
              <a:t>external</a:t>
            </a:r>
            <a:r>
              <a:rPr lang="it-IT" sz="2400" dirty="0"/>
              <a:t> </a:t>
            </a:r>
            <a:r>
              <a:rPr lang="it-IT" sz="2400" dirty="0" err="1"/>
              <a:t>forces</a:t>
            </a:r>
            <a:r>
              <a:rPr lang="it-IT" sz="2400" dirty="0"/>
              <a:t>: marketing budgets, </a:t>
            </a:r>
            <a:r>
              <a:rPr lang="it-IT" sz="2400" dirty="0" err="1"/>
              <a:t>viral</a:t>
            </a:r>
            <a:r>
              <a:rPr lang="it-IT" sz="2400" dirty="0"/>
              <a:t> </a:t>
            </a:r>
            <a:r>
              <a:rPr lang="it-IT" sz="2400" dirty="0" err="1"/>
              <a:t>momentum</a:t>
            </a:r>
            <a:r>
              <a:rPr lang="it-IT" sz="2400" dirty="0"/>
              <a:t>, streamer adoption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F06ED15E-FEBC-581E-FDBE-1F86F63BB72D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 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10</a:t>
            </a:fld>
            <a:endParaRPr lang="it-IT" sz="1100" dirty="0">
              <a:latin typeface="Calibri" panose="020F0502020204030204" pitchFamily="34" charset="0"/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E7DB9F3-06AF-EDE3-8E1E-DBB354E0B11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3869935"/>
            <a:ext cx="3672937" cy="2754702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78667E35-5D36-4D59-0E51-A45B61B4856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056" y="3869934"/>
            <a:ext cx="3672938" cy="2754703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323B6BB6-96D6-020F-1D27-FEF187A1764B}"/>
              </a:ext>
            </a:extLst>
          </p:cNvPr>
          <p:cNvSpPr txBox="1"/>
          <p:nvPr/>
        </p:nvSpPr>
        <p:spPr>
          <a:xfrm>
            <a:off x="1062006" y="3869934"/>
            <a:ext cx="21959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 err="1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Confusion</a:t>
            </a:r>
            <a:r>
              <a:rPr lang="it-IT" sz="1000" dirty="0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Matrix Post-Release Model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D31C5770-FB3E-A00D-E84F-1642538555DC}"/>
              </a:ext>
            </a:extLst>
          </p:cNvPr>
          <p:cNvSpPr txBox="1"/>
          <p:nvPr/>
        </p:nvSpPr>
        <p:spPr>
          <a:xfrm>
            <a:off x="5814535" y="3869934"/>
            <a:ext cx="219598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 err="1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Confusion</a:t>
            </a:r>
            <a:r>
              <a:rPr lang="it-IT" sz="1000" dirty="0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Matrix Pre-Release Model</a:t>
            </a:r>
          </a:p>
        </p:txBody>
      </p:sp>
    </p:spTree>
    <p:extLst>
      <p:ext uri="{BB962C8B-B14F-4D97-AF65-F5344CB8AC3E}">
        <p14:creationId xmlns:p14="http://schemas.microsoft.com/office/powerpoint/2010/main" val="3038909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4D8E7-3841-372B-2C33-0D6C0A770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DA528-612F-8FC0-01B9-2AA6DCE97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Feature </a:t>
            </a:r>
            <a:r>
              <a:rPr lang="it-IT" b="1" dirty="0" err="1"/>
              <a:t>Importance</a:t>
            </a:r>
            <a:endParaRPr lang="it-IT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632B3C-A1C9-D475-1591-228671B61F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/>
              <a:t>Pre-</a:t>
            </a:r>
            <a:r>
              <a:rPr lang="it-IT" sz="2400" b="1" dirty="0" err="1"/>
              <a:t>Launch</a:t>
            </a:r>
            <a:r>
              <a:rPr lang="it-IT" sz="2400" b="1" dirty="0"/>
              <a:t> model</a:t>
            </a:r>
            <a:r>
              <a:rPr lang="it-IT" sz="2400" dirty="0"/>
              <a:t> </a:t>
            </a:r>
            <a:r>
              <a:rPr lang="it-IT" sz="2400" dirty="0" err="1"/>
              <a:t>relies</a:t>
            </a:r>
            <a:r>
              <a:rPr lang="it-IT" sz="2400" dirty="0"/>
              <a:t> on </a:t>
            </a:r>
            <a:r>
              <a:rPr lang="it-IT" sz="2400" dirty="0" err="1"/>
              <a:t>intrinsic</a:t>
            </a:r>
            <a:r>
              <a:rPr lang="it-IT" sz="2400" dirty="0"/>
              <a:t> traits: </a:t>
            </a:r>
            <a:r>
              <a:rPr lang="it-IT" sz="2400" dirty="0" err="1"/>
              <a:t>tag_Indie</a:t>
            </a:r>
            <a:r>
              <a:rPr lang="it-IT" sz="2400" dirty="0"/>
              <a:t>, </a:t>
            </a:r>
            <a:r>
              <a:rPr lang="it-IT" sz="2400" dirty="0" err="1"/>
              <a:t>tag_Multiplayer</a:t>
            </a:r>
            <a:r>
              <a:rPr lang="it-IT" sz="2400" dirty="0"/>
              <a:t>, </a:t>
            </a:r>
            <a:r>
              <a:rPr lang="it-IT" sz="2400" dirty="0" err="1"/>
              <a:t>language</a:t>
            </a:r>
            <a:r>
              <a:rPr lang="it-IT" sz="2400" dirty="0"/>
              <a:t> </a:t>
            </a:r>
            <a:r>
              <a:rPr lang="it-IT" sz="2400" dirty="0" err="1"/>
              <a:t>localizations</a:t>
            </a:r>
            <a:r>
              <a:rPr lang="it-IT" sz="2400" dirty="0"/>
              <a:t>, pricing, publisher </a:t>
            </a:r>
            <a:r>
              <a:rPr lang="it-IT" sz="2400" dirty="0" err="1"/>
              <a:t>reputation</a:t>
            </a:r>
            <a:endParaRPr lang="it-IT" sz="2400" dirty="0"/>
          </a:p>
          <a:p>
            <a:r>
              <a:rPr lang="it-IT" sz="2400" b="1" dirty="0"/>
              <a:t>Post-</a:t>
            </a:r>
            <a:r>
              <a:rPr lang="it-IT" sz="2400" b="1" dirty="0" err="1"/>
              <a:t>Launch</a:t>
            </a:r>
            <a:r>
              <a:rPr lang="it-IT" sz="2400" b="1" dirty="0"/>
              <a:t> model</a:t>
            </a:r>
            <a:r>
              <a:rPr lang="it-IT" sz="2400" dirty="0"/>
              <a:t> </a:t>
            </a:r>
            <a:r>
              <a:rPr lang="it-IT" sz="2400" dirty="0" err="1"/>
              <a:t>immediately</a:t>
            </a:r>
            <a:r>
              <a:rPr lang="it-IT" sz="2400" dirty="0"/>
              <a:t> pivots to community engagement: </a:t>
            </a:r>
            <a:r>
              <a:rPr lang="it-IT" sz="2400" dirty="0" err="1"/>
              <a:t>average_forever</a:t>
            </a:r>
            <a:r>
              <a:rPr lang="it-IT" sz="2400" dirty="0"/>
              <a:t> </a:t>
            </a:r>
            <a:r>
              <a:rPr lang="it-IT" sz="2400" dirty="0" err="1"/>
              <a:t>playtime</a:t>
            </a:r>
            <a:r>
              <a:rPr lang="it-IT" sz="2400" dirty="0"/>
              <a:t>, average_2weeks, </a:t>
            </a:r>
            <a:r>
              <a:rPr lang="it-IT" sz="2400" dirty="0" err="1"/>
              <a:t>Metacritic</a:t>
            </a:r>
            <a:endParaRPr lang="it-IT" sz="2400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7CB14CCC-F956-45F7-F9E2-8AA08C293D80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11</a:t>
            </a:fld>
            <a:endParaRPr lang="it-IT" sz="1100" dirty="0">
              <a:latin typeface="Calibri" panose="020F0502020204030204" pitchFamily="34" charset="0"/>
            </a:endParaRP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6C1113C6-2D75-DFC6-DABB-D0AE0D875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222" y="3455367"/>
            <a:ext cx="4225695" cy="3169271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8F13DBC3-B343-99E3-1994-C3373098EF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522" y="3455365"/>
            <a:ext cx="4225694" cy="3169271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DE746332-BCFA-D7E0-0224-F8CB1AC5650C}"/>
              </a:ext>
            </a:extLst>
          </p:cNvPr>
          <p:cNvSpPr txBox="1"/>
          <p:nvPr/>
        </p:nvSpPr>
        <p:spPr>
          <a:xfrm>
            <a:off x="1043608" y="3460030"/>
            <a:ext cx="3240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 err="1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</a:t>
            </a:r>
            <a:r>
              <a:rPr lang="it-IT" sz="1000" dirty="0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Feature </a:t>
            </a:r>
            <a:r>
              <a:rPr lang="it-IT" sz="1000" dirty="0" err="1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Importance</a:t>
            </a:r>
            <a:r>
              <a:rPr lang="it-IT" sz="1000" dirty="0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(Gain) Post-Release Model</a:t>
            </a: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ACA5DC2-C6AB-D51E-4FC2-39DE50193010}"/>
              </a:ext>
            </a:extLst>
          </p:cNvPr>
          <p:cNvSpPr txBox="1"/>
          <p:nvPr/>
        </p:nvSpPr>
        <p:spPr>
          <a:xfrm>
            <a:off x="5380569" y="3455363"/>
            <a:ext cx="324036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000" dirty="0" err="1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Xgboost</a:t>
            </a:r>
            <a:r>
              <a:rPr lang="it-IT" sz="1000" dirty="0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Feature </a:t>
            </a:r>
            <a:r>
              <a:rPr lang="it-IT" sz="1000" dirty="0" err="1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Importance</a:t>
            </a:r>
            <a:r>
              <a:rPr lang="it-IT" sz="1000" dirty="0">
                <a:solidFill>
                  <a:schemeClr val="tx1"/>
                </a:solidFill>
                <a:highlight>
                  <a:srgbClr val="9999FF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(Gain) Pre-Release Model</a:t>
            </a:r>
          </a:p>
        </p:txBody>
      </p:sp>
    </p:spTree>
    <p:extLst>
      <p:ext uri="{BB962C8B-B14F-4D97-AF65-F5344CB8AC3E}">
        <p14:creationId xmlns:p14="http://schemas.microsoft.com/office/powerpoint/2010/main" val="4002164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97067-CF0D-4395-F573-C98DDE31F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F9F8CD-6409-A10F-98CA-BBD4AFD49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SHAP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EEFBE-974A-2E47-B8DC-667CB2F9FC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/>
              <a:t>Tier 0 (Flop):</a:t>
            </a:r>
            <a:r>
              <a:rPr lang="it-IT" sz="2400" dirty="0"/>
              <a:t> low price, </a:t>
            </a:r>
            <a:r>
              <a:rPr lang="it-IT" sz="2400" dirty="0" err="1"/>
              <a:t>missing</a:t>
            </a:r>
            <a:r>
              <a:rPr lang="it-IT" sz="2400" dirty="0"/>
              <a:t> </a:t>
            </a:r>
            <a:r>
              <a:rPr lang="it-IT" sz="2400" dirty="0" err="1"/>
              <a:t>language</a:t>
            </a:r>
            <a:r>
              <a:rPr lang="it-IT" sz="2400" dirty="0"/>
              <a:t> </a:t>
            </a:r>
            <a:r>
              <a:rPr lang="it-IT" sz="2400" dirty="0" err="1"/>
              <a:t>localizations</a:t>
            </a:r>
            <a:r>
              <a:rPr lang="it-IT" sz="2400" dirty="0"/>
              <a:t>, </a:t>
            </a:r>
            <a:r>
              <a:rPr lang="it-IT" sz="2400" dirty="0" err="1"/>
              <a:t>anchored</a:t>
            </a:r>
            <a:r>
              <a:rPr lang="it-IT" sz="2400" dirty="0"/>
              <a:t> to long-</a:t>
            </a:r>
            <a:r>
              <a:rPr lang="it-IT" sz="2400" dirty="0" err="1"/>
              <a:t>tail</a:t>
            </a:r>
            <a:endParaRPr lang="it-IT" sz="2400" dirty="0"/>
          </a:p>
          <a:p>
            <a:r>
              <a:rPr lang="it-IT" sz="2400" b="1" dirty="0"/>
              <a:t>Tier 4 (AAA Hit):</a:t>
            </a:r>
            <a:r>
              <a:rPr lang="it-IT" sz="2400" dirty="0"/>
              <a:t> high base pricing + </a:t>
            </a:r>
            <a:r>
              <a:rPr lang="it-IT" sz="2400" dirty="0" err="1"/>
              <a:t>extensive</a:t>
            </a:r>
            <a:r>
              <a:rPr lang="it-IT" sz="2400" dirty="0"/>
              <a:t> </a:t>
            </a:r>
            <a:r>
              <a:rPr lang="it-IT" sz="2400" dirty="0" err="1"/>
              <a:t>localization</a:t>
            </a:r>
            <a:r>
              <a:rPr lang="it-IT" sz="2400" dirty="0"/>
              <a:t> act </a:t>
            </a:r>
            <a:r>
              <a:rPr lang="it-IT" sz="2400" dirty="0" err="1"/>
              <a:t>as</a:t>
            </a:r>
            <a:r>
              <a:rPr lang="it-IT" sz="2400" dirty="0"/>
              <a:t> </a:t>
            </a:r>
            <a:r>
              <a:rPr lang="it-IT" sz="2400" dirty="0" err="1"/>
              <a:t>proxies</a:t>
            </a:r>
            <a:r>
              <a:rPr lang="it-IT" sz="2400" dirty="0"/>
              <a:t> for high-budget </a:t>
            </a:r>
            <a:r>
              <a:rPr lang="it-IT" sz="2400" dirty="0" err="1"/>
              <a:t>development</a:t>
            </a:r>
            <a:endParaRPr lang="it-IT" sz="2400" dirty="0"/>
          </a:p>
          <a:p>
            <a:r>
              <a:rPr lang="it-IT" sz="2400" dirty="0" err="1"/>
              <a:t>Actionable</a:t>
            </a:r>
            <a:r>
              <a:rPr lang="it-IT" sz="2400" dirty="0"/>
              <a:t> intelligence: developers can </a:t>
            </a:r>
            <a:r>
              <a:rPr lang="it-IT" sz="2400" dirty="0" err="1"/>
              <a:t>identify</a:t>
            </a:r>
            <a:r>
              <a:rPr lang="it-IT" sz="2400" dirty="0"/>
              <a:t> </a:t>
            </a:r>
            <a:r>
              <a:rPr lang="it-IT" sz="2400" dirty="0" err="1"/>
              <a:t>which</a:t>
            </a:r>
            <a:r>
              <a:rPr lang="it-IT" sz="2400" dirty="0"/>
              <a:t> pricing/</a:t>
            </a:r>
            <a:r>
              <a:rPr lang="it-IT" sz="2400" dirty="0" err="1"/>
              <a:t>localization</a:t>
            </a:r>
            <a:r>
              <a:rPr lang="it-IT" sz="2400" dirty="0"/>
              <a:t> </a:t>
            </a:r>
            <a:r>
              <a:rPr lang="it-IT" sz="2400" dirty="0" err="1"/>
              <a:t>adjustments</a:t>
            </a:r>
            <a:r>
              <a:rPr lang="it-IT" sz="2400" dirty="0"/>
              <a:t>/game </a:t>
            </a:r>
            <a:r>
              <a:rPr lang="it-IT" sz="2400" dirty="0" err="1"/>
              <a:t>genres</a:t>
            </a:r>
            <a:r>
              <a:rPr lang="it-IT" sz="2400" dirty="0"/>
              <a:t> elevate </a:t>
            </a:r>
            <a:r>
              <a:rPr lang="it-IT" sz="2400" dirty="0" err="1"/>
              <a:t>their</a:t>
            </a:r>
            <a:r>
              <a:rPr lang="it-IT" sz="2400" dirty="0"/>
              <a:t> </a:t>
            </a:r>
            <a:r>
              <a:rPr lang="it-IT" sz="2400" dirty="0" err="1"/>
              <a:t>prototype's</a:t>
            </a:r>
            <a:r>
              <a:rPr lang="it-IT" sz="2400" dirty="0"/>
              <a:t> </a:t>
            </a:r>
            <a:r>
              <a:rPr lang="it-IT" sz="2400" dirty="0" err="1"/>
              <a:t>predicted</a:t>
            </a:r>
            <a:r>
              <a:rPr lang="it-IT" sz="2400" dirty="0"/>
              <a:t> </a:t>
            </a:r>
            <a:r>
              <a:rPr lang="it-IT" sz="2400" dirty="0" err="1"/>
              <a:t>tier</a:t>
            </a:r>
            <a:endParaRPr lang="it-IT" sz="2400" dirty="0"/>
          </a:p>
          <a:p>
            <a:endParaRPr lang="it-IT" sz="2400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32B8300-A42B-A6A1-F0C9-39C8F8D194A7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12</a:t>
            </a:fld>
            <a:endParaRPr lang="it-IT" sz="1100" dirty="0">
              <a:latin typeface="Calibri" panose="020F0502020204030204" pitchFamily="34" charset="0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CD96CA89-C489-7308-6857-7DDD663EC64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4901" y="3831416"/>
            <a:ext cx="4109701" cy="2825419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DEECCA37-79E4-59F5-4D16-9CCBD887F5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6755" y="3831416"/>
            <a:ext cx="4109701" cy="282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374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F656A7-8551-0342-982D-8E9F979F7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D3A78-DBAD-86D3-FE04-6D8CB139E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Lime: Day-Zero Case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30B7FA-F424-B089-D1FD-190E063F1B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b="1" dirty="0"/>
              <a:t>LIME</a:t>
            </a:r>
            <a:r>
              <a:rPr lang="it-IT" sz="2400" dirty="0"/>
              <a:t> </a:t>
            </a:r>
            <a:r>
              <a:rPr lang="it-IT" sz="2400" dirty="0" err="1"/>
              <a:t>generates</a:t>
            </a:r>
            <a:r>
              <a:rPr lang="it-IT" sz="2400" dirty="0"/>
              <a:t> </a:t>
            </a:r>
            <a:r>
              <a:rPr lang="it-IT" sz="2400" dirty="0" err="1"/>
              <a:t>localized</a:t>
            </a:r>
            <a:r>
              <a:rPr lang="it-IT" sz="2400" dirty="0"/>
              <a:t> linear </a:t>
            </a:r>
            <a:r>
              <a:rPr lang="it-IT" sz="2400" dirty="0" err="1"/>
              <a:t>approximations</a:t>
            </a:r>
            <a:r>
              <a:rPr lang="it-IT" sz="2400" dirty="0"/>
              <a:t> </a:t>
            </a:r>
            <a:r>
              <a:rPr lang="it-IT" sz="2400" dirty="0" err="1"/>
              <a:t>around</a:t>
            </a:r>
            <a:r>
              <a:rPr lang="it-IT" sz="2400" dirty="0"/>
              <a:t> </a:t>
            </a:r>
            <a:r>
              <a:rPr lang="it-IT" sz="2400" dirty="0" err="1"/>
              <a:t>specific</a:t>
            </a:r>
            <a:r>
              <a:rPr lang="it-IT" sz="2400" dirty="0"/>
              <a:t> game release </a:t>
            </a:r>
            <a:r>
              <a:rPr lang="it-IT" sz="2400" dirty="0" err="1"/>
              <a:t>vectors</a:t>
            </a:r>
            <a:endParaRPr lang="it-IT" sz="2400" dirty="0"/>
          </a:p>
          <a:p>
            <a:r>
              <a:rPr lang="it-IT" sz="2400" b="1" dirty="0"/>
              <a:t>Inverse Scaling </a:t>
            </a:r>
            <a:r>
              <a:rPr lang="it-IT" sz="2400" b="1" dirty="0" err="1"/>
              <a:t>Mechanism</a:t>
            </a:r>
            <a:r>
              <a:rPr lang="it-IT" sz="2400" b="1" dirty="0"/>
              <a:t>:</a:t>
            </a:r>
            <a:r>
              <a:rPr lang="it-IT" sz="2400" dirty="0"/>
              <a:t> features </a:t>
            </a:r>
            <a:r>
              <a:rPr lang="it-IT" sz="2400" dirty="0" err="1"/>
              <a:t>converted</a:t>
            </a:r>
            <a:r>
              <a:rPr lang="it-IT" sz="2400" dirty="0"/>
              <a:t> back to </a:t>
            </a:r>
            <a:r>
              <a:rPr lang="it-IT" sz="2400" dirty="0" err="1"/>
              <a:t>real</a:t>
            </a:r>
            <a:r>
              <a:rPr lang="it-IT" sz="2400" dirty="0"/>
              <a:t>-world </a:t>
            </a:r>
            <a:r>
              <a:rPr lang="it-IT" sz="2400" dirty="0" err="1"/>
              <a:t>units</a:t>
            </a:r>
            <a:r>
              <a:rPr lang="it-IT" sz="2400" dirty="0"/>
              <a:t> (GB RAM, </a:t>
            </a:r>
            <a:r>
              <a:rPr lang="it-IT" sz="2400" dirty="0" err="1"/>
              <a:t>true</a:t>
            </a:r>
            <a:r>
              <a:rPr lang="it-IT" sz="2400" dirty="0"/>
              <a:t> price) for human-</a:t>
            </a:r>
            <a:r>
              <a:rPr lang="it-IT" sz="2400" dirty="0" err="1"/>
              <a:t>readable</a:t>
            </a:r>
            <a:r>
              <a:rPr lang="it-IT" sz="2400" dirty="0"/>
              <a:t> output</a:t>
            </a:r>
          </a:p>
          <a:p>
            <a:r>
              <a:rPr lang="it-IT" sz="2400" dirty="0"/>
              <a:t>Stakeholders can </a:t>
            </a:r>
            <a:r>
              <a:rPr lang="it-IT" sz="2400" dirty="0" err="1"/>
              <a:t>perform</a:t>
            </a:r>
            <a:r>
              <a:rPr lang="it-IT" sz="2400" dirty="0"/>
              <a:t> </a:t>
            </a:r>
            <a:r>
              <a:rPr lang="it-IT" sz="2400" b="1" dirty="0"/>
              <a:t>"</a:t>
            </a:r>
            <a:r>
              <a:rPr lang="it-IT" sz="2400" b="1" dirty="0" err="1"/>
              <a:t>what-if</a:t>
            </a:r>
            <a:r>
              <a:rPr lang="it-IT" sz="2400" b="1" dirty="0"/>
              <a:t>" </a:t>
            </a:r>
            <a:r>
              <a:rPr lang="it-IT" sz="2400" b="1" dirty="0" err="1"/>
              <a:t>analyses</a:t>
            </a:r>
            <a:r>
              <a:rPr lang="it-IT" sz="2400" dirty="0"/>
              <a:t>: </a:t>
            </a:r>
            <a:r>
              <a:rPr lang="it-IT" sz="2400" dirty="0" err="1"/>
              <a:t>which</a:t>
            </a:r>
            <a:r>
              <a:rPr lang="it-IT" sz="2400" dirty="0"/>
              <a:t> technical or pricing </a:t>
            </a:r>
            <a:r>
              <a:rPr lang="it-IT" sz="2400" dirty="0" err="1"/>
              <a:t>adjustments</a:t>
            </a:r>
            <a:r>
              <a:rPr lang="it-IT" sz="2400" dirty="0"/>
              <a:t> elevate a </a:t>
            </a:r>
            <a:r>
              <a:rPr lang="it-IT" sz="2400" dirty="0" err="1"/>
              <a:t>prototype</a:t>
            </a:r>
            <a:r>
              <a:rPr lang="it-IT" sz="2400" dirty="0"/>
              <a:t> to a </a:t>
            </a:r>
            <a:r>
              <a:rPr lang="it-IT" sz="2400" dirty="0" err="1"/>
              <a:t>higher</a:t>
            </a:r>
            <a:r>
              <a:rPr lang="it-IT" sz="2400" dirty="0"/>
              <a:t> </a:t>
            </a:r>
            <a:r>
              <a:rPr lang="it-IT" sz="2400" dirty="0" err="1"/>
              <a:t>tier</a:t>
            </a:r>
            <a:r>
              <a:rPr lang="it-IT" sz="2400" dirty="0"/>
              <a:t>?</a:t>
            </a:r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1F1B6F8E-9880-9DD1-1D4A-4CBD2F58C9AF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13</a:t>
            </a:fld>
            <a:endParaRPr lang="it-IT" sz="1100" dirty="0">
              <a:latin typeface="Calibri" panose="020F0502020204030204" pitchFamily="34" charset="0"/>
            </a:endParaRP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FFF39CDC-79FD-798C-C49C-95A10F19721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5781" y="3429000"/>
            <a:ext cx="4248472" cy="3158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84731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AFB4A-A3B4-CFFB-D3B2-536C2E14F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44FEC-3DF7-A0A6-B85A-43AEEA5F5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/>
              <a:t>Production Deployment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F3BBC9-13FF-71E8-E2CA-EAD07B932C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dirty="0" err="1"/>
              <a:t>Final</a:t>
            </a:r>
            <a:r>
              <a:rPr lang="it-IT" sz="2400" dirty="0"/>
              <a:t> model </a:t>
            </a:r>
            <a:r>
              <a:rPr lang="it-IT" sz="2400" dirty="0" err="1"/>
              <a:t>refitted</a:t>
            </a:r>
            <a:r>
              <a:rPr lang="it-IT" sz="2400" dirty="0"/>
              <a:t> on </a:t>
            </a:r>
            <a:r>
              <a:rPr lang="it-IT" sz="2400" b="1" dirty="0"/>
              <a:t>100% of </a:t>
            </a:r>
            <a:r>
              <a:rPr lang="it-IT" sz="2400" b="1" dirty="0" err="1"/>
              <a:t>available</a:t>
            </a:r>
            <a:r>
              <a:rPr lang="it-IT" sz="2400" b="1" dirty="0"/>
              <a:t> data</a:t>
            </a:r>
            <a:r>
              <a:rPr lang="it-IT" sz="2400" dirty="0"/>
              <a:t> after </a:t>
            </a:r>
            <a:r>
              <a:rPr lang="it-IT" sz="2400" dirty="0" err="1"/>
              <a:t>validation</a:t>
            </a:r>
            <a:endParaRPr lang="it-IT" sz="2400" dirty="0"/>
          </a:p>
          <a:p>
            <a:r>
              <a:rPr lang="it-IT" sz="2400" dirty="0" err="1"/>
              <a:t>SentenceTransformer</a:t>
            </a:r>
            <a:r>
              <a:rPr lang="it-IT" sz="2400" dirty="0"/>
              <a:t> </a:t>
            </a:r>
            <a:r>
              <a:rPr lang="it-IT" sz="2400" dirty="0" err="1"/>
              <a:t>recomputes</a:t>
            </a:r>
            <a:r>
              <a:rPr lang="it-IT" sz="2400" dirty="0"/>
              <a:t> dense semantic </a:t>
            </a:r>
            <a:r>
              <a:rPr lang="it-IT" sz="2400" dirty="0" err="1"/>
              <a:t>embeddings</a:t>
            </a:r>
            <a:r>
              <a:rPr lang="it-IT" sz="2400" dirty="0"/>
              <a:t> </a:t>
            </a:r>
            <a:r>
              <a:rPr lang="it-IT" sz="2400" dirty="0" err="1"/>
              <a:t>across</a:t>
            </a:r>
            <a:r>
              <a:rPr lang="it-IT" sz="2400" dirty="0"/>
              <a:t> the full corpus </a:t>
            </a:r>
            <a:r>
              <a:rPr lang="it-IT" sz="2400" dirty="0" err="1"/>
              <a:t>before</a:t>
            </a:r>
            <a:r>
              <a:rPr lang="it-IT" sz="2400" dirty="0"/>
              <a:t> </a:t>
            </a:r>
            <a:r>
              <a:rPr lang="it-IT" sz="2400" dirty="0" err="1"/>
              <a:t>final</a:t>
            </a:r>
            <a:r>
              <a:rPr lang="it-IT" sz="2400" dirty="0"/>
              <a:t> </a:t>
            </a:r>
            <a:r>
              <a:rPr lang="it-IT" sz="2400" dirty="0" err="1"/>
              <a:t>fit</a:t>
            </a:r>
            <a:endParaRPr lang="it-IT" sz="2400" dirty="0"/>
          </a:p>
          <a:p>
            <a:r>
              <a:rPr lang="it-IT" sz="2400" dirty="0"/>
              <a:t>Full </a:t>
            </a:r>
            <a:r>
              <a:rPr lang="it-IT" sz="2400" dirty="0" err="1"/>
              <a:t>ImbPipeline</a:t>
            </a:r>
            <a:r>
              <a:rPr lang="it-IT" sz="2400" dirty="0"/>
              <a:t> + </a:t>
            </a:r>
            <a:r>
              <a:rPr lang="it-IT" sz="2400" dirty="0" err="1"/>
              <a:t>Differential</a:t>
            </a:r>
            <a:r>
              <a:rPr lang="it-IT" sz="2400" dirty="0"/>
              <a:t> </a:t>
            </a:r>
            <a:r>
              <a:rPr lang="it-IT" sz="2400" dirty="0" err="1"/>
              <a:t>Evolution</a:t>
            </a:r>
            <a:r>
              <a:rPr lang="it-IT" sz="2400" dirty="0"/>
              <a:t> weights </a:t>
            </a:r>
            <a:r>
              <a:rPr lang="it-IT" sz="2400" dirty="0" err="1"/>
              <a:t>serialized</a:t>
            </a:r>
            <a:r>
              <a:rPr lang="it-IT" sz="2400" dirty="0"/>
              <a:t> via </a:t>
            </a:r>
            <a:r>
              <a:rPr lang="it-IT" sz="2400" b="1" dirty="0" err="1"/>
              <a:t>joblib</a:t>
            </a:r>
            <a:r>
              <a:rPr lang="it-IT" sz="2400" b="1" dirty="0"/>
              <a:t> (.</a:t>
            </a:r>
            <a:r>
              <a:rPr lang="it-IT" sz="2400" b="1" dirty="0" err="1"/>
              <a:t>pkl</a:t>
            </a:r>
            <a:r>
              <a:rPr lang="it-IT" sz="2400" b="1" dirty="0"/>
              <a:t>)</a:t>
            </a:r>
            <a:endParaRPr lang="it-IT" sz="2400" dirty="0"/>
          </a:p>
          <a:p>
            <a:r>
              <a:rPr lang="it-IT" sz="2400" dirty="0"/>
              <a:t>Two production </a:t>
            </a:r>
            <a:r>
              <a:rPr lang="it-IT" sz="2400" dirty="0" err="1"/>
              <a:t>artifacts</a:t>
            </a:r>
            <a:r>
              <a:rPr lang="it-IT" sz="2400" dirty="0"/>
              <a:t>: </a:t>
            </a:r>
            <a:r>
              <a:rPr lang="it-IT" sz="2400" b="1" dirty="0"/>
              <a:t>Pre-Release Forecaster</a:t>
            </a:r>
            <a:r>
              <a:rPr lang="it-IT" sz="2400" dirty="0"/>
              <a:t> (day-zero metadata </a:t>
            </a:r>
            <a:r>
              <a:rPr lang="it-IT" sz="2400" dirty="0" err="1"/>
              <a:t>only</a:t>
            </a:r>
            <a:r>
              <a:rPr lang="it-IT" sz="2400" dirty="0"/>
              <a:t>) and </a:t>
            </a:r>
            <a:r>
              <a:rPr lang="it-IT" sz="2400" b="1" dirty="0"/>
              <a:t>Post-Release Analyzer</a:t>
            </a:r>
            <a:endParaRPr lang="it-IT" sz="2400" dirty="0"/>
          </a:p>
          <a:p>
            <a:r>
              <a:rPr lang="it-IT" sz="2400" dirty="0"/>
              <a:t>CLI-</a:t>
            </a:r>
            <a:r>
              <a:rPr lang="it-IT" sz="2400" dirty="0" err="1"/>
              <a:t>driven</a:t>
            </a:r>
            <a:r>
              <a:rPr lang="it-IT" sz="2400" dirty="0"/>
              <a:t> </a:t>
            </a:r>
            <a:r>
              <a:rPr lang="it-IT" sz="2400" dirty="0" err="1"/>
              <a:t>execution</a:t>
            </a:r>
            <a:r>
              <a:rPr lang="it-IT" sz="2400" dirty="0"/>
              <a:t> suite with flags: --full, --</a:t>
            </a:r>
            <a:r>
              <a:rPr lang="it-IT" sz="2400" dirty="0" err="1"/>
              <a:t>seed</a:t>
            </a:r>
            <a:r>
              <a:rPr lang="it-IT" sz="2400" dirty="0"/>
              <a:t>, --</a:t>
            </a:r>
            <a:r>
              <a:rPr lang="it-IT" sz="2400" dirty="0" err="1"/>
              <a:t>pre_release</a:t>
            </a:r>
            <a:endParaRPr lang="it-IT" sz="2400" dirty="0"/>
          </a:p>
          <a:p>
            <a:pPr marL="0" indent="0">
              <a:buNone/>
            </a:pPr>
            <a:endParaRPr lang="it-IT" sz="2400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B6BC449D-1FE7-4CD1-3C78-649FE8CDCBC3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14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099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DCC72-F0F8-B196-755D-7958160B5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4779C-56FC-7C39-5D0B-81D8E277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b="1" dirty="0" err="1"/>
              <a:t>Conclusions</a:t>
            </a:r>
            <a:r>
              <a:rPr lang="it-IT" b="1" dirty="0"/>
              <a:t>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9CE86-AADD-6251-20D6-84D08FA5F1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2400" dirty="0" err="1"/>
              <a:t>Successfully</a:t>
            </a:r>
            <a:r>
              <a:rPr lang="it-IT" sz="2400" dirty="0"/>
              <a:t> </a:t>
            </a:r>
            <a:r>
              <a:rPr lang="it-IT" sz="2400" dirty="0" err="1"/>
              <a:t>demonstrates</a:t>
            </a:r>
            <a:r>
              <a:rPr lang="it-IT" sz="2400" dirty="0"/>
              <a:t> </a:t>
            </a:r>
            <a:r>
              <a:rPr lang="it-IT" sz="2400" dirty="0" err="1"/>
              <a:t>that</a:t>
            </a:r>
            <a:r>
              <a:rPr lang="it-IT" sz="2400" dirty="0"/>
              <a:t> commercial game </a:t>
            </a:r>
            <a:r>
              <a:rPr lang="it-IT" sz="2400" dirty="0" err="1"/>
              <a:t>trajectories</a:t>
            </a:r>
            <a:r>
              <a:rPr lang="it-IT" sz="2400" dirty="0"/>
              <a:t> can be </a:t>
            </a:r>
            <a:r>
              <a:rPr lang="it-IT" sz="2400" dirty="0" err="1"/>
              <a:t>modeled</a:t>
            </a:r>
            <a:r>
              <a:rPr lang="it-IT" sz="2400" dirty="0"/>
              <a:t> from </a:t>
            </a:r>
            <a:r>
              <a:rPr lang="it-IT" sz="2400" dirty="0" err="1"/>
              <a:t>storefront</a:t>
            </a:r>
            <a:r>
              <a:rPr lang="it-IT" sz="2400" dirty="0"/>
              <a:t> metadata with zero data leakage</a:t>
            </a:r>
          </a:p>
          <a:p>
            <a:r>
              <a:rPr lang="it-IT" sz="2400" dirty="0"/>
              <a:t>Pipeline </a:t>
            </a:r>
            <a:r>
              <a:rPr lang="it-IT" sz="2400" dirty="0" err="1"/>
              <a:t>neutralizes</a:t>
            </a:r>
            <a:r>
              <a:rPr lang="it-IT" sz="2400" dirty="0"/>
              <a:t> </a:t>
            </a:r>
            <a:r>
              <a:rPr lang="it-IT" sz="2400" dirty="0" err="1"/>
              <a:t>extreme</a:t>
            </a:r>
            <a:r>
              <a:rPr lang="it-IT" sz="2400" dirty="0"/>
              <a:t> power-</a:t>
            </a:r>
            <a:r>
              <a:rPr lang="it-IT" sz="2400" dirty="0" err="1"/>
              <a:t>law</a:t>
            </a:r>
            <a:r>
              <a:rPr lang="it-IT" sz="2400" dirty="0"/>
              <a:t> </a:t>
            </a:r>
            <a:r>
              <a:rPr lang="it-IT" sz="2400" dirty="0" err="1"/>
              <a:t>imbalance</a:t>
            </a:r>
            <a:r>
              <a:rPr lang="it-IT" sz="2400" dirty="0"/>
              <a:t> via SMOTENC + Tomek Links + </a:t>
            </a:r>
            <a:r>
              <a:rPr lang="it-IT" sz="2400" dirty="0" err="1"/>
              <a:t>Differential</a:t>
            </a:r>
            <a:r>
              <a:rPr lang="it-IT" sz="2400" dirty="0"/>
              <a:t> </a:t>
            </a:r>
            <a:r>
              <a:rPr lang="it-IT" sz="2400" dirty="0" err="1"/>
              <a:t>Evolution</a:t>
            </a:r>
            <a:r>
              <a:rPr lang="it-IT" sz="2400" dirty="0"/>
              <a:t> </a:t>
            </a:r>
            <a:r>
              <a:rPr lang="it-IT" sz="2400" dirty="0" err="1"/>
              <a:t>calibration</a:t>
            </a:r>
            <a:endParaRPr lang="it-IT" sz="2400" dirty="0"/>
          </a:p>
          <a:p>
            <a:r>
              <a:rPr lang="it-IT" sz="2400" dirty="0"/>
              <a:t>XAI suite (SHAP + LIME) </a:t>
            </a:r>
            <a:r>
              <a:rPr lang="it-IT" sz="2400" dirty="0" err="1"/>
              <a:t>translates</a:t>
            </a:r>
            <a:r>
              <a:rPr lang="it-IT" sz="2400" dirty="0"/>
              <a:t> </a:t>
            </a:r>
            <a:r>
              <a:rPr lang="it-IT" sz="2400" dirty="0" err="1"/>
              <a:t>complex</a:t>
            </a:r>
            <a:r>
              <a:rPr lang="it-IT" sz="2400" dirty="0"/>
              <a:t> </a:t>
            </a:r>
            <a:r>
              <a:rPr lang="it-IT" sz="2400" dirty="0" err="1"/>
              <a:t>XGBoost</a:t>
            </a:r>
            <a:r>
              <a:rPr lang="it-IT" sz="2400" dirty="0"/>
              <a:t> </a:t>
            </a:r>
            <a:r>
              <a:rPr lang="it-IT" sz="2400" dirty="0" err="1"/>
              <a:t>decisions</a:t>
            </a:r>
            <a:r>
              <a:rPr lang="it-IT" sz="2400" dirty="0"/>
              <a:t> </a:t>
            </a:r>
            <a:r>
              <a:rPr lang="it-IT" sz="2400" dirty="0" err="1"/>
              <a:t>into</a:t>
            </a:r>
            <a:r>
              <a:rPr lang="it-IT" sz="2400" dirty="0"/>
              <a:t> </a:t>
            </a:r>
            <a:r>
              <a:rPr lang="it-IT" sz="2400" dirty="0" err="1"/>
              <a:t>actionable</a:t>
            </a:r>
            <a:r>
              <a:rPr lang="it-IT" sz="2400" dirty="0"/>
              <a:t> </a:t>
            </a:r>
            <a:r>
              <a:rPr lang="it-IT" sz="2400" dirty="0" err="1"/>
              <a:t>real</a:t>
            </a:r>
            <a:r>
              <a:rPr lang="it-IT" sz="2400" dirty="0"/>
              <a:t>-world </a:t>
            </a:r>
            <a:r>
              <a:rPr lang="it-IT" sz="2400" dirty="0" err="1"/>
              <a:t>metrics</a:t>
            </a:r>
            <a:endParaRPr lang="it-IT" sz="2400" dirty="0"/>
          </a:p>
          <a:p>
            <a:r>
              <a:rPr lang="it-IT" sz="2400" b="1" dirty="0"/>
              <a:t>Future — 2D Market </a:t>
            </a:r>
            <a:r>
              <a:rPr lang="it-IT" sz="2400" b="1" dirty="0" err="1"/>
              <a:t>Fit</a:t>
            </a:r>
            <a:r>
              <a:rPr lang="it-IT" sz="2400" b="1" dirty="0"/>
              <a:t> Matrix:</a:t>
            </a:r>
            <a:r>
              <a:rPr lang="it-IT" sz="2400" dirty="0"/>
              <a:t> </a:t>
            </a:r>
            <a:r>
              <a:rPr lang="it-IT" sz="2400" dirty="0" err="1"/>
              <a:t>couple</a:t>
            </a:r>
            <a:r>
              <a:rPr lang="it-IT" sz="2400" dirty="0"/>
              <a:t> Ownership Tier </a:t>
            </a:r>
            <a:r>
              <a:rPr lang="it-IT" sz="2400" dirty="0" err="1"/>
              <a:t>classifier</a:t>
            </a:r>
            <a:r>
              <a:rPr lang="it-IT" sz="2400" dirty="0"/>
              <a:t> with an </a:t>
            </a:r>
            <a:r>
              <a:rPr lang="it-IT" sz="2400" dirty="0" err="1"/>
              <a:t>Approval</a:t>
            </a:r>
            <a:r>
              <a:rPr lang="it-IT" sz="2400" dirty="0"/>
              <a:t> Rating </a:t>
            </a:r>
            <a:r>
              <a:rPr lang="it-IT" sz="2400" dirty="0" err="1"/>
              <a:t>regressor</a:t>
            </a:r>
            <a:r>
              <a:rPr lang="it-IT" sz="2400" dirty="0"/>
              <a:t> (Volume × Sentiment </a:t>
            </a:r>
            <a:r>
              <a:rPr lang="it-IT" sz="2400" dirty="0" err="1"/>
              <a:t>quadrant</a:t>
            </a:r>
            <a:r>
              <a:rPr lang="it-IT" sz="2400" dirty="0"/>
              <a:t>)</a:t>
            </a:r>
          </a:p>
          <a:p>
            <a:r>
              <a:rPr lang="it-IT" sz="2400" b="1" dirty="0"/>
              <a:t>Future — Multi-</a:t>
            </a:r>
            <a:r>
              <a:rPr lang="it-IT" sz="2400" b="1" dirty="0" err="1"/>
              <a:t>Modal</a:t>
            </a:r>
            <a:r>
              <a:rPr lang="it-IT" sz="2400" b="1" dirty="0"/>
              <a:t> Expansion:</a:t>
            </a:r>
            <a:r>
              <a:rPr lang="it-IT" sz="2400" dirty="0"/>
              <a:t> </a:t>
            </a:r>
            <a:r>
              <a:rPr lang="it-IT" sz="2400" dirty="0" err="1"/>
              <a:t>CNNs</a:t>
            </a:r>
            <a:r>
              <a:rPr lang="it-IT" sz="2400" dirty="0"/>
              <a:t> for </a:t>
            </a:r>
            <a:r>
              <a:rPr lang="it-IT" sz="2400" dirty="0" err="1"/>
              <a:t>promotional</a:t>
            </a:r>
            <a:r>
              <a:rPr lang="it-IT" sz="2400" dirty="0"/>
              <a:t> </a:t>
            </a:r>
            <a:r>
              <a:rPr lang="it-IT" sz="2400" dirty="0" err="1"/>
              <a:t>screenshots</a:t>
            </a:r>
            <a:r>
              <a:rPr lang="it-IT" sz="2400" dirty="0"/>
              <a:t>, </a:t>
            </a:r>
            <a:r>
              <a:rPr lang="it-IT" sz="2400" dirty="0" err="1"/>
              <a:t>sequence</a:t>
            </a:r>
            <a:r>
              <a:rPr lang="it-IT" sz="2400" dirty="0"/>
              <a:t> models for gameplay trailer </a:t>
            </a:r>
            <a:r>
              <a:rPr lang="it-IT" sz="2400" dirty="0" err="1"/>
              <a:t>aesthetics</a:t>
            </a:r>
            <a:endParaRPr lang="it-IT" sz="2400" dirty="0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8F2C43A-AC1F-F519-0F74-5739EAE9F96B}"/>
              </a:ext>
            </a:extLst>
          </p:cNvPr>
          <p:cNvSpPr txBox="1">
            <a:spLocks/>
          </p:cNvSpPr>
          <p:nvPr/>
        </p:nvSpPr>
        <p:spPr bwMode="auto">
          <a:xfrm>
            <a:off x="17463" y="6624638"/>
            <a:ext cx="9126537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l"/>
            <a:r>
              <a:rPr lang="en-US" sz="1100" i="1" dirty="0" err="1">
                <a:latin typeface="Calibri" panose="020F0502020204030204" pitchFamily="34" charset="0"/>
              </a:rPr>
              <a:t>HitPredictor</a:t>
            </a:r>
            <a:r>
              <a:rPr lang="en-US" sz="1100" i="1" dirty="0">
                <a:latin typeface="Calibri" panose="020F0502020204030204" pitchFamily="34" charset="0"/>
              </a:rPr>
              <a:t>-Steam</a:t>
            </a:r>
            <a:r>
              <a:rPr lang="en-US" sz="1100" dirty="0">
                <a:latin typeface="Calibri" panose="020F0502020204030204" pitchFamily="34" charset="0"/>
              </a:rPr>
              <a:t>							</a:t>
            </a:r>
            <a:fld id="{9EA84853-51C7-4A16-B21A-2D25E6B14CA2}" type="slidenum">
              <a:rPr lang="en-US" sz="1100" smtClean="0">
                <a:latin typeface="Calibri" panose="020F0502020204030204" pitchFamily="34" charset="0"/>
              </a:rPr>
              <a:t>15</a:t>
            </a:fld>
            <a:endParaRPr lang="it-IT" sz="1100" dirty="0"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2359462"/>
      </p:ext>
    </p:extLst>
  </p:cSld>
  <p:clrMapOvr>
    <a:masterClrMapping/>
  </p:clrMapOvr>
</p:sld>
</file>

<file path=ppt/theme/theme1.xml><?xml version="1.0" encoding="utf-8"?>
<a:theme xmlns:a="http://schemas.openxmlformats.org/drawingml/2006/main" name="Struttura predefinita">
  <a:themeElements>
    <a:clrScheme name="Struttura predefinita 14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61CB96"/>
      </a:accent1>
      <a:accent2>
        <a:srgbClr val="008080"/>
      </a:accent2>
      <a:accent3>
        <a:srgbClr val="FFFFFF"/>
      </a:accent3>
      <a:accent4>
        <a:srgbClr val="000000"/>
      </a:accent4>
      <a:accent5>
        <a:srgbClr val="B7E2C9"/>
      </a:accent5>
      <a:accent6>
        <a:srgbClr val="007373"/>
      </a:accent6>
      <a:hlink>
        <a:srgbClr val="009999"/>
      </a:hlink>
      <a:folHlink>
        <a:srgbClr val="006666"/>
      </a:folHlink>
    </a:clrScheme>
    <a:fontScheme name="Struttura predefinita">
      <a:majorFont>
        <a:latin typeface="Franklin Gothic Demi Cond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it-IT" sz="4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Franklin Gothic Heavy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it-IT" sz="4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Franklin Gothic Heavy" pitchFamily="34" charset="0"/>
          </a:defRPr>
        </a:defPPr>
      </a:lstStyle>
    </a:lnDef>
  </a:objectDefaults>
  <a:extraClrSchemeLst>
    <a:extraClrScheme>
      <a:clrScheme name="Struttura predefinita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Struttura predefinita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006666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005C5C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1CB96"/>
        </a:accent1>
        <a:accent2>
          <a:srgbClr val="008080"/>
        </a:accent2>
        <a:accent3>
          <a:srgbClr val="FFFFFF"/>
        </a:accent3>
        <a:accent4>
          <a:srgbClr val="000000"/>
        </a:accent4>
        <a:accent5>
          <a:srgbClr val="B7E2C9"/>
        </a:accent5>
        <a:accent6>
          <a:srgbClr val="007373"/>
        </a:accent6>
        <a:hlink>
          <a:srgbClr val="009999"/>
        </a:hlink>
        <a:folHlink>
          <a:srgbClr val="0066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Struttura predefinita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1CB96"/>
        </a:accent1>
        <a:accent2>
          <a:srgbClr val="008080"/>
        </a:accent2>
        <a:accent3>
          <a:srgbClr val="FFFFFF"/>
        </a:accent3>
        <a:accent4>
          <a:srgbClr val="000000"/>
        </a:accent4>
        <a:accent5>
          <a:srgbClr val="B7E2C9"/>
        </a:accent5>
        <a:accent6>
          <a:srgbClr val="007373"/>
        </a:accent6>
        <a:hlink>
          <a:srgbClr val="4D4D4D"/>
        </a:hlink>
        <a:folHlink>
          <a:srgbClr val="0066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utline">
  <a:themeElements>
    <a:clrScheme name="Outline 15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61CB96"/>
      </a:accent1>
      <a:accent2>
        <a:srgbClr val="008080"/>
      </a:accent2>
      <a:accent3>
        <a:srgbClr val="FFFFFF"/>
      </a:accent3>
      <a:accent4>
        <a:srgbClr val="000000"/>
      </a:accent4>
      <a:accent5>
        <a:srgbClr val="B7E2C9"/>
      </a:accent5>
      <a:accent6>
        <a:srgbClr val="007373"/>
      </a:accent6>
      <a:hlink>
        <a:srgbClr val="4D4D4D"/>
      </a:hlink>
      <a:folHlink>
        <a:srgbClr val="006666"/>
      </a:folHlink>
    </a:clrScheme>
    <a:fontScheme name="Outline">
      <a:majorFont>
        <a:latin typeface="Franklin Gothic Demi Cond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it-IT" sz="4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Franklin Gothic Heavy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it-IT" sz="4000" b="0" i="0" u="none" strike="noStrike" cap="none" normalizeH="0" baseline="0" smtClean="0">
            <a:ln>
              <a:noFill/>
            </a:ln>
            <a:solidFill>
              <a:schemeClr val="bg1"/>
            </a:solidFill>
            <a:effectLst/>
            <a:latin typeface="Franklin Gothic Heavy" pitchFamily="34" charset="0"/>
          </a:defRPr>
        </a:defPPr>
      </a:lstStyle>
    </a:lnDef>
  </a:objectDefaults>
  <a:extraClrSchemeLst>
    <a:extraClrScheme>
      <a:clrScheme name="Outlin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Outline 1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006666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005C5C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1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1CB96"/>
        </a:accent1>
        <a:accent2>
          <a:srgbClr val="008080"/>
        </a:accent2>
        <a:accent3>
          <a:srgbClr val="FFFFFF"/>
        </a:accent3>
        <a:accent4>
          <a:srgbClr val="000000"/>
        </a:accent4>
        <a:accent5>
          <a:srgbClr val="B7E2C9"/>
        </a:accent5>
        <a:accent6>
          <a:srgbClr val="007373"/>
        </a:accent6>
        <a:hlink>
          <a:srgbClr val="009999"/>
        </a:hlink>
        <a:folHlink>
          <a:srgbClr val="0066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utline 1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61CB96"/>
        </a:accent1>
        <a:accent2>
          <a:srgbClr val="008080"/>
        </a:accent2>
        <a:accent3>
          <a:srgbClr val="FFFFFF"/>
        </a:accent3>
        <a:accent4>
          <a:srgbClr val="000000"/>
        </a:accent4>
        <a:accent5>
          <a:srgbClr val="B7E2C9"/>
        </a:accent5>
        <a:accent6>
          <a:srgbClr val="007373"/>
        </a:accent6>
        <a:hlink>
          <a:srgbClr val="4D4D4D"/>
        </a:hlink>
        <a:folHlink>
          <a:srgbClr val="00666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i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utline 14">
    <a:dk1>
      <a:srgbClr val="000000"/>
    </a:dk1>
    <a:lt1>
      <a:srgbClr val="FFFFFF"/>
    </a:lt1>
    <a:dk2>
      <a:srgbClr val="000000"/>
    </a:dk2>
    <a:lt2>
      <a:srgbClr val="808080"/>
    </a:lt2>
    <a:accent1>
      <a:srgbClr val="61CB96"/>
    </a:accent1>
    <a:accent2>
      <a:srgbClr val="008080"/>
    </a:accent2>
    <a:accent3>
      <a:srgbClr val="FFFFFF"/>
    </a:accent3>
    <a:accent4>
      <a:srgbClr val="000000"/>
    </a:accent4>
    <a:accent5>
      <a:srgbClr val="B7E2C9"/>
    </a:accent5>
    <a:accent6>
      <a:srgbClr val="007373"/>
    </a:accent6>
    <a:hlink>
      <a:srgbClr val="009999"/>
    </a:hlink>
    <a:folHlink>
      <a:srgbClr val="006666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30733</TotalTime>
  <Words>1164</Words>
  <Application>Microsoft Office PowerPoint</Application>
  <PresentationFormat>Presentazione su schermo (4:3)</PresentationFormat>
  <Paragraphs>130</Paragraphs>
  <Slides>15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2</vt:i4>
      </vt:variant>
      <vt:variant>
        <vt:lpstr>Titoli diapositive</vt:lpstr>
      </vt:variant>
      <vt:variant>
        <vt:i4>15</vt:i4>
      </vt:variant>
    </vt:vector>
  </HeadingPairs>
  <TitlesOfParts>
    <vt:vector size="26" baseType="lpstr">
      <vt:lpstr>Arial</vt:lpstr>
      <vt:lpstr>Calibri</vt:lpstr>
      <vt:lpstr>Courier New</vt:lpstr>
      <vt:lpstr>Franklin Gothic Demi</vt:lpstr>
      <vt:lpstr>Franklin Gothic Demi Cond</vt:lpstr>
      <vt:lpstr>Franklin Gothic Heavy</vt:lpstr>
      <vt:lpstr>Franklin Gothic Medium</vt:lpstr>
      <vt:lpstr>Franklin Gothic Medium Cond</vt:lpstr>
      <vt:lpstr>Wingdings</vt:lpstr>
      <vt:lpstr>Struttura predefinita</vt:lpstr>
      <vt:lpstr>Outline</vt:lpstr>
      <vt:lpstr>HitPredictor-Steam</vt:lpstr>
      <vt:lpstr>Project Overview &amp; Market Context</vt:lpstr>
      <vt:lpstr>Dataset Architecture</vt:lpstr>
      <vt:lpstr>Data Cleaning and Pre-Processing</vt:lpstr>
      <vt:lpstr>Class Imbalance Resolution</vt:lpstr>
      <vt:lpstr>Validation Strategy</vt:lpstr>
      <vt:lpstr>Hyperparameter Optimization</vt:lpstr>
      <vt:lpstr>Model Comparison: XGBoost Dominates</vt:lpstr>
      <vt:lpstr>Final Calibration</vt:lpstr>
      <vt:lpstr>Confusion Matrix Analysis</vt:lpstr>
      <vt:lpstr>Feature Importance</vt:lpstr>
      <vt:lpstr>SHAP Analysis</vt:lpstr>
      <vt:lpstr>Lime: Day-Zero Case Study</vt:lpstr>
      <vt:lpstr>Production Deployment</vt:lpstr>
      <vt:lpstr>Conclusions &amp; Future Work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Progetto e valutazione di un protocollo di power management per reti di sensori</dc:title>
  <dc:creator>Mdf</dc:creator>
  <cp:lastModifiedBy>Andrea Zanin</cp:lastModifiedBy>
  <cp:revision>1211</cp:revision>
  <cp:lastPrinted>2016-05-24T07:18:58Z</cp:lastPrinted>
  <dcterms:created xsi:type="dcterms:W3CDTF">2005-03-30T13:34:00Z</dcterms:created>
  <dcterms:modified xsi:type="dcterms:W3CDTF">2026-07-23T15:13:23Z</dcterms:modified>
</cp:coreProperties>
</file>