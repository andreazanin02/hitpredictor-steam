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93556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640080"/>
            <a:ext cx="8321040" cy="320040"/>
          </a:xfrm>
          <a:prstGeom prst="rect">
            <a:avLst/>
          </a:prstGeom>
          <a:noFill/>
          <a:ln/>
        </p:spPr>
        <p:txBody>
          <a:bodyPr wrap="square" lIns="0" tIns="0" rIns="0" bIns="0" rtlCol="0" anchor="ctr"/>
          <a:lstStyle/>
          <a:p>
            <a:pPr marL="0" indent="0" algn="l">
              <a:buNone/>
            </a:pPr>
            <a:r>
              <a:rPr lang="en-US" sz="1000" b="1" kern="0" spc="250" dirty="0">
                <a:solidFill>
                  <a:srgbClr val="00B4A6"/>
                </a:solidFill>
                <a:latin typeface="Calibri" pitchFamily="34" charset="0"/>
                <a:ea typeface="Calibri" pitchFamily="34" charset="-122"/>
                <a:cs typeface="Calibri" pitchFamily="34" charset="-120"/>
              </a:rPr>
              <a:t>DATA MINING &amp; MACHINE LEARNING</a:t>
            </a:r>
            <a:endParaRPr lang="en-US" sz="1000" dirty="0"/>
          </a:p>
        </p:txBody>
      </p:sp>
      <p:sp>
        <p:nvSpPr>
          <p:cNvPr id="4" name="Text 2"/>
          <p:cNvSpPr/>
          <p:nvPr/>
        </p:nvSpPr>
        <p:spPr>
          <a:xfrm>
            <a:off x="411480" y="1051560"/>
            <a:ext cx="8321040" cy="1005840"/>
          </a:xfrm>
          <a:prstGeom prst="rect">
            <a:avLst/>
          </a:prstGeom>
          <a:noFill/>
          <a:ln/>
        </p:spPr>
        <p:txBody>
          <a:bodyPr wrap="square" lIns="0" tIns="0" rIns="0" bIns="0" rtlCol="0" anchor="ctr"/>
          <a:lstStyle/>
          <a:p>
            <a:pPr marL="0" indent="0" algn="l">
              <a:buNone/>
            </a:pPr>
            <a:r>
              <a:rPr lang="en-US" sz="4000" b="1" dirty="0" err="1">
                <a:solidFill>
                  <a:srgbClr val="FFFFFF"/>
                </a:solidFill>
                <a:latin typeface="Calibri" pitchFamily="34" charset="0"/>
                <a:ea typeface="Calibri" pitchFamily="34" charset="-122"/>
                <a:cs typeface="Calibri" pitchFamily="34" charset="-120"/>
              </a:rPr>
              <a:t>HitPredictor</a:t>
            </a:r>
            <a:r>
              <a:rPr lang="en-US" sz="4000" b="1" dirty="0">
                <a:solidFill>
                  <a:srgbClr val="FFFFFF"/>
                </a:solidFill>
                <a:latin typeface="Calibri" pitchFamily="34" charset="0"/>
                <a:ea typeface="Calibri" pitchFamily="34" charset="-122"/>
                <a:cs typeface="Calibri" pitchFamily="34" charset="-120"/>
              </a:rPr>
              <a:t>-Steam</a:t>
            </a:r>
            <a:endParaRPr lang="en-US" sz="4000" dirty="0"/>
          </a:p>
        </p:txBody>
      </p:sp>
      <p:sp>
        <p:nvSpPr>
          <p:cNvPr id="5" name="Text 3"/>
          <p:cNvSpPr/>
          <p:nvPr/>
        </p:nvSpPr>
        <p:spPr>
          <a:xfrm>
            <a:off x="411480" y="2148840"/>
            <a:ext cx="8321040" cy="365760"/>
          </a:xfrm>
          <a:prstGeom prst="rect">
            <a:avLst/>
          </a:prstGeom>
          <a:noFill/>
          <a:ln/>
        </p:spPr>
        <p:txBody>
          <a:bodyPr wrap="square" lIns="0" tIns="0" rIns="0" bIns="0" rtlCol="0" anchor="ctr"/>
          <a:lstStyle/>
          <a:p>
            <a:pPr marL="0" indent="0" algn="l">
              <a:buNone/>
            </a:pPr>
            <a:r>
              <a:rPr lang="en-US" sz="1300" dirty="0">
                <a:solidFill>
                  <a:srgbClr val="7A8FA6"/>
                </a:solidFill>
                <a:latin typeface="Calibri" pitchFamily="34" charset="0"/>
                <a:ea typeface="Calibri" pitchFamily="34" charset="-122"/>
                <a:cs typeface="Calibri" pitchFamily="34" charset="-120"/>
              </a:rPr>
              <a:t>Data Mining &amp; Machine Learning Project </a:t>
            </a:r>
            <a:br>
              <a:rPr lang="en-US" sz="1300" dirty="0">
                <a:solidFill>
                  <a:srgbClr val="7A8FA6"/>
                </a:solidFill>
                <a:latin typeface="Calibri" pitchFamily="34" charset="0"/>
                <a:ea typeface="Calibri" pitchFamily="34" charset="-122"/>
                <a:cs typeface="Calibri" pitchFamily="34" charset="-120"/>
              </a:rPr>
            </a:br>
            <a:r>
              <a:rPr lang="en-US" sz="1300" dirty="0">
                <a:solidFill>
                  <a:srgbClr val="7A8FA6"/>
                </a:solidFill>
                <a:latin typeface="Calibri" pitchFamily="34" charset="0"/>
                <a:ea typeface="Calibri" pitchFamily="34" charset="-122"/>
                <a:cs typeface="Calibri" pitchFamily="34" charset="-120"/>
              </a:rPr>
              <a:t>M.Sc. in Artificial Intelligence and Data Engineering — Academic Year 2025–2026</a:t>
            </a:r>
            <a:endParaRPr lang="en-US" sz="1300" dirty="0"/>
          </a:p>
        </p:txBody>
      </p:sp>
      <p:sp>
        <p:nvSpPr>
          <p:cNvPr id="6" name="Shape 4"/>
          <p:cNvSpPr/>
          <p:nvPr/>
        </p:nvSpPr>
        <p:spPr>
          <a:xfrm>
            <a:off x="411480" y="2606040"/>
            <a:ext cx="8321040" cy="18288"/>
          </a:xfrm>
          <a:prstGeom prst="rect">
            <a:avLst/>
          </a:prstGeom>
          <a:solidFill>
            <a:srgbClr val="2E4A70"/>
          </a:solidFill>
          <a:ln w="12700">
            <a:solidFill>
              <a:srgbClr val="2E4A70"/>
            </a:solidFill>
            <a:prstDash val="solid"/>
          </a:ln>
        </p:spPr>
        <p:txBody>
          <a:bodyPr/>
          <a:lstStyle/>
          <a:p>
            <a:endParaRPr lang="it-IT"/>
          </a:p>
        </p:txBody>
      </p:sp>
      <p:sp>
        <p:nvSpPr>
          <p:cNvPr id="7" name="Text 5"/>
          <p:cNvSpPr/>
          <p:nvPr/>
        </p:nvSpPr>
        <p:spPr>
          <a:xfrm>
            <a:off x="411480" y="2743200"/>
            <a:ext cx="8321040" cy="320040"/>
          </a:xfrm>
          <a:prstGeom prst="rect">
            <a:avLst/>
          </a:prstGeom>
          <a:noFill/>
          <a:ln/>
        </p:spPr>
        <p:txBody>
          <a:bodyPr wrap="square" lIns="0" tIns="0" rIns="0" bIns="0" rtlCol="0" anchor="ctr"/>
          <a:lstStyle/>
          <a:p>
            <a:pPr marL="0" indent="0" algn="l">
              <a:buNone/>
            </a:pPr>
            <a:r>
              <a:rPr lang="en-US" sz="1150" dirty="0">
                <a:solidFill>
                  <a:srgbClr val="7A8FA6"/>
                </a:solidFill>
                <a:latin typeface="Calibri" pitchFamily="34" charset="0"/>
                <a:ea typeface="Calibri" pitchFamily="34" charset="-122"/>
                <a:cs typeface="Calibri" pitchFamily="34" charset="-120"/>
              </a:rPr>
              <a:t>[Pedro Carneiro — ID: 724961]   |   [Andrea Zanin— ID: 635350]</a:t>
            </a:r>
            <a:endParaRPr lang="en-US" sz="1150" dirty="0"/>
          </a:p>
        </p:txBody>
      </p:sp>
      <p:sp>
        <p:nvSpPr>
          <p:cNvPr id="8" name="Text 6"/>
          <p:cNvSpPr/>
          <p:nvPr/>
        </p:nvSpPr>
        <p:spPr>
          <a:xfrm>
            <a:off x="411480" y="3127248"/>
            <a:ext cx="8321040" cy="256032"/>
          </a:xfrm>
          <a:prstGeom prst="rect">
            <a:avLst/>
          </a:prstGeom>
          <a:noFill/>
          <a:ln/>
        </p:spPr>
        <p:txBody>
          <a:bodyPr wrap="square" lIns="0" tIns="0" rIns="0" bIns="0" rtlCol="0" anchor="ctr"/>
          <a:lstStyle/>
          <a:p>
            <a:pPr marL="0" indent="0" algn="l">
              <a:buNone/>
            </a:pPr>
            <a:r>
              <a:rPr lang="en-US" sz="1050" dirty="0">
                <a:solidFill>
                  <a:srgbClr val="4A6587"/>
                </a:solidFill>
                <a:latin typeface="Calibri" pitchFamily="34" charset="0"/>
                <a:ea typeface="Calibri" pitchFamily="34" charset="-122"/>
                <a:cs typeface="Calibri" pitchFamily="34" charset="-120"/>
              </a:rPr>
              <a:t>[28/07/2026]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750" b="1" kern="0" spc="150" dirty="0">
                <a:solidFill>
                  <a:srgbClr val="FFFFFF"/>
                </a:solidFill>
              </a:rPr>
              <a:t>OVERVIEW</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Presentation Outline</a:t>
            </a:r>
            <a:endParaRPr lang="en-US" sz="2400" dirty="0"/>
          </a:p>
        </p:txBody>
      </p:sp>
      <p:sp>
        <p:nvSpPr>
          <p:cNvPr id="5" name="Shape 3"/>
          <p:cNvSpPr/>
          <p:nvPr/>
        </p:nvSpPr>
        <p:spPr>
          <a:xfrm>
            <a:off x="411480" y="1225296"/>
            <a:ext cx="384048" cy="384048"/>
          </a:xfrm>
          <a:prstGeom prst="roundRect">
            <a:avLst>
              <a:gd name="adj" fmla="val 14286"/>
            </a:avLst>
          </a:prstGeom>
          <a:solidFill>
            <a:srgbClr val="1C2B4A"/>
          </a:solidFill>
          <a:ln w="12700">
            <a:solidFill>
              <a:srgbClr val="1C2B4A"/>
            </a:solidFill>
            <a:prstDash val="solid"/>
          </a:ln>
        </p:spPr>
        <p:txBody>
          <a:bodyPr/>
          <a:lstStyle/>
          <a:p>
            <a:endParaRPr lang="it-IT"/>
          </a:p>
        </p:txBody>
      </p:sp>
      <p:sp>
        <p:nvSpPr>
          <p:cNvPr id="6" name="Text 4"/>
          <p:cNvSpPr/>
          <p:nvPr/>
        </p:nvSpPr>
        <p:spPr>
          <a:xfrm>
            <a:off x="411480" y="1225296"/>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rPr>
              <a:t>01</a:t>
            </a:r>
            <a:endParaRPr lang="en-US" sz="1100" dirty="0"/>
          </a:p>
        </p:txBody>
      </p:sp>
      <p:sp>
        <p:nvSpPr>
          <p:cNvPr id="7" name="Text 5"/>
          <p:cNvSpPr/>
          <p:nvPr/>
        </p:nvSpPr>
        <p:spPr>
          <a:xfrm>
            <a:off x="914400" y="1207008"/>
            <a:ext cx="3840480" cy="237744"/>
          </a:xfrm>
          <a:prstGeom prst="rect">
            <a:avLst/>
          </a:prstGeom>
          <a:noFill/>
          <a:ln/>
        </p:spPr>
        <p:txBody>
          <a:bodyPr wrap="square" lIns="0" tIns="0" rIns="0" bIns="0" rtlCol="0" anchor="ctr"/>
          <a:lstStyle/>
          <a:p>
            <a:pPr marL="0" indent="0">
              <a:buNone/>
            </a:pPr>
            <a:r>
              <a:rPr lang="en-US" sz="1350" b="1" dirty="0">
                <a:solidFill>
                  <a:srgbClr val="1C2B4A"/>
                </a:solidFill>
                <a:latin typeface="Calibri" pitchFamily="34" charset="0"/>
                <a:ea typeface="Calibri" pitchFamily="34" charset="-122"/>
                <a:cs typeface="Calibri" pitchFamily="34" charset="-120"/>
              </a:rPr>
              <a:t>Problem &amp; Dataset</a:t>
            </a:r>
            <a:endParaRPr lang="en-US" sz="1350" dirty="0"/>
          </a:p>
        </p:txBody>
      </p:sp>
      <p:sp>
        <p:nvSpPr>
          <p:cNvPr id="8" name="Text 6"/>
          <p:cNvSpPr/>
          <p:nvPr/>
        </p:nvSpPr>
        <p:spPr>
          <a:xfrm>
            <a:off x="914400" y="1453896"/>
            <a:ext cx="6858000" cy="201168"/>
          </a:xfrm>
          <a:prstGeom prst="rect">
            <a:avLst/>
          </a:prstGeom>
          <a:noFill/>
          <a:ln/>
        </p:spPr>
        <p:txBody>
          <a:bodyPr wrap="square" lIns="0" tIns="0" rIns="0" bIns="0" rtlCol="0" anchor="ctr"/>
          <a:lstStyle/>
          <a:p>
            <a:pPr marL="0" indent="0">
              <a:buNone/>
            </a:pPr>
            <a:r>
              <a:rPr lang="en-US" sz="950" dirty="0">
                <a:solidFill>
                  <a:srgbClr val="7A8FA6"/>
                </a:solidFill>
                <a:latin typeface="Calibri" pitchFamily="34" charset="0"/>
                <a:ea typeface="Calibri" pitchFamily="34" charset="-122"/>
                <a:cs typeface="Calibri" pitchFamily="34" charset="-120"/>
              </a:rPr>
              <a:t>Task definition · features</a:t>
            </a:r>
            <a:endParaRPr lang="en-US" sz="950" dirty="0"/>
          </a:p>
        </p:txBody>
      </p:sp>
      <p:sp>
        <p:nvSpPr>
          <p:cNvPr id="9" name="Shape 7"/>
          <p:cNvSpPr/>
          <p:nvPr/>
        </p:nvSpPr>
        <p:spPr>
          <a:xfrm>
            <a:off x="576072" y="1609344"/>
            <a:ext cx="18288" cy="310896"/>
          </a:xfrm>
          <a:prstGeom prst="rect">
            <a:avLst/>
          </a:prstGeom>
          <a:solidFill>
            <a:srgbClr val="CBD5E1"/>
          </a:solidFill>
          <a:ln w="12700">
            <a:solidFill>
              <a:srgbClr val="CBD5E1"/>
            </a:solidFill>
            <a:prstDash val="solid"/>
          </a:ln>
        </p:spPr>
        <p:txBody>
          <a:bodyPr/>
          <a:lstStyle/>
          <a:p>
            <a:endParaRPr lang="it-IT"/>
          </a:p>
        </p:txBody>
      </p:sp>
      <p:sp>
        <p:nvSpPr>
          <p:cNvPr id="10" name="Shape 8"/>
          <p:cNvSpPr/>
          <p:nvPr/>
        </p:nvSpPr>
        <p:spPr>
          <a:xfrm>
            <a:off x="411480" y="1956816"/>
            <a:ext cx="384048" cy="384048"/>
          </a:xfrm>
          <a:prstGeom prst="roundRect">
            <a:avLst>
              <a:gd name="adj" fmla="val 14286"/>
            </a:avLst>
          </a:prstGeom>
          <a:solidFill>
            <a:srgbClr val="1C2B4A"/>
          </a:solidFill>
          <a:ln w="12700">
            <a:solidFill>
              <a:srgbClr val="1C2B4A"/>
            </a:solidFill>
            <a:prstDash val="solid"/>
          </a:ln>
        </p:spPr>
        <p:txBody>
          <a:bodyPr/>
          <a:lstStyle/>
          <a:p>
            <a:endParaRPr lang="it-IT"/>
          </a:p>
        </p:txBody>
      </p:sp>
      <p:sp>
        <p:nvSpPr>
          <p:cNvPr id="11" name="Text 9"/>
          <p:cNvSpPr/>
          <p:nvPr/>
        </p:nvSpPr>
        <p:spPr>
          <a:xfrm>
            <a:off x="411480" y="1956816"/>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rPr>
              <a:t>02</a:t>
            </a:r>
            <a:endParaRPr lang="en-US" sz="1100" dirty="0"/>
          </a:p>
        </p:txBody>
      </p:sp>
      <p:sp>
        <p:nvSpPr>
          <p:cNvPr id="12" name="Text 10"/>
          <p:cNvSpPr/>
          <p:nvPr/>
        </p:nvSpPr>
        <p:spPr>
          <a:xfrm>
            <a:off x="914400" y="1938528"/>
            <a:ext cx="3840480" cy="237744"/>
          </a:xfrm>
          <a:prstGeom prst="rect">
            <a:avLst/>
          </a:prstGeom>
          <a:noFill/>
          <a:ln/>
        </p:spPr>
        <p:txBody>
          <a:bodyPr wrap="square" lIns="0" tIns="0" rIns="0" bIns="0" rtlCol="0" anchor="ctr"/>
          <a:lstStyle/>
          <a:p>
            <a:pPr marL="0" indent="0">
              <a:buNone/>
            </a:pPr>
            <a:r>
              <a:rPr lang="en-US" sz="1350" b="1" dirty="0">
                <a:solidFill>
                  <a:srgbClr val="1C2B4A"/>
                </a:solidFill>
                <a:latin typeface="Calibri" pitchFamily="34" charset="0"/>
                <a:ea typeface="Calibri" pitchFamily="34" charset="-122"/>
                <a:cs typeface="Calibri" pitchFamily="34" charset="-120"/>
              </a:rPr>
              <a:t>Pipeline &amp; Experiments</a:t>
            </a:r>
            <a:endParaRPr lang="en-US" sz="1350" dirty="0"/>
          </a:p>
        </p:txBody>
      </p:sp>
      <p:sp>
        <p:nvSpPr>
          <p:cNvPr id="13" name="Text 11"/>
          <p:cNvSpPr/>
          <p:nvPr/>
        </p:nvSpPr>
        <p:spPr>
          <a:xfrm>
            <a:off x="914400" y="2185416"/>
            <a:ext cx="6858000" cy="201168"/>
          </a:xfrm>
          <a:prstGeom prst="rect">
            <a:avLst/>
          </a:prstGeom>
          <a:noFill/>
          <a:ln/>
        </p:spPr>
        <p:txBody>
          <a:bodyPr wrap="square" lIns="0" tIns="0" rIns="0" bIns="0" rtlCol="0" anchor="ctr"/>
          <a:lstStyle/>
          <a:p>
            <a:pPr marL="0" indent="0">
              <a:buNone/>
            </a:pPr>
            <a:r>
              <a:rPr lang="en-US" sz="950" dirty="0">
                <a:solidFill>
                  <a:srgbClr val="7A8FA6"/>
                </a:solidFill>
                <a:latin typeface="Calibri" pitchFamily="34" charset="0"/>
                <a:ea typeface="Calibri" pitchFamily="34" charset="-122"/>
                <a:cs typeface="Calibri" pitchFamily="34" charset="-120"/>
              </a:rPr>
              <a:t>Preprocessing · model selection · hyperparameter optimization</a:t>
            </a:r>
            <a:endParaRPr lang="en-US" sz="950" dirty="0"/>
          </a:p>
        </p:txBody>
      </p:sp>
      <p:sp>
        <p:nvSpPr>
          <p:cNvPr id="14" name="Shape 12"/>
          <p:cNvSpPr/>
          <p:nvPr/>
        </p:nvSpPr>
        <p:spPr>
          <a:xfrm>
            <a:off x="8138160" y="1993392"/>
            <a:ext cx="640080" cy="292608"/>
          </a:xfrm>
          <a:prstGeom prst="roundRect">
            <a:avLst>
              <a:gd name="adj" fmla="val 18750"/>
            </a:avLst>
          </a:prstGeom>
          <a:solidFill>
            <a:srgbClr val="EEF2FA"/>
          </a:solidFill>
          <a:ln w="12700">
            <a:solidFill>
              <a:srgbClr val="94A3B8"/>
            </a:solidFill>
            <a:prstDash val="solid"/>
          </a:ln>
        </p:spPr>
        <p:txBody>
          <a:bodyPr/>
          <a:lstStyle/>
          <a:p>
            <a:endParaRPr lang="it-IT"/>
          </a:p>
        </p:txBody>
      </p:sp>
      <p:sp>
        <p:nvSpPr>
          <p:cNvPr id="15" name="Text 13"/>
          <p:cNvSpPr/>
          <p:nvPr/>
        </p:nvSpPr>
        <p:spPr>
          <a:xfrm>
            <a:off x="8138160" y="1993392"/>
            <a:ext cx="640080" cy="292608"/>
          </a:xfrm>
          <a:prstGeom prst="rect">
            <a:avLst/>
          </a:prstGeom>
          <a:noFill/>
          <a:ln/>
        </p:spPr>
        <p:txBody>
          <a:bodyPr wrap="square" lIns="0" tIns="0" rIns="0" bIns="0" rtlCol="0" anchor="ctr"/>
          <a:lstStyle/>
          <a:p>
            <a:pPr marL="0" indent="0" algn="ctr">
              <a:buNone/>
            </a:pPr>
            <a:r>
              <a:rPr lang="en-US" sz="700" b="1" kern="0" spc="100" dirty="0">
                <a:solidFill>
                  <a:srgbClr val="1C2B4A"/>
                </a:solidFill>
              </a:rPr>
              <a:t>PART 1</a:t>
            </a:r>
            <a:endParaRPr lang="en-US" sz="700" dirty="0"/>
          </a:p>
        </p:txBody>
      </p:sp>
      <p:sp>
        <p:nvSpPr>
          <p:cNvPr id="16" name="Shape 14"/>
          <p:cNvSpPr/>
          <p:nvPr/>
        </p:nvSpPr>
        <p:spPr>
          <a:xfrm>
            <a:off x="576072" y="2340864"/>
            <a:ext cx="18288" cy="310896"/>
          </a:xfrm>
          <a:prstGeom prst="rect">
            <a:avLst/>
          </a:prstGeom>
          <a:solidFill>
            <a:srgbClr val="CBD5E1"/>
          </a:solidFill>
          <a:ln w="12700">
            <a:solidFill>
              <a:srgbClr val="CBD5E1"/>
            </a:solidFill>
            <a:prstDash val="solid"/>
          </a:ln>
        </p:spPr>
        <p:txBody>
          <a:bodyPr/>
          <a:lstStyle/>
          <a:p>
            <a:endParaRPr lang="it-IT"/>
          </a:p>
        </p:txBody>
      </p:sp>
      <p:sp>
        <p:nvSpPr>
          <p:cNvPr id="17" name="Shape 15"/>
          <p:cNvSpPr/>
          <p:nvPr/>
        </p:nvSpPr>
        <p:spPr>
          <a:xfrm>
            <a:off x="411480" y="2688336"/>
            <a:ext cx="384048" cy="384048"/>
          </a:xfrm>
          <a:prstGeom prst="roundRect">
            <a:avLst>
              <a:gd name="adj" fmla="val 14286"/>
            </a:avLst>
          </a:prstGeom>
          <a:solidFill>
            <a:srgbClr val="1C2B4A"/>
          </a:solidFill>
          <a:ln w="12700">
            <a:solidFill>
              <a:srgbClr val="1C2B4A"/>
            </a:solidFill>
            <a:prstDash val="solid"/>
          </a:ln>
        </p:spPr>
        <p:txBody>
          <a:bodyPr/>
          <a:lstStyle/>
          <a:p>
            <a:endParaRPr lang="it-IT"/>
          </a:p>
        </p:txBody>
      </p:sp>
      <p:sp>
        <p:nvSpPr>
          <p:cNvPr id="18" name="Text 16"/>
          <p:cNvSpPr/>
          <p:nvPr/>
        </p:nvSpPr>
        <p:spPr>
          <a:xfrm>
            <a:off x="411480" y="2688336"/>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rPr>
              <a:t>03</a:t>
            </a:r>
            <a:endParaRPr lang="en-US" sz="1100" dirty="0"/>
          </a:p>
        </p:txBody>
      </p:sp>
      <p:sp>
        <p:nvSpPr>
          <p:cNvPr id="19" name="Text 17"/>
          <p:cNvSpPr/>
          <p:nvPr/>
        </p:nvSpPr>
        <p:spPr>
          <a:xfrm>
            <a:off x="914400" y="2670048"/>
            <a:ext cx="3840480" cy="237744"/>
          </a:xfrm>
          <a:prstGeom prst="rect">
            <a:avLst/>
          </a:prstGeom>
          <a:noFill/>
          <a:ln/>
        </p:spPr>
        <p:txBody>
          <a:bodyPr wrap="square" lIns="0" tIns="0" rIns="0" bIns="0" rtlCol="0" anchor="ctr"/>
          <a:lstStyle/>
          <a:p>
            <a:pPr marL="0" indent="0">
              <a:buNone/>
            </a:pPr>
            <a:r>
              <a:rPr lang="en-US" sz="1350" b="1" dirty="0">
                <a:solidFill>
                  <a:srgbClr val="1C2B4A"/>
                </a:solidFill>
                <a:latin typeface="Calibri" pitchFamily="34" charset="0"/>
                <a:ea typeface="Calibri" pitchFamily="34" charset="-122"/>
                <a:cs typeface="Calibri" pitchFamily="34" charset="-120"/>
              </a:rPr>
              <a:t>Evaluation &amp; Results</a:t>
            </a:r>
            <a:endParaRPr lang="en-US" sz="1350" dirty="0"/>
          </a:p>
        </p:txBody>
      </p:sp>
      <p:sp>
        <p:nvSpPr>
          <p:cNvPr id="20" name="Text 18"/>
          <p:cNvSpPr/>
          <p:nvPr/>
        </p:nvSpPr>
        <p:spPr>
          <a:xfrm>
            <a:off x="914400" y="2916936"/>
            <a:ext cx="6858000" cy="201168"/>
          </a:xfrm>
          <a:prstGeom prst="rect">
            <a:avLst/>
          </a:prstGeom>
          <a:noFill/>
          <a:ln/>
        </p:spPr>
        <p:txBody>
          <a:bodyPr wrap="square" lIns="0" tIns="0" rIns="0" bIns="0" rtlCol="0" anchor="ctr"/>
          <a:lstStyle/>
          <a:p>
            <a:pPr marL="0" indent="0">
              <a:buNone/>
            </a:pPr>
            <a:r>
              <a:rPr lang="en-US" sz="950" dirty="0">
                <a:solidFill>
                  <a:srgbClr val="7A8FA6"/>
                </a:solidFill>
                <a:latin typeface="Calibri" pitchFamily="34" charset="0"/>
                <a:ea typeface="Calibri" pitchFamily="34" charset="-122"/>
                <a:cs typeface="Calibri" pitchFamily="34" charset="-120"/>
              </a:rPr>
              <a:t>Metrics · cross-validation · final model performance</a:t>
            </a:r>
            <a:endParaRPr lang="en-US" sz="950" dirty="0"/>
          </a:p>
        </p:txBody>
      </p:sp>
      <p:sp>
        <p:nvSpPr>
          <p:cNvPr id="21" name="Shape 19"/>
          <p:cNvSpPr/>
          <p:nvPr/>
        </p:nvSpPr>
        <p:spPr>
          <a:xfrm>
            <a:off x="576072" y="3072384"/>
            <a:ext cx="18288" cy="310896"/>
          </a:xfrm>
          <a:prstGeom prst="rect">
            <a:avLst/>
          </a:prstGeom>
          <a:solidFill>
            <a:srgbClr val="CBD5E1"/>
          </a:solidFill>
          <a:ln w="12700">
            <a:solidFill>
              <a:srgbClr val="CBD5E1"/>
            </a:solidFill>
            <a:prstDash val="solid"/>
          </a:ln>
        </p:spPr>
        <p:txBody>
          <a:bodyPr/>
          <a:lstStyle/>
          <a:p>
            <a:endParaRPr lang="it-IT"/>
          </a:p>
        </p:txBody>
      </p:sp>
      <p:sp>
        <p:nvSpPr>
          <p:cNvPr id="22" name="Shape 20"/>
          <p:cNvSpPr/>
          <p:nvPr/>
        </p:nvSpPr>
        <p:spPr>
          <a:xfrm>
            <a:off x="411480" y="3419856"/>
            <a:ext cx="384048" cy="384048"/>
          </a:xfrm>
          <a:prstGeom prst="roundRect">
            <a:avLst>
              <a:gd name="adj" fmla="val 14286"/>
            </a:avLst>
          </a:prstGeom>
          <a:solidFill>
            <a:srgbClr val="00B4A6"/>
          </a:solidFill>
          <a:ln w="12700">
            <a:solidFill>
              <a:srgbClr val="00B4A6"/>
            </a:solidFill>
            <a:prstDash val="solid"/>
          </a:ln>
        </p:spPr>
        <p:txBody>
          <a:bodyPr/>
          <a:lstStyle/>
          <a:p>
            <a:endParaRPr lang="it-IT"/>
          </a:p>
        </p:txBody>
      </p:sp>
      <p:sp>
        <p:nvSpPr>
          <p:cNvPr id="23" name="Text 21"/>
          <p:cNvSpPr/>
          <p:nvPr/>
        </p:nvSpPr>
        <p:spPr>
          <a:xfrm>
            <a:off x="411480" y="3419856"/>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rPr>
              <a:t>04</a:t>
            </a:r>
            <a:endParaRPr lang="en-US" sz="1100" dirty="0"/>
          </a:p>
        </p:txBody>
      </p:sp>
      <p:sp>
        <p:nvSpPr>
          <p:cNvPr id="24" name="Text 22"/>
          <p:cNvSpPr/>
          <p:nvPr/>
        </p:nvSpPr>
        <p:spPr>
          <a:xfrm>
            <a:off x="914400" y="3401568"/>
            <a:ext cx="3840480" cy="237744"/>
          </a:xfrm>
          <a:prstGeom prst="rect">
            <a:avLst/>
          </a:prstGeom>
          <a:noFill/>
          <a:ln/>
        </p:spPr>
        <p:txBody>
          <a:bodyPr wrap="square" lIns="0" tIns="0" rIns="0" bIns="0" rtlCol="0" anchor="ctr"/>
          <a:lstStyle/>
          <a:p>
            <a:pPr marL="0" indent="0">
              <a:buNone/>
            </a:pPr>
            <a:r>
              <a:rPr lang="en-US" sz="1350" b="1" dirty="0">
                <a:solidFill>
                  <a:srgbClr val="1C2B4A"/>
                </a:solidFill>
                <a:latin typeface="Calibri" pitchFamily="34" charset="0"/>
                <a:ea typeface="Calibri" pitchFamily="34" charset="-122"/>
                <a:cs typeface="Calibri" pitchFamily="34" charset="-120"/>
              </a:rPr>
              <a:t>Explainability</a:t>
            </a:r>
            <a:endParaRPr lang="en-US" sz="1350" dirty="0"/>
          </a:p>
        </p:txBody>
      </p:sp>
      <p:sp>
        <p:nvSpPr>
          <p:cNvPr id="25" name="Text 23"/>
          <p:cNvSpPr/>
          <p:nvPr/>
        </p:nvSpPr>
        <p:spPr>
          <a:xfrm>
            <a:off x="914400" y="3648456"/>
            <a:ext cx="6858000" cy="201168"/>
          </a:xfrm>
          <a:prstGeom prst="rect">
            <a:avLst/>
          </a:prstGeom>
          <a:noFill/>
          <a:ln/>
        </p:spPr>
        <p:txBody>
          <a:bodyPr wrap="square" lIns="0" tIns="0" rIns="0" bIns="0" rtlCol="0" anchor="ctr"/>
          <a:lstStyle/>
          <a:p>
            <a:pPr marL="0" indent="0">
              <a:buNone/>
            </a:pPr>
            <a:r>
              <a:rPr lang="en-US" sz="950" dirty="0">
                <a:solidFill>
                  <a:srgbClr val="7A8FA6"/>
                </a:solidFill>
                <a:latin typeface="Calibri" pitchFamily="34" charset="0"/>
                <a:ea typeface="Calibri" pitchFamily="34" charset="-122"/>
                <a:cs typeface="Calibri" pitchFamily="34" charset="-120"/>
              </a:rPr>
              <a:t>Global &amp; local techniques · consistency with domain knowledge</a:t>
            </a:r>
            <a:endParaRPr lang="en-US" sz="950" dirty="0"/>
          </a:p>
        </p:txBody>
      </p:sp>
      <p:sp>
        <p:nvSpPr>
          <p:cNvPr id="26" name="Shape 24"/>
          <p:cNvSpPr/>
          <p:nvPr/>
        </p:nvSpPr>
        <p:spPr>
          <a:xfrm>
            <a:off x="8138160" y="3456432"/>
            <a:ext cx="640080" cy="292608"/>
          </a:xfrm>
          <a:prstGeom prst="roundRect">
            <a:avLst>
              <a:gd name="adj" fmla="val 18750"/>
            </a:avLst>
          </a:prstGeom>
          <a:solidFill>
            <a:srgbClr val="E0F5F4"/>
          </a:solidFill>
          <a:ln w="12700">
            <a:solidFill>
              <a:srgbClr val="00B4A6"/>
            </a:solidFill>
            <a:prstDash val="solid"/>
          </a:ln>
        </p:spPr>
        <p:txBody>
          <a:bodyPr/>
          <a:lstStyle/>
          <a:p>
            <a:endParaRPr lang="it-IT"/>
          </a:p>
        </p:txBody>
      </p:sp>
      <p:sp>
        <p:nvSpPr>
          <p:cNvPr id="27" name="Text 25"/>
          <p:cNvSpPr/>
          <p:nvPr/>
        </p:nvSpPr>
        <p:spPr>
          <a:xfrm>
            <a:off x="8138160" y="3456432"/>
            <a:ext cx="640080" cy="292608"/>
          </a:xfrm>
          <a:prstGeom prst="rect">
            <a:avLst/>
          </a:prstGeom>
          <a:noFill/>
          <a:ln/>
        </p:spPr>
        <p:txBody>
          <a:bodyPr wrap="square" lIns="0" tIns="0" rIns="0" bIns="0" rtlCol="0" anchor="ctr"/>
          <a:lstStyle/>
          <a:p>
            <a:pPr marL="0" indent="0" algn="ctr">
              <a:buNone/>
            </a:pPr>
            <a:r>
              <a:rPr lang="en-US" sz="700" b="1" kern="0" spc="100" dirty="0">
                <a:solidFill>
                  <a:srgbClr val="008F84"/>
                </a:solidFill>
              </a:rPr>
              <a:t>PART 2</a:t>
            </a:r>
            <a:endParaRPr lang="en-US" sz="700" dirty="0"/>
          </a:p>
        </p:txBody>
      </p:sp>
      <p:sp>
        <p:nvSpPr>
          <p:cNvPr id="28" name="Shape 26"/>
          <p:cNvSpPr/>
          <p:nvPr/>
        </p:nvSpPr>
        <p:spPr>
          <a:xfrm>
            <a:off x="576072" y="3803904"/>
            <a:ext cx="18288" cy="310896"/>
          </a:xfrm>
          <a:prstGeom prst="rect">
            <a:avLst/>
          </a:prstGeom>
          <a:solidFill>
            <a:srgbClr val="CBD5E1"/>
          </a:solidFill>
          <a:ln w="12700">
            <a:solidFill>
              <a:srgbClr val="CBD5E1"/>
            </a:solidFill>
            <a:prstDash val="solid"/>
          </a:ln>
        </p:spPr>
        <p:txBody>
          <a:bodyPr/>
          <a:lstStyle/>
          <a:p>
            <a:endParaRPr lang="it-IT"/>
          </a:p>
        </p:txBody>
      </p:sp>
      <p:sp>
        <p:nvSpPr>
          <p:cNvPr id="29" name="Shape 27"/>
          <p:cNvSpPr/>
          <p:nvPr/>
        </p:nvSpPr>
        <p:spPr>
          <a:xfrm>
            <a:off x="411480" y="4151376"/>
            <a:ext cx="384048" cy="384048"/>
          </a:xfrm>
          <a:prstGeom prst="roundRect">
            <a:avLst>
              <a:gd name="adj" fmla="val 14286"/>
            </a:avLst>
          </a:prstGeom>
          <a:solidFill>
            <a:srgbClr val="00B4A6"/>
          </a:solidFill>
          <a:ln w="12700">
            <a:solidFill>
              <a:srgbClr val="00B4A6"/>
            </a:solidFill>
            <a:prstDash val="solid"/>
          </a:ln>
        </p:spPr>
        <p:txBody>
          <a:bodyPr/>
          <a:lstStyle/>
          <a:p>
            <a:endParaRPr lang="it-IT"/>
          </a:p>
        </p:txBody>
      </p:sp>
      <p:sp>
        <p:nvSpPr>
          <p:cNvPr id="30" name="Text 28"/>
          <p:cNvSpPr/>
          <p:nvPr/>
        </p:nvSpPr>
        <p:spPr>
          <a:xfrm>
            <a:off x="411480" y="4151376"/>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rPr>
              <a:t>05</a:t>
            </a:r>
            <a:endParaRPr lang="en-US" sz="1100" dirty="0"/>
          </a:p>
        </p:txBody>
      </p:sp>
      <p:sp>
        <p:nvSpPr>
          <p:cNvPr id="31" name="Text 29"/>
          <p:cNvSpPr/>
          <p:nvPr/>
        </p:nvSpPr>
        <p:spPr>
          <a:xfrm>
            <a:off x="914400" y="4133088"/>
            <a:ext cx="3840480" cy="237744"/>
          </a:xfrm>
          <a:prstGeom prst="rect">
            <a:avLst/>
          </a:prstGeom>
          <a:noFill/>
          <a:ln/>
        </p:spPr>
        <p:txBody>
          <a:bodyPr wrap="square" lIns="0" tIns="0" rIns="0" bIns="0" rtlCol="0" anchor="ctr"/>
          <a:lstStyle/>
          <a:p>
            <a:pPr marL="0" indent="0">
              <a:buNone/>
            </a:pPr>
            <a:r>
              <a:rPr lang="en-US" sz="1350" b="1" dirty="0">
                <a:solidFill>
                  <a:srgbClr val="1C2B4A"/>
                </a:solidFill>
                <a:latin typeface="Calibri" pitchFamily="34" charset="0"/>
                <a:ea typeface="Calibri" pitchFamily="34" charset="-122"/>
                <a:cs typeface="Calibri" pitchFamily="34" charset="-120"/>
              </a:rPr>
              <a:t>Critical Discussion</a:t>
            </a:r>
            <a:endParaRPr lang="en-US" sz="1350" dirty="0"/>
          </a:p>
        </p:txBody>
      </p:sp>
      <p:sp>
        <p:nvSpPr>
          <p:cNvPr id="32" name="Text 30"/>
          <p:cNvSpPr/>
          <p:nvPr/>
        </p:nvSpPr>
        <p:spPr>
          <a:xfrm>
            <a:off x="914400" y="4379976"/>
            <a:ext cx="6858000" cy="201168"/>
          </a:xfrm>
          <a:prstGeom prst="rect">
            <a:avLst/>
          </a:prstGeom>
          <a:noFill/>
          <a:ln/>
        </p:spPr>
        <p:txBody>
          <a:bodyPr wrap="square" lIns="0" tIns="0" rIns="0" bIns="0" rtlCol="0" anchor="ctr"/>
          <a:lstStyle/>
          <a:p>
            <a:pPr marL="0" indent="0">
              <a:buNone/>
            </a:pPr>
            <a:r>
              <a:rPr lang="en-US" sz="950" dirty="0">
                <a:solidFill>
                  <a:srgbClr val="7A8FA6"/>
                </a:solidFill>
                <a:latin typeface="Calibri" pitchFamily="34" charset="0"/>
                <a:ea typeface="Calibri" pitchFamily="34" charset="-122"/>
                <a:cs typeface="Calibri" pitchFamily="34" charset="-120"/>
              </a:rPr>
              <a:t>Error analysis · limitations · future directions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1371600"/>
            <a:ext cx="8321040" cy="384048"/>
          </a:xfrm>
          <a:prstGeom prst="rect">
            <a:avLst/>
          </a:prstGeom>
          <a:noFill/>
          <a:ln/>
        </p:spPr>
        <p:txBody>
          <a:bodyPr wrap="square" lIns="0" tIns="0" rIns="0" bIns="0" rtlCol="0" anchor="ctr"/>
          <a:lstStyle/>
          <a:p>
            <a:pPr marL="0" indent="0">
              <a:buNone/>
            </a:pPr>
            <a:r>
              <a:rPr lang="en-US" sz="1100" b="1" kern="0" spc="300" dirty="0">
                <a:solidFill>
                  <a:srgbClr val="00B4A6"/>
                </a:solidFill>
                <a:latin typeface="Calibri" pitchFamily="34" charset="0"/>
                <a:ea typeface="Calibri" pitchFamily="34" charset="-122"/>
                <a:cs typeface="Calibri" pitchFamily="34" charset="-120"/>
              </a:rPr>
              <a:t>PART 1 — TECHNICAL</a:t>
            </a:r>
            <a:endParaRPr lang="en-US" sz="1100" dirty="0"/>
          </a:p>
        </p:txBody>
      </p:sp>
      <p:sp>
        <p:nvSpPr>
          <p:cNvPr id="4" name="Text 2"/>
          <p:cNvSpPr/>
          <p:nvPr/>
        </p:nvSpPr>
        <p:spPr>
          <a:xfrm>
            <a:off x="411480" y="1828800"/>
            <a:ext cx="8321040" cy="82296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Problem, Pipeline &amp; Results</a:t>
            </a:r>
            <a:endParaRPr lang="en-US" sz="3800" dirty="0"/>
          </a:p>
        </p:txBody>
      </p:sp>
      <p:sp>
        <p:nvSpPr>
          <p:cNvPr id="5" name="Text 3"/>
          <p:cNvSpPr/>
          <p:nvPr/>
        </p:nvSpPr>
        <p:spPr>
          <a:xfrm>
            <a:off x="411480" y="2788920"/>
            <a:ext cx="8321040" cy="548640"/>
          </a:xfrm>
          <a:prstGeom prst="rect">
            <a:avLst/>
          </a:prstGeom>
          <a:noFill/>
          <a:ln/>
        </p:spPr>
        <p:txBody>
          <a:bodyPr wrap="square" lIns="0" tIns="0" rIns="0" bIns="0" rtlCol="0" anchor="ctr"/>
          <a:lstStyle/>
          <a:p>
            <a:pPr marL="0" indent="0">
              <a:buNone/>
            </a:pPr>
            <a:r>
              <a:rPr lang="en-US" sz="1250" dirty="0">
                <a:solidFill>
                  <a:srgbClr val="7A8FA6"/>
                </a:solidFill>
                <a:latin typeface="Calibri" pitchFamily="34" charset="0"/>
                <a:ea typeface="Calibri" pitchFamily="34" charset="-122"/>
                <a:cs typeface="Calibri" pitchFamily="34" charset="-120"/>
              </a:rPr>
              <a:t>Problem definition · feature engineering · model selection</a:t>
            </a:r>
            <a:endParaRPr lang="en-US" sz="1250" dirty="0"/>
          </a:p>
          <a:p>
            <a:pPr marL="0" indent="0">
              <a:buNone/>
            </a:pPr>
            <a:r>
              <a:rPr lang="en-US" sz="1250" dirty="0">
                <a:solidFill>
                  <a:srgbClr val="7A8FA6"/>
                </a:solidFill>
                <a:latin typeface="Calibri" pitchFamily="34" charset="0"/>
                <a:ea typeface="Calibri" pitchFamily="34" charset="-122"/>
                <a:cs typeface="Calibri" pitchFamily="34" charset="-120"/>
              </a:rPr>
              <a:t>hyperparameter optimization · evaluation · test-set results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750" b="1" kern="0" spc="150" dirty="0">
                <a:solidFill>
                  <a:srgbClr val="FFFFFF"/>
                </a:solidFill>
              </a:rPr>
              <a:t>PROBLEM</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Problem Definition &amp; Dataset</a:t>
            </a:r>
            <a:endParaRPr lang="en-US" sz="2400" dirty="0"/>
          </a:p>
        </p:txBody>
      </p:sp>
      <p:sp>
        <p:nvSpPr>
          <p:cNvPr id="5" name="Text 3"/>
          <p:cNvSpPr/>
          <p:nvPr/>
        </p:nvSpPr>
        <p:spPr>
          <a:xfrm>
            <a:off x="411480" y="1170432"/>
            <a:ext cx="4114800" cy="274320"/>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The Problem</a:t>
            </a:r>
            <a:endParaRPr lang="en-US" sz="1200" dirty="0"/>
          </a:p>
        </p:txBody>
      </p:sp>
      <p:sp>
        <p:nvSpPr>
          <p:cNvPr id="6" name="Text 4"/>
          <p:cNvSpPr/>
          <p:nvPr/>
        </p:nvSpPr>
        <p:spPr>
          <a:xfrm>
            <a:off x="411480" y="1481328"/>
            <a:ext cx="4069080" cy="2962656"/>
          </a:xfrm>
          <a:prstGeom prst="rect">
            <a:avLst/>
          </a:prstGeom>
          <a:noFill/>
          <a:ln/>
        </p:spPr>
        <p:txBody>
          <a:bodyPr wrap="square" lIns="0" tIns="0" rIns="0" bIns="0" rtlCol="0" anchor="t"/>
          <a:lstStyle/>
          <a:p>
            <a:pPr marL="171450" indent="-171450">
              <a:buFont typeface="Arial" panose="020B0604020202020204" pitchFamily="34" charset="0"/>
              <a:buChar char="•"/>
            </a:pPr>
            <a:r>
              <a:rPr lang="it-IT" sz="1200" dirty="0"/>
              <a:t>The </a:t>
            </a:r>
            <a:r>
              <a:rPr lang="it-IT" sz="1200" dirty="0" err="1"/>
              <a:t>Steam</a:t>
            </a:r>
            <a:r>
              <a:rPr lang="it-IT" sz="1200" dirty="0"/>
              <a:t> PC gaming market </a:t>
            </a:r>
            <a:r>
              <a:rPr lang="it-IT" sz="1200" dirty="0" err="1"/>
              <a:t>sees</a:t>
            </a:r>
            <a:r>
              <a:rPr lang="it-IT" sz="1200" dirty="0"/>
              <a:t> </a:t>
            </a:r>
            <a:r>
              <a:rPr lang="it-IT" sz="1200" dirty="0" err="1"/>
              <a:t>thousands</a:t>
            </a:r>
            <a:r>
              <a:rPr lang="it-IT" sz="1200" dirty="0"/>
              <a:t> of </a:t>
            </a:r>
            <a:r>
              <a:rPr lang="it-IT" sz="1200" dirty="0" err="1"/>
              <a:t>annual</a:t>
            </a:r>
            <a:r>
              <a:rPr lang="it-IT" sz="1200" dirty="0"/>
              <a:t> releases, with commercial performance following a </a:t>
            </a:r>
            <a:r>
              <a:rPr lang="it-IT" sz="1200" dirty="0" err="1"/>
              <a:t>steep</a:t>
            </a:r>
            <a:r>
              <a:rPr lang="it-IT" sz="1200" dirty="0"/>
              <a:t> </a:t>
            </a:r>
            <a:r>
              <a:rPr lang="it-IT" sz="1200" b="1" dirty="0"/>
              <a:t>power-</a:t>
            </a:r>
            <a:r>
              <a:rPr lang="it-IT" sz="1200" b="1" dirty="0" err="1"/>
              <a:t>law</a:t>
            </a:r>
            <a:r>
              <a:rPr lang="it-IT" sz="1200" b="1" dirty="0"/>
              <a:t> </a:t>
            </a:r>
            <a:r>
              <a:rPr lang="it-IT" sz="1200" b="1" dirty="0" err="1"/>
              <a:t>distribution</a:t>
            </a:r>
            <a:endParaRPr lang="it-IT" sz="1200" b="1" dirty="0"/>
          </a:p>
          <a:p>
            <a:pPr marL="171450" indent="-171450">
              <a:buFont typeface="Arial" panose="020B0604020202020204" pitchFamily="34" charset="0"/>
              <a:buChar char="•"/>
            </a:pPr>
            <a:endParaRPr lang="it-IT" sz="1200" dirty="0"/>
          </a:p>
          <a:p>
            <a:pPr marL="171450" indent="-171450">
              <a:buFont typeface="Arial" panose="020B0604020202020204" pitchFamily="34" charset="0"/>
              <a:buChar char="•"/>
            </a:pPr>
            <a:r>
              <a:rPr lang="it-IT" sz="1200" dirty="0"/>
              <a:t>A </a:t>
            </a:r>
            <a:r>
              <a:rPr lang="it-IT" sz="1200" dirty="0" err="1"/>
              <a:t>tiny</a:t>
            </a:r>
            <a:r>
              <a:rPr lang="it-IT" sz="1200" dirty="0"/>
              <a:t> </a:t>
            </a:r>
            <a:r>
              <a:rPr lang="it-IT" sz="1200" dirty="0" err="1"/>
              <a:t>fraction</a:t>
            </a:r>
            <a:r>
              <a:rPr lang="it-IT" sz="1200" dirty="0"/>
              <a:t> of </a:t>
            </a:r>
            <a:r>
              <a:rPr lang="it-IT" sz="1200" dirty="0" err="1"/>
              <a:t>titles</a:t>
            </a:r>
            <a:r>
              <a:rPr lang="it-IT" sz="1200" dirty="0"/>
              <a:t> </a:t>
            </a:r>
            <a:r>
              <a:rPr lang="it-IT" sz="1200" dirty="0" err="1"/>
              <a:t>capture</a:t>
            </a:r>
            <a:r>
              <a:rPr lang="it-IT" sz="1200" dirty="0"/>
              <a:t> massive adoption; the </a:t>
            </a:r>
            <a:r>
              <a:rPr lang="it-IT" sz="1200" dirty="0" err="1"/>
              <a:t>vast</a:t>
            </a:r>
            <a:r>
              <a:rPr lang="it-IT" sz="1200" dirty="0"/>
              <a:t> </a:t>
            </a:r>
            <a:r>
              <a:rPr lang="it-IT" sz="1200" dirty="0" err="1"/>
              <a:t>majority</a:t>
            </a:r>
            <a:r>
              <a:rPr lang="it-IT" sz="1200" dirty="0"/>
              <a:t> </a:t>
            </a:r>
            <a:r>
              <a:rPr lang="it-IT" sz="1200" dirty="0" err="1"/>
              <a:t>remain</a:t>
            </a:r>
            <a:r>
              <a:rPr lang="it-IT" sz="1200" dirty="0"/>
              <a:t> in the long-</a:t>
            </a:r>
            <a:r>
              <a:rPr lang="it-IT" sz="1200" dirty="0" err="1"/>
              <a:t>tail</a:t>
            </a:r>
            <a:r>
              <a:rPr lang="it-IT" sz="1200" dirty="0"/>
              <a:t> with minimal sales</a:t>
            </a:r>
          </a:p>
          <a:p>
            <a:pPr marL="171450" indent="-171450">
              <a:buFont typeface="Arial" panose="020B0604020202020204" pitchFamily="34" charset="0"/>
              <a:buChar char="•"/>
            </a:pPr>
            <a:endParaRPr lang="it-IT" sz="1200" dirty="0"/>
          </a:p>
          <a:p>
            <a:pPr marL="171450" indent="-171450">
              <a:buFont typeface="Arial" panose="020B0604020202020204" pitchFamily="34" charset="0"/>
              <a:buChar char="•"/>
            </a:pPr>
            <a:r>
              <a:rPr lang="it-IT" sz="1200" b="1" dirty="0" err="1"/>
              <a:t>HitPredictor-Steam</a:t>
            </a:r>
            <a:r>
              <a:rPr lang="it-IT" sz="1200" dirty="0"/>
              <a:t> </a:t>
            </a:r>
            <a:r>
              <a:rPr lang="it-IT" sz="1200" dirty="0" err="1"/>
              <a:t>delivers</a:t>
            </a:r>
            <a:r>
              <a:rPr lang="it-IT" sz="1200" dirty="0"/>
              <a:t> an </a:t>
            </a:r>
            <a:r>
              <a:rPr lang="it-IT" sz="1200" dirty="0" err="1"/>
              <a:t>Classifier</a:t>
            </a:r>
            <a:r>
              <a:rPr lang="it-IT" sz="1200" dirty="0"/>
              <a:t> ML pipeline to </a:t>
            </a:r>
            <a:r>
              <a:rPr lang="it-IT" sz="1200" dirty="0" err="1"/>
              <a:t>predict</a:t>
            </a:r>
            <a:r>
              <a:rPr lang="it-IT" sz="1200" dirty="0"/>
              <a:t> commercial adoption </a:t>
            </a:r>
            <a:r>
              <a:rPr lang="it-IT" sz="1200" dirty="0" err="1"/>
              <a:t>trajectories</a:t>
            </a:r>
            <a:r>
              <a:rPr lang="it-IT" sz="1200" dirty="0"/>
              <a:t> ("hit status") </a:t>
            </a:r>
            <a:r>
              <a:rPr lang="it-IT" sz="1200" dirty="0" err="1"/>
              <a:t>using</a:t>
            </a:r>
            <a:r>
              <a:rPr lang="it-IT" sz="1200" dirty="0"/>
              <a:t> </a:t>
            </a:r>
            <a:r>
              <a:rPr lang="it-IT" sz="1200" dirty="0" err="1"/>
              <a:t>storefront</a:t>
            </a:r>
            <a:r>
              <a:rPr lang="it-IT" sz="1200" dirty="0"/>
              <a:t> metadata</a:t>
            </a:r>
          </a:p>
          <a:p>
            <a:pPr marL="171450" indent="-171450">
              <a:buFont typeface="Arial" panose="020B0604020202020204" pitchFamily="34" charset="0"/>
              <a:buChar char="•"/>
            </a:pPr>
            <a:endParaRPr lang="it-IT" sz="1200" dirty="0"/>
          </a:p>
          <a:p>
            <a:pPr marL="171450" indent="-171450">
              <a:buFont typeface="Arial" panose="020B0604020202020204" pitchFamily="34" charset="0"/>
              <a:buChar char="•"/>
            </a:pPr>
            <a:r>
              <a:rPr lang="en-US" sz="1200" dirty="0"/>
              <a:t>Two models have been developed: one works pre-release, predicting a game's end users before its launch. The post-release model instead classifies the popularity of already-released games, allowing for market analysis.</a:t>
            </a:r>
            <a:endParaRPr lang="it-IT" sz="1200" dirty="0"/>
          </a:p>
          <a:p>
            <a:pPr marL="171450" indent="-171450">
              <a:buFont typeface="Arial" panose="020B0604020202020204" pitchFamily="34" charset="0"/>
              <a:buChar char="•"/>
            </a:pPr>
            <a:endParaRPr lang="it-IT" sz="1200" dirty="0"/>
          </a:p>
          <a:p>
            <a:pPr marL="171450" indent="-171450">
              <a:buFont typeface="Arial" panose="020B0604020202020204" pitchFamily="34" charset="0"/>
              <a:buChar char="•"/>
            </a:pPr>
            <a:r>
              <a:rPr lang="it-IT" sz="1200" dirty="0" err="1"/>
              <a:t>Primary</a:t>
            </a:r>
            <a:r>
              <a:rPr lang="it-IT" sz="1200" dirty="0"/>
              <a:t> </a:t>
            </a:r>
            <a:r>
              <a:rPr lang="it-IT" sz="1200" dirty="0" err="1"/>
              <a:t>objective</a:t>
            </a:r>
            <a:r>
              <a:rPr lang="it-IT" sz="1200" dirty="0"/>
              <a:t>: </a:t>
            </a:r>
            <a:r>
              <a:rPr lang="it-IT" sz="1200" dirty="0" err="1"/>
              <a:t>equip</a:t>
            </a:r>
            <a:r>
              <a:rPr lang="it-IT" sz="1200" dirty="0"/>
              <a:t> </a:t>
            </a:r>
            <a:r>
              <a:rPr lang="it-IT" sz="1200" dirty="0" err="1"/>
              <a:t>independent</a:t>
            </a:r>
            <a:r>
              <a:rPr lang="it-IT" sz="1200" dirty="0"/>
              <a:t> developers and publishers with </a:t>
            </a:r>
            <a:r>
              <a:rPr lang="it-IT" sz="1200" b="1" dirty="0"/>
              <a:t>data-</a:t>
            </a:r>
            <a:r>
              <a:rPr lang="it-IT" sz="1200" b="1" dirty="0" err="1"/>
              <a:t>driven</a:t>
            </a:r>
            <a:r>
              <a:rPr lang="it-IT" sz="1200" b="1" dirty="0"/>
              <a:t> </a:t>
            </a:r>
            <a:r>
              <a:rPr lang="it-IT" sz="1200" b="1" dirty="0" err="1"/>
              <a:t>decision</a:t>
            </a:r>
            <a:r>
              <a:rPr lang="it-IT" sz="1200" b="1" dirty="0"/>
              <a:t> tools</a:t>
            </a:r>
            <a:r>
              <a:rPr lang="it-IT" sz="1200" dirty="0"/>
              <a:t> </a:t>
            </a:r>
            <a:r>
              <a:rPr lang="it-IT" sz="1200" dirty="0" err="1"/>
              <a:t>prior</a:t>
            </a:r>
            <a:r>
              <a:rPr lang="it-IT" sz="1200" dirty="0"/>
              <a:t> to capital </a:t>
            </a:r>
            <a:r>
              <a:rPr lang="it-IT" sz="1200" dirty="0" err="1"/>
              <a:t>allocation</a:t>
            </a:r>
            <a:endParaRPr lang="it-IT" sz="1200" dirty="0"/>
          </a:p>
        </p:txBody>
      </p:sp>
      <p:sp>
        <p:nvSpPr>
          <p:cNvPr id="9" name="Shape 7"/>
          <p:cNvSpPr/>
          <p:nvPr/>
        </p:nvSpPr>
        <p:spPr>
          <a:xfrm>
            <a:off x="4663440" y="1115568"/>
            <a:ext cx="4069080" cy="2962656"/>
          </a:xfrm>
          <a:prstGeom prst="roundRect">
            <a:avLst>
              <a:gd name="adj" fmla="val 3086"/>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dirty="0"/>
          </a:p>
        </p:txBody>
      </p:sp>
      <p:sp>
        <p:nvSpPr>
          <p:cNvPr id="10" name="Text 8"/>
          <p:cNvSpPr/>
          <p:nvPr/>
        </p:nvSpPr>
        <p:spPr>
          <a:xfrm>
            <a:off x="4828032" y="1225296"/>
            <a:ext cx="3749040" cy="274320"/>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Dataset at a Glance</a:t>
            </a:r>
            <a:endParaRPr lang="en-US" sz="1200" dirty="0"/>
          </a:p>
        </p:txBody>
      </p:sp>
      <p:sp>
        <p:nvSpPr>
          <p:cNvPr id="11" name="Shape 9"/>
          <p:cNvSpPr/>
          <p:nvPr/>
        </p:nvSpPr>
        <p:spPr>
          <a:xfrm>
            <a:off x="4663440" y="1572768"/>
            <a:ext cx="4069080" cy="265176"/>
          </a:xfrm>
          <a:prstGeom prst="rect">
            <a:avLst/>
          </a:prstGeom>
          <a:solidFill>
            <a:srgbClr val="F8FAFC"/>
          </a:solidFill>
          <a:ln w="6350">
            <a:solidFill>
              <a:srgbClr val="CBD5E1"/>
            </a:solidFill>
            <a:prstDash val="solid"/>
          </a:ln>
        </p:spPr>
        <p:txBody>
          <a:bodyPr/>
          <a:lstStyle/>
          <a:p>
            <a:endParaRPr lang="it-IT" dirty="0"/>
          </a:p>
        </p:txBody>
      </p:sp>
      <p:sp>
        <p:nvSpPr>
          <p:cNvPr id="12" name="Text 10"/>
          <p:cNvSpPr/>
          <p:nvPr/>
        </p:nvSpPr>
        <p:spPr>
          <a:xfrm>
            <a:off x="4736592" y="160934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Task</a:t>
            </a:r>
            <a:endParaRPr lang="en-US" sz="950" dirty="0"/>
          </a:p>
        </p:txBody>
      </p:sp>
      <p:sp>
        <p:nvSpPr>
          <p:cNvPr id="13" name="Text 11"/>
          <p:cNvSpPr/>
          <p:nvPr/>
        </p:nvSpPr>
        <p:spPr>
          <a:xfrm>
            <a:off x="6035040" y="160934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Multiclass Classification</a:t>
            </a:r>
            <a:endParaRPr lang="en-US" sz="950" dirty="0"/>
          </a:p>
        </p:txBody>
      </p:sp>
      <p:sp>
        <p:nvSpPr>
          <p:cNvPr id="14" name="Shape 12"/>
          <p:cNvSpPr/>
          <p:nvPr/>
        </p:nvSpPr>
        <p:spPr>
          <a:xfrm>
            <a:off x="4663440" y="1847088"/>
            <a:ext cx="4069080" cy="265176"/>
          </a:xfrm>
          <a:prstGeom prst="rect">
            <a:avLst/>
          </a:prstGeom>
          <a:solidFill>
            <a:srgbClr val="FFFFFF"/>
          </a:solidFill>
          <a:ln w="6350">
            <a:solidFill>
              <a:srgbClr val="CBD5E1"/>
            </a:solidFill>
            <a:prstDash val="solid"/>
          </a:ln>
        </p:spPr>
        <p:txBody>
          <a:bodyPr/>
          <a:lstStyle/>
          <a:p>
            <a:endParaRPr lang="it-IT" dirty="0"/>
          </a:p>
        </p:txBody>
      </p:sp>
      <p:sp>
        <p:nvSpPr>
          <p:cNvPr id="15" name="Text 13"/>
          <p:cNvSpPr/>
          <p:nvPr/>
        </p:nvSpPr>
        <p:spPr>
          <a:xfrm>
            <a:off x="4736592" y="188366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Dataset</a:t>
            </a:r>
            <a:endParaRPr lang="en-US" sz="950" dirty="0"/>
          </a:p>
        </p:txBody>
      </p:sp>
      <p:sp>
        <p:nvSpPr>
          <p:cNvPr id="16" name="Text 14"/>
          <p:cNvSpPr/>
          <p:nvPr/>
        </p:nvSpPr>
        <p:spPr>
          <a:xfrm>
            <a:off x="6035040" y="188366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Steam Store and </a:t>
            </a:r>
            <a:r>
              <a:rPr lang="en-US" sz="950" i="1" dirty="0" err="1">
                <a:solidFill>
                  <a:srgbClr val="4A6587"/>
                </a:solidFill>
                <a:latin typeface="Calibri" pitchFamily="34" charset="0"/>
                <a:ea typeface="Calibri" pitchFamily="34" charset="-122"/>
                <a:cs typeface="Calibri" pitchFamily="34" charset="-120"/>
              </a:rPr>
              <a:t>SteamSpy</a:t>
            </a:r>
            <a:r>
              <a:rPr lang="en-US" sz="950" i="1" dirty="0">
                <a:solidFill>
                  <a:srgbClr val="4A6587"/>
                </a:solidFill>
                <a:latin typeface="Calibri" pitchFamily="34" charset="0"/>
                <a:ea typeface="Calibri" pitchFamily="34" charset="-122"/>
                <a:cs typeface="Calibri" pitchFamily="34" charset="-120"/>
              </a:rPr>
              <a:t> Data (Kaggle)</a:t>
            </a:r>
            <a:endParaRPr lang="en-US" sz="950" dirty="0"/>
          </a:p>
        </p:txBody>
      </p:sp>
      <p:sp>
        <p:nvSpPr>
          <p:cNvPr id="17" name="Shape 15"/>
          <p:cNvSpPr/>
          <p:nvPr/>
        </p:nvSpPr>
        <p:spPr>
          <a:xfrm>
            <a:off x="4663440" y="2121408"/>
            <a:ext cx="4069080" cy="265176"/>
          </a:xfrm>
          <a:prstGeom prst="rect">
            <a:avLst/>
          </a:prstGeom>
          <a:solidFill>
            <a:srgbClr val="F8FAFC"/>
          </a:solidFill>
          <a:ln w="6350">
            <a:solidFill>
              <a:srgbClr val="CBD5E1"/>
            </a:solidFill>
            <a:prstDash val="solid"/>
          </a:ln>
        </p:spPr>
        <p:txBody>
          <a:bodyPr/>
          <a:lstStyle/>
          <a:p>
            <a:endParaRPr lang="it-IT"/>
          </a:p>
        </p:txBody>
      </p:sp>
      <p:sp>
        <p:nvSpPr>
          <p:cNvPr id="18" name="Text 16"/>
          <p:cNvSpPr/>
          <p:nvPr/>
        </p:nvSpPr>
        <p:spPr>
          <a:xfrm>
            <a:off x="4736592" y="215798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Target</a:t>
            </a:r>
            <a:endParaRPr lang="en-US" sz="950" dirty="0"/>
          </a:p>
        </p:txBody>
      </p:sp>
      <p:sp>
        <p:nvSpPr>
          <p:cNvPr id="19" name="Text 17"/>
          <p:cNvSpPr/>
          <p:nvPr/>
        </p:nvSpPr>
        <p:spPr>
          <a:xfrm>
            <a:off x="6035040" y="215798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Owners – Range of players who purchased the game</a:t>
            </a:r>
            <a:endParaRPr lang="en-US" sz="950" dirty="0"/>
          </a:p>
        </p:txBody>
      </p:sp>
      <p:sp>
        <p:nvSpPr>
          <p:cNvPr id="20" name="Shape 18"/>
          <p:cNvSpPr/>
          <p:nvPr/>
        </p:nvSpPr>
        <p:spPr>
          <a:xfrm>
            <a:off x="4663440" y="2395728"/>
            <a:ext cx="4069080" cy="265176"/>
          </a:xfrm>
          <a:prstGeom prst="rect">
            <a:avLst/>
          </a:prstGeom>
          <a:solidFill>
            <a:srgbClr val="FFFFFF"/>
          </a:solidFill>
          <a:ln w="6350">
            <a:solidFill>
              <a:srgbClr val="CBD5E1"/>
            </a:solidFill>
            <a:prstDash val="solid"/>
          </a:ln>
        </p:spPr>
        <p:txBody>
          <a:bodyPr/>
          <a:lstStyle/>
          <a:p>
            <a:endParaRPr lang="it-IT"/>
          </a:p>
        </p:txBody>
      </p:sp>
      <p:sp>
        <p:nvSpPr>
          <p:cNvPr id="21" name="Text 19"/>
          <p:cNvSpPr/>
          <p:nvPr/>
        </p:nvSpPr>
        <p:spPr>
          <a:xfrm>
            <a:off x="4736592" y="243230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Features</a:t>
            </a:r>
            <a:endParaRPr lang="en-US" sz="950" dirty="0"/>
          </a:p>
        </p:txBody>
      </p:sp>
      <p:sp>
        <p:nvSpPr>
          <p:cNvPr id="22" name="Text 20"/>
          <p:cNvSpPr/>
          <p:nvPr/>
        </p:nvSpPr>
        <p:spPr>
          <a:xfrm>
            <a:off x="6035040" y="243230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Numerical, Categorical, Textual</a:t>
            </a:r>
            <a:endParaRPr lang="en-US" sz="950" dirty="0"/>
          </a:p>
        </p:txBody>
      </p:sp>
      <p:sp>
        <p:nvSpPr>
          <p:cNvPr id="24" name="Text 22"/>
          <p:cNvSpPr/>
          <p:nvPr/>
        </p:nvSpPr>
        <p:spPr>
          <a:xfrm>
            <a:off x="4736592" y="270662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Missing values</a:t>
            </a:r>
            <a:endParaRPr lang="en-US" sz="950" dirty="0"/>
          </a:p>
        </p:txBody>
      </p:sp>
      <p:sp>
        <p:nvSpPr>
          <p:cNvPr id="25" name="Text 23"/>
          <p:cNvSpPr/>
          <p:nvPr/>
        </p:nvSpPr>
        <p:spPr>
          <a:xfrm>
            <a:off x="5894363" y="2706624"/>
            <a:ext cx="2746717" cy="201168"/>
          </a:xfrm>
          <a:prstGeom prst="rect">
            <a:avLst/>
          </a:prstGeom>
          <a:noFill/>
          <a:ln/>
        </p:spPr>
        <p:txBody>
          <a:bodyPr wrap="square" lIns="0" tIns="0" rIns="0" bIns="0" rtlCol="0" anchor="ctr"/>
          <a:lstStyle/>
          <a:p>
            <a:r>
              <a:rPr lang="en-US" sz="950" i="1" dirty="0">
                <a:solidFill>
                  <a:srgbClr val="4A6587"/>
                </a:solidFill>
                <a:latin typeface="Calibri" pitchFamily="34" charset="0"/>
                <a:ea typeface="Calibri" pitchFamily="34" charset="-122"/>
                <a:cs typeface="Calibri" pitchFamily="34" charset="-120"/>
              </a:rPr>
              <a:t>17.89% missing values, before cleaning and text mining</a:t>
            </a:r>
            <a:endParaRPr lang="en-US" sz="950" dirty="0"/>
          </a:p>
        </p:txBody>
      </p:sp>
      <p:sp>
        <p:nvSpPr>
          <p:cNvPr id="26" name="Shape 24"/>
          <p:cNvSpPr/>
          <p:nvPr/>
        </p:nvSpPr>
        <p:spPr>
          <a:xfrm>
            <a:off x="4663440" y="2944368"/>
            <a:ext cx="4069080" cy="265176"/>
          </a:xfrm>
          <a:prstGeom prst="rect">
            <a:avLst/>
          </a:prstGeom>
          <a:solidFill>
            <a:srgbClr val="FFFFFF"/>
          </a:solidFill>
          <a:ln w="6350">
            <a:solidFill>
              <a:srgbClr val="CBD5E1"/>
            </a:solidFill>
            <a:prstDash val="solid"/>
          </a:ln>
        </p:spPr>
        <p:txBody>
          <a:bodyPr/>
          <a:lstStyle/>
          <a:p>
            <a:endParaRPr lang="it-IT"/>
          </a:p>
        </p:txBody>
      </p:sp>
      <p:sp>
        <p:nvSpPr>
          <p:cNvPr id="27" name="Text 25"/>
          <p:cNvSpPr/>
          <p:nvPr/>
        </p:nvSpPr>
        <p:spPr>
          <a:xfrm>
            <a:off x="4736592" y="298094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Class balance</a:t>
            </a:r>
            <a:endParaRPr lang="en-US" sz="950" dirty="0"/>
          </a:p>
        </p:txBody>
      </p:sp>
      <p:sp>
        <p:nvSpPr>
          <p:cNvPr id="28" name="Text 26"/>
          <p:cNvSpPr/>
          <p:nvPr/>
        </p:nvSpPr>
        <p:spPr>
          <a:xfrm>
            <a:off x="6035040" y="2980944"/>
            <a:ext cx="2606040" cy="201168"/>
          </a:xfrm>
          <a:prstGeom prst="rect">
            <a:avLst/>
          </a:prstGeom>
          <a:noFill/>
          <a:ln/>
        </p:spPr>
        <p:txBody>
          <a:bodyPr wrap="square" lIns="0" tIns="0" rIns="0" bIns="0" rtlCol="0" anchor="ctr"/>
          <a:lstStyle/>
          <a:p>
            <a:r>
              <a:rPr lang="en-US" sz="950" i="1" dirty="0">
                <a:solidFill>
                  <a:srgbClr val="4A6587"/>
                </a:solidFill>
                <a:latin typeface="Calibri" pitchFamily="34" charset="0"/>
                <a:ea typeface="Calibri" pitchFamily="34" charset="-122"/>
                <a:cs typeface="Calibri" pitchFamily="34" charset="-120"/>
              </a:rPr>
              <a:t>Heavily unbalanced, class 0 contains 69% of the data </a:t>
            </a:r>
            <a:endParaRPr lang="en-US" sz="950" dirty="0"/>
          </a:p>
        </p:txBody>
      </p:sp>
      <p:sp>
        <p:nvSpPr>
          <p:cNvPr id="29" name="Shape 27"/>
          <p:cNvSpPr/>
          <p:nvPr/>
        </p:nvSpPr>
        <p:spPr>
          <a:xfrm>
            <a:off x="4663440" y="3218688"/>
            <a:ext cx="4069080" cy="265176"/>
          </a:xfrm>
          <a:prstGeom prst="rect">
            <a:avLst/>
          </a:prstGeom>
          <a:solidFill>
            <a:srgbClr val="F8FAFC"/>
          </a:solidFill>
          <a:ln w="6350">
            <a:solidFill>
              <a:srgbClr val="CBD5E1"/>
            </a:solidFill>
            <a:prstDash val="solid"/>
          </a:ln>
        </p:spPr>
        <p:txBody>
          <a:bodyPr/>
          <a:lstStyle/>
          <a:p>
            <a:endParaRPr lang="it-IT"/>
          </a:p>
        </p:txBody>
      </p:sp>
      <p:sp>
        <p:nvSpPr>
          <p:cNvPr id="30" name="Text 28"/>
          <p:cNvSpPr/>
          <p:nvPr/>
        </p:nvSpPr>
        <p:spPr>
          <a:xfrm>
            <a:off x="4736592" y="325526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Split</a:t>
            </a:r>
            <a:endParaRPr lang="en-US" sz="950" dirty="0"/>
          </a:p>
        </p:txBody>
      </p:sp>
      <p:sp>
        <p:nvSpPr>
          <p:cNvPr id="31" name="Text 29"/>
          <p:cNvSpPr/>
          <p:nvPr/>
        </p:nvSpPr>
        <p:spPr>
          <a:xfrm>
            <a:off x="6035040" y="3246120"/>
            <a:ext cx="2606040" cy="210312"/>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5 splits for outer loop, 3 for inner loop</a:t>
            </a:r>
            <a:endParaRPr lang="en-US" sz="950" dirty="0"/>
          </a:p>
        </p:txBody>
      </p:sp>
      <p:sp>
        <p:nvSpPr>
          <p:cNvPr id="32" name="Shape 30"/>
          <p:cNvSpPr/>
          <p:nvPr/>
        </p:nvSpPr>
        <p:spPr>
          <a:xfrm>
            <a:off x="4663440" y="3493008"/>
            <a:ext cx="4069080" cy="265176"/>
          </a:xfrm>
          <a:prstGeom prst="rect">
            <a:avLst/>
          </a:prstGeom>
          <a:solidFill>
            <a:srgbClr val="FFFFFF"/>
          </a:solidFill>
          <a:ln w="6350">
            <a:solidFill>
              <a:srgbClr val="CBD5E1"/>
            </a:solidFill>
            <a:prstDash val="solid"/>
          </a:ln>
        </p:spPr>
        <p:txBody>
          <a:bodyPr/>
          <a:lstStyle/>
          <a:p>
            <a:endParaRPr lang="it-IT"/>
          </a:p>
        </p:txBody>
      </p:sp>
      <p:sp>
        <p:nvSpPr>
          <p:cNvPr id="33" name="Text 31"/>
          <p:cNvSpPr/>
          <p:nvPr/>
        </p:nvSpPr>
        <p:spPr>
          <a:xfrm>
            <a:off x="4736592" y="352958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Metric(s)</a:t>
            </a:r>
            <a:endParaRPr lang="en-US" sz="950" dirty="0"/>
          </a:p>
        </p:txBody>
      </p:sp>
      <p:sp>
        <p:nvSpPr>
          <p:cNvPr id="34" name="Text 32"/>
          <p:cNvSpPr/>
          <p:nvPr/>
        </p:nvSpPr>
        <p:spPr>
          <a:xfrm>
            <a:off x="6035040" y="352958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QWK (Quadratic Weighted Kappa), F1-macro</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750" b="1" kern="0" spc="150" dirty="0">
                <a:solidFill>
                  <a:srgbClr val="FFFFFF"/>
                </a:solidFill>
              </a:rPr>
              <a:t>PROBLEM</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Exploratory Data Analysis</a:t>
            </a:r>
            <a:endParaRPr lang="en-US" sz="2400" dirty="0"/>
          </a:p>
        </p:txBody>
      </p:sp>
      <p:sp>
        <p:nvSpPr>
          <p:cNvPr id="6" name="Text 4"/>
          <p:cNvSpPr/>
          <p:nvPr/>
        </p:nvSpPr>
        <p:spPr>
          <a:xfrm>
            <a:off x="411480" y="1897380"/>
            <a:ext cx="4069080" cy="969264"/>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9" name="Text 7"/>
          <p:cNvSpPr/>
          <p:nvPr/>
        </p:nvSpPr>
        <p:spPr>
          <a:xfrm>
            <a:off x="4663440" y="1897380"/>
            <a:ext cx="4069080" cy="969264"/>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10" name="Text 8"/>
          <p:cNvSpPr/>
          <p:nvPr/>
        </p:nvSpPr>
        <p:spPr>
          <a:xfrm>
            <a:off x="4663440" y="2672791"/>
            <a:ext cx="4069080" cy="775411"/>
          </a:xfrm>
          <a:prstGeom prst="rect">
            <a:avLst/>
          </a:prstGeom>
          <a:noFill/>
          <a:ln/>
        </p:spPr>
        <p:txBody>
          <a:bodyPr wrap="square" lIns="0" tIns="0" rIns="0" bIns="0" rtlCol="0" anchor="t"/>
          <a:lstStyle/>
          <a:p>
            <a:pPr marL="0" indent="0" algn="ctr">
              <a:buNone/>
            </a:pPr>
            <a:r>
              <a:rPr lang="en-US" sz="850" dirty="0">
                <a:solidFill>
                  <a:srgbClr val="7A8FA6"/>
                </a:solidFill>
              </a:rPr>
              <a:t>Correlation heatmap or scatter matrix</a:t>
            </a:r>
            <a:endParaRPr lang="en-US" sz="850" dirty="0"/>
          </a:p>
        </p:txBody>
      </p:sp>
      <p:sp>
        <p:nvSpPr>
          <p:cNvPr id="13" name="Text 11"/>
          <p:cNvSpPr/>
          <p:nvPr/>
        </p:nvSpPr>
        <p:spPr>
          <a:xfrm>
            <a:off x="411480" y="3666744"/>
            <a:ext cx="8321040" cy="1229867"/>
          </a:xfrm>
          <a:prstGeom prst="rect">
            <a:avLst/>
          </a:prstGeom>
          <a:noFill/>
          <a:ln/>
        </p:spPr>
        <p:txBody>
          <a:bodyPr wrap="square" lIns="0" tIns="0" rIns="0" bIns="0" rtlCol="0" anchor="ctr"/>
          <a:lstStyle/>
          <a:p>
            <a:pPr marL="0" indent="0">
              <a:buNone/>
            </a:pPr>
            <a:r>
              <a:rPr lang="en-US" sz="1000" b="1" dirty="0">
                <a:solidFill>
                  <a:srgbClr val="1C2B4A"/>
                </a:solidFill>
                <a:latin typeface="Calibri" pitchFamily="34" charset="0"/>
                <a:ea typeface="Calibri" pitchFamily="34" charset="-122"/>
                <a:cs typeface="Calibri" pitchFamily="34" charset="-120"/>
              </a:rPr>
              <a:t>Key findings from EDA:</a:t>
            </a:r>
          </a:p>
          <a:p>
            <a:pPr marL="171450" indent="-171450">
              <a:buFont typeface="Arial" panose="020B0604020202020204" pitchFamily="34" charset="0"/>
              <a:buChar char="•"/>
            </a:pPr>
            <a:r>
              <a:rPr lang="en-US" sz="1000" dirty="0"/>
              <a:t>Severe class imbalance is present, with the Indie Long-Tail (Tier 0) dominating the dataset at over 69%</a:t>
            </a:r>
          </a:p>
          <a:p>
            <a:pPr marL="171450" indent="-171450">
              <a:buFont typeface="Arial" panose="020B0604020202020204" pitchFamily="34" charset="0"/>
              <a:buChar char="•"/>
            </a:pPr>
            <a:r>
              <a:rPr lang="en-US" sz="1000" dirty="0"/>
              <a:t>The original 13 high-variance classes representing the owner ranges have been engineered into 5 ordinal macro-tiers to enable effective classification.</a:t>
            </a:r>
          </a:p>
          <a:p>
            <a:pPr marL="171450" indent="-171450">
              <a:buFont typeface="Arial" panose="020B0604020202020204" pitchFamily="34" charset="0"/>
              <a:buChar char="•"/>
            </a:pPr>
            <a:r>
              <a:rPr lang="en-US" sz="1000" dirty="0"/>
              <a:t>To prevent target leakage, post-launch engagement features (like reviews and concurrent users) must be bifurcated from pre-launch metadata, creating two operational models.</a:t>
            </a:r>
          </a:p>
        </p:txBody>
      </p:sp>
      <p:pic>
        <p:nvPicPr>
          <p:cNvPr id="18" name="Immagine 17">
            <a:extLst>
              <a:ext uri="{FF2B5EF4-FFF2-40B4-BE49-F238E27FC236}">
                <a16:creationId xmlns:a16="http://schemas.microsoft.com/office/drawing/2014/main" id="{F640A245-CF50-E2CF-C6E4-459E85D5B28C}"/>
              </a:ext>
            </a:extLst>
          </p:cNvPr>
          <p:cNvPicPr>
            <a:picLocks noChangeAspect="1"/>
          </p:cNvPicPr>
          <p:nvPr/>
        </p:nvPicPr>
        <p:blipFill>
          <a:blip r:embed="rId3"/>
          <a:stretch>
            <a:fillRect/>
          </a:stretch>
        </p:blipFill>
        <p:spPr>
          <a:xfrm>
            <a:off x="1248865" y="1058945"/>
            <a:ext cx="2577190" cy="2646133"/>
          </a:xfrm>
          <a:prstGeom prst="rect">
            <a:avLst/>
          </a:prstGeom>
        </p:spPr>
      </p:pic>
      <p:pic>
        <p:nvPicPr>
          <p:cNvPr id="20" name="Immagine 19">
            <a:extLst>
              <a:ext uri="{FF2B5EF4-FFF2-40B4-BE49-F238E27FC236}">
                <a16:creationId xmlns:a16="http://schemas.microsoft.com/office/drawing/2014/main" id="{238E9E3A-41C8-55FD-7D69-1880C6ED0AD4}"/>
              </a:ext>
            </a:extLst>
          </p:cNvPr>
          <p:cNvPicPr>
            <a:picLocks noChangeAspect="1"/>
          </p:cNvPicPr>
          <p:nvPr/>
        </p:nvPicPr>
        <p:blipFill>
          <a:blip r:embed="rId4"/>
          <a:stretch>
            <a:fillRect/>
          </a:stretch>
        </p:blipFill>
        <p:spPr>
          <a:xfrm>
            <a:off x="4663440" y="714280"/>
            <a:ext cx="3403862" cy="333546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750" b="1" kern="0" spc="150" dirty="0">
                <a:solidFill>
                  <a:srgbClr val="FFFFFF"/>
                </a:solidFill>
              </a:rPr>
              <a:t>PIPELINE</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Feature Engineering &amp; Selection</a:t>
            </a:r>
            <a:endParaRPr lang="en-US" sz="2400" dirty="0"/>
          </a:p>
        </p:txBody>
      </p:sp>
      <p:sp>
        <p:nvSpPr>
          <p:cNvPr id="5" name="Shape 3"/>
          <p:cNvSpPr/>
          <p:nvPr/>
        </p:nvSpPr>
        <p:spPr>
          <a:xfrm>
            <a:off x="411480" y="1170432"/>
            <a:ext cx="265176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6" name="Shape 4"/>
          <p:cNvSpPr/>
          <p:nvPr/>
        </p:nvSpPr>
        <p:spPr>
          <a:xfrm>
            <a:off x="411480" y="1170432"/>
            <a:ext cx="2651760" cy="384048"/>
          </a:xfrm>
          <a:prstGeom prst="roundRect">
            <a:avLst>
              <a:gd name="adj" fmla="val 23810"/>
            </a:avLst>
          </a:prstGeom>
          <a:solidFill>
            <a:srgbClr val="1C2B4A"/>
          </a:solidFill>
          <a:ln w="12700">
            <a:solidFill>
              <a:srgbClr val="1C2B4A"/>
            </a:solidFill>
            <a:prstDash val="solid"/>
          </a:ln>
        </p:spPr>
        <p:txBody>
          <a:bodyPr/>
          <a:lstStyle/>
          <a:p>
            <a:endParaRPr lang="it-IT"/>
          </a:p>
        </p:txBody>
      </p:sp>
      <p:sp>
        <p:nvSpPr>
          <p:cNvPr id="7" name="Shape 5"/>
          <p:cNvSpPr/>
          <p:nvPr/>
        </p:nvSpPr>
        <p:spPr>
          <a:xfrm>
            <a:off x="411480" y="1417320"/>
            <a:ext cx="2651760" cy="137160"/>
          </a:xfrm>
          <a:prstGeom prst="rect">
            <a:avLst/>
          </a:prstGeom>
          <a:solidFill>
            <a:srgbClr val="1C2B4A"/>
          </a:solidFill>
          <a:ln w="12700">
            <a:solidFill>
              <a:srgbClr val="1C2B4A"/>
            </a:solidFill>
            <a:prstDash val="solid"/>
          </a:ln>
        </p:spPr>
        <p:txBody>
          <a:bodyPr/>
          <a:lstStyle/>
          <a:p>
            <a:endParaRPr lang="it-IT"/>
          </a:p>
        </p:txBody>
      </p:sp>
      <p:sp>
        <p:nvSpPr>
          <p:cNvPr id="8" name="Text 6"/>
          <p:cNvSpPr/>
          <p:nvPr/>
        </p:nvSpPr>
        <p:spPr>
          <a:xfrm>
            <a:off x="52120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9" name="Text 7"/>
          <p:cNvSpPr/>
          <p:nvPr/>
        </p:nvSpPr>
        <p:spPr>
          <a:xfrm>
            <a:off x="548640" y="1627632"/>
            <a:ext cx="2377440" cy="2926080"/>
          </a:xfrm>
          <a:prstGeom prst="rect">
            <a:avLst/>
          </a:prstGeom>
          <a:noFill/>
          <a:ln/>
        </p:spPr>
        <p:txBody>
          <a:bodyPr wrap="square" lIns="0" tIns="0" rIns="0" bIns="0" rtlCol="0" anchor="t"/>
          <a:lstStyle/>
          <a:p>
            <a:pPr marL="342900" indent="-342900">
              <a:spcAft>
                <a:spcPts val="500"/>
              </a:spcAft>
              <a:buSzPct val="100000"/>
              <a:buChar char="•"/>
            </a:pPr>
            <a:r>
              <a:rPr lang="it-IT" sz="1000" dirty="0">
                <a:latin typeface="Calibri" panose="020F0502020204030204" pitchFamily="34" charset="0"/>
                <a:ea typeface="Calibri" panose="020F0502020204030204" pitchFamily="34" charset="0"/>
                <a:cs typeface="Calibri" panose="020F0502020204030204" pitchFamily="34" charset="0"/>
              </a:rPr>
              <a:t>Hardware </a:t>
            </a:r>
            <a:r>
              <a:rPr lang="it-IT" sz="1000" dirty="0" err="1">
                <a:latin typeface="Calibri" panose="020F0502020204030204" pitchFamily="34" charset="0"/>
                <a:ea typeface="Calibri" panose="020F0502020204030204" pitchFamily="34" charset="0"/>
                <a:cs typeface="Calibri" panose="020F0502020204030204" pitchFamily="34" charset="0"/>
              </a:rPr>
              <a:t>specifications</a:t>
            </a:r>
            <a:r>
              <a:rPr lang="it-IT" sz="1000" dirty="0">
                <a:latin typeface="Calibri" panose="020F0502020204030204" pitchFamily="34" charset="0"/>
                <a:ea typeface="Calibri" panose="020F0502020204030204" pitchFamily="34" charset="0"/>
                <a:cs typeface="Calibri" panose="020F0502020204030204" pitchFamily="34" charset="0"/>
              </a:rPr>
              <a:t> (e.g. RAM) </a:t>
            </a:r>
            <a:r>
              <a:rPr lang="it-IT" sz="1000" dirty="0" err="1">
                <a:latin typeface="Calibri" panose="020F0502020204030204" pitchFamily="34" charset="0"/>
                <a:ea typeface="Calibri" panose="020F0502020204030204" pitchFamily="34" charset="0"/>
                <a:cs typeface="Calibri" panose="020F0502020204030204" pitchFamily="34" charset="0"/>
              </a:rPr>
              <a:t>were</a:t>
            </a:r>
            <a:r>
              <a:rPr lang="it-IT" sz="1000" dirty="0">
                <a:latin typeface="Calibri" panose="020F0502020204030204" pitchFamily="34" charset="0"/>
                <a:ea typeface="Calibri" panose="020F0502020204030204" pitchFamily="34" charset="0"/>
                <a:cs typeface="Calibri" panose="020F0502020204030204" pitchFamily="34" charset="0"/>
              </a:rPr>
              <a:t> </a:t>
            </a:r>
            <a:r>
              <a:rPr lang="it-IT" sz="1000" dirty="0" err="1">
                <a:latin typeface="Calibri" panose="020F0502020204030204" pitchFamily="34" charset="0"/>
                <a:ea typeface="Calibri" panose="020F0502020204030204" pitchFamily="34" charset="0"/>
                <a:cs typeface="Calibri" panose="020F0502020204030204" pitchFamily="34" charset="0"/>
              </a:rPr>
              <a:t>parsed</a:t>
            </a:r>
            <a:r>
              <a:rPr lang="it-IT" sz="1000" dirty="0">
                <a:latin typeface="Calibri" panose="020F0502020204030204" pitchFamily="34" charset="0"/>
                <a:ea typeface="Calibri" panose="020F0502020204030204" pitchFamily="34" charset="0"/>
                <a:cs typeface="Calibri" panose="020F0502020204030204" pitchFamily="34" charset="0"/>
              </a:rPr>
              <a:t> </a:t>
            </a:r>
            <a:r>
              <a:rPr lang="it-IT" sz="1000" dirty="0" err="1">
                <a:latin typeface="Calibri" panose="020F0502020204030204" pitchFamily="34" charset="0"/>
                <a:ea typeface="Calibri" panose="020F0502020204030204" pitchFamily="34" charset="0"/>
                <a:cs typeface="Calibri" panose="020F0502020204030204" pitchFamily="34" charset="0"/>
              </a:rPr>
              <a:t>textual</a:t>
            </a:r>
            <a:r>
              <a:rPr lang="it-IT" sz="1000" dirty="0">
                <a:latin typeface="Calibri" panose="020F0502020204030204" pitchFamily="34" charset="0"/>
                <a:ea typeface="Calibri" panose="020F0502020204030204" pitchFamily="34" charset="0"/>
                <a:cs typeface="Calibri" panose="020F0502020204030204" pitchFamily="34" charset="0"/>
              </a:rPr>
              <a:t> </a:t>
            </a:r>
            <a:r>
              <a:rPr lang="it-IT" sz="1000" dirty="0" err="1">
                <a:latin typeface="Calibri" panose="020F0502020204030204" pitchFamily="34" charset="0"/>
                <a:ea typeface="Calibri" panose="020F0502020204030204" pitchFamily="34" charset="0"/>
                <a:cs typeface="Calibri" panose="020F0502020204030204" pitchFamily="34" charset="0"/>
              </a:rPr>
              <a:t>requirements</a:t>
            </a:r>
            <a:r>
              <a:rPr lang="it-IT" sz="1000" dirty="0">
                <a:latin typeface="Calibri" panose="020F0502020204030204" pitchFamily="34" charset="0"/>
                <a:ea typeface="Calibri" panose="020F0502020204030204" pitchFamily="34" charset="0"/>
                <a:cs typeface="Calibri" panose="020F0502020204030204" pitchFamily="34" charset="0"/>
              </a:rPr>
              <a:t> </a:t>
            </a:r>
            <a:r>
              <a:rPr lang="it-IT" sz="1000" dirty="0" err="1">
                <a:latin typeface="Calibri" panose="020F0502020204030204" pitchFamily="34" charset="0"/>
                <a:ea typeface="Calibri" panose="020F0502020204030204" pitchFamily="34" charset="0"/>
                <a:cs typeface="Calibri" panose="020F0502020204030204" pitchFamily="34" charset="0"/>
              </a:rPr>
              <a:t>into</a:t>
            </a:r>
            <a:r>
              <a:rPr lang="it-IT" sz="1000" dirty="0">
                <a:latin typeface="Calibri" panose="020F0502020204030204" pitchFamily="34" charset="0"/>
                <a:ea typeface="Calibri" panose="020F0502020204030204" pitchFamily="34" charset="0"/>
                <a:cs typeface="Calibri" panose="020F0502020204030204" pitchFamily="34" charset="0"/>
              </a:rPr>
              <a:t> </a:t>
            </a:r>
            <a:r>
              <a:rPr lang="it-IT" sz="1000" dirty="0" err="1">
                <a:latin typeface="Calibri" panose="020F0502020204030204" pitchFamily="34" charset="0"/>
                <a:ea typeface="Calibri" panose="020F0502020204030204" pitchFamily="34" charset="0"/>
                <a:cs typeface="Calibri" panose="020F0502020204030204" pitchFamily="34" charset="0"/>
              </a:rPr>
              <a:t>standardized</a:t>
            </a:r>
            <a:r>
              <a:rPr lang="it-IT" sz="1000" dirty="0">
                <a:latin typeface="Calibri" panose="020F0502020204030204" pitchFamily="34" charset="0"/>
                <a:ea typeface="Calibri" panose="020F0502020204030204" pitchFamily="34" charset="0"/>
                <a:cs typeface="Calibri" panose="020F0502020204030204" pitchFamily="34" charset="0"/>
              </a:rPr>
              <a:t> gigabytes (GB) and CPU/GPU </a:t>
            </a:r>
            <a:r>
              <a:rPr lang="it-IT" sz="1000" dirty="0" err="1">
                <a:latin typeface="Calibri" panose="020F0502020204030204" pitchFamily="34" charset="0"/>
                <a:ea typeface="Calibri" panose="020F0502020204030204" pitchFamily="34" charset="0"/>
                <a:cs typeface="Calibri" panose="020F0502020204030204" pitchFamily="34" charset="0"/>
              </a:rPr>
              <a:t>requirements</a:t>
            </a:r>
            <a:r>
              <a:rPr lang="it-IT" sz="1000" dirty="0">
                <a:latin typeface="Calibri" panose="020F0502020204030204" pitchFamily="34" charset="0"/>
                <a:ea typeface="Calibri" panose="020F0502020204030204" pitchFamily="34" charset="0"/>
                <a:cs typeface="Calibri" panose="020F0502020204030204" pitchFamily="34" charset="0"/>
              </a:rPr>
              <a:t> </a:t>
            </a:r>
            <a:r>
              <a:rPr lang="it-IT" sz="1000" dirty="0" err="1">
                <a:latin typeface="Calibri" panose="020F0502020204030204" pitchFamily="34" charset="0"/>
                <a:ea typeface="Calibri" panose="020F0502020204030204" pitchFamily="34" charset="0"/>
                <a:cs typeface="Calibri" panose="020F0502020204030204" pitchFamily="34" charset="0"/>
              </a:rPr>
              <a:t>into</a:t>
            </a:r>
            <a:r>
              <a:rPr lang="it-IT" sz="1000" dirty="0">
                <a:latin typeface="Calibri" panose="020F0502020204030204" pitchFamily="34" charset="0"/>
                <a:ea typeface="Calibri" panose="020F0502020204030204" pitchFamily="34" charset="0"/>
                <a:cs typeface="Calibri" panose="020F0502020204030204" pitchFamily="34" charset="0"/>
              </a:rPr>
              <a:t> </a:t>
            </a:r>
            <a:r>
              <a:rPr lang="it-IT" sz="1000" dirty="0" err="1">
                <a:latin typeface="Calibri" panose="020F0502020204030204" pitchFamily="34" charset="0"/>
                <a:ea typeface="Calibri" panose="020F0502020204030204" pitchFamily="34" charset="0"/>
                <a:cs typeface="Calibri" panose="020F0502020204030204" pitchFamily="34" charset="0"/>
              </a:rPr>
              <a:t>binary</a:t>
            </a:r>
            <a:r>
              <a:rPr lang="it-IT" sz="1000" dirty="0">
                <a:latin typeface="Calibri" panose="020F0502020204030204" pitchFamily="34" charset="0"/>
                <a:ea typeface="Calibri" panose="020F0502020204030204" pitchFamily="34" charset="0"/>
                <a:cs typeface="Calibri" panose="020F0502020204030204" pitchFamily="34" charset="0"/>
              </a:rPr>
              <a:t> </a:t>
            </a:r>
            <a:r>
              <a:rPr lang="it-IT" sz="1000" dirty="0" err="1">
                <a:latin typeface="Calibri" panose="020F0502020204030204" pitchFamily="34" charset="0"/>
                <a:ea typeface="Calibri" panose="020F0502020204030204" pitchFamily="34" charset="0"/>
                <a:cs typeface="Calibri" panose="020F0502020204030204" pitchFamily="34" charset="0"/>
              </a:rPr>
              <a:t>indicators</a:t>
            </a:r>
            <a:r>
              <a:rPr lang="it-IT" sz="1000" dirty="0">
                <a:latin typeface="Calibri" panose="020F0502020204030204" pitchFamily="34" charset="0"/>
                <a:ea typeface="Calibri" panose="020F0502020204030204" pitchFamily="34" charset="0"/>
                <a:cs typeface="Calibri" panose="020F0502020204030204" pitchFamily="34" charset="0"/>
              </a:rPr>
              <a:t>.</a:t>
            </a:r>
          </a:p>
          <a:p>
            <a:pPr marL="342900" indent="-342900">
              <a:spcAft>
                <a:spcPts val="500"/>
              </a:spcAft>
              <a:buSzPct val="100000"/>
              <a:buChar char="•"/>
            </a:pPr>
            <a:r>
              <a:rPr lang="it-IT" sz="1000" dirty="0" err="1">
                <a:latin typeface="Calibri" panose="020F0502020204030204" pitchFamily="34" charset="0"/>
                <a:ea typeface="Calibri" panose="020F0502020204030204" pitchFamily="34" charset="0"/>
                <a:cs typeface="Calibri" panose="020F0502020204030204" pitchFamily="34" charset="0"/>
              </a:rPr>
              <a:t>Textual</a:t>
            </a:r>
            <a:r>
              <a:rPr lang="it-IT" sz="1000" dirty="0">
                <a:latin typeface="Calibri" panose="020F0502020204030204" pitchFamily="34" charset="0"/>
                <a:ea typeface="Calibri" panose="020F0502020204030204" pitchFamily="34" charset="0"/>
                <a:cs typeface="Calibri" panose="020F0502020204030204" pitchFamily="34" charset="0"/>
              </a:rPr>
              <a:t> fields </a:t>
            </a:r>
            <a:r>
              <a:rPr lang="it-IT" sz="1000" dirty="0" err="1">
                <a:latin typeface="Calibri" panose="020F0502020204030204" pitchFamily="34" charset="0"/>
                <a:ea typeface="Calibri" panose="020F0502020204030204" pitchFamily="34" charset="0"/>
                <a:cs typeface="Calibri" panose="020F0502020204030204" pitchFamily="34" charset="0"/>
              </a:rPr>
              <a:t>underwent</a:t>
            </a:r>
            <a:r>
              <a:rPr lang="it-IT" sz="1000" dirty="0">
                <a:latin typeface="Calibri" panose="020F0502020204030204" pitchFamily="34" charset="0"/>
                <a:ea typeface="Calibri" panose="020F0502020204030204" pitchFamily="34" charset="0"/>
                <a:cs typeface="Calibri" panose="020F0502020204030204" pitchFamily="34" charset="0"/>
              </a:rPr>
              <a:t> </a:t>
            </a:r>
            <a:r>
              <a:rPr lang="it-IT" sz="1000" dirty="0" err="1">
                <a:latin typeface="Calibri" panose="020F0502020204030204" pitchFamily="34" charset="0"/>
                <a:ea typeface="Calibri" panose="020F0502020204030204" pitchFamily="34" charset="0"/>
                <a:cs typeface="Calibri" panose="020F0502020204030204" pitchFamily="34" charset="0"/>
              </a:rPr>
              <a:t>vectorization</a:t>
            </a:r>
            <a:r>
              <a:rPr lang="it-IT" sz="1000" dirty="0">
                <a:latin typeface="Calibri" panose="020F0502020204030204" pitchFamily="34" charset="0"/>
                <a:ea typeface="Calibri" panose="020F0502020204030204" pitchFamily="34" charset="0"/>
                <a:cs typeface="Calibri" panose="020F0502020204030204" pitchFamily="34" charset="0"/>
              </a:rPr>
              <a:t> via TF-IDF and deep semantic </a:t>
            </a:r>
            <a:r>
              <a:rPr lang="it-IT" sz="1000" dirty="0" err="1">
                <a:latin typeface="Calibri" panose="020F0502020204030204" pitchFamily="34" charset="0"/>
                <a:ea typeface="Calibri" panose="020F0502020204030204" pitchFamily="34" charset="0"/>
                <a:cs typeface="Calibri" panose="020F0502020204030204" pitchFamily="34" charset="0"/>
              </a:rPr>
              <a:t>embedding</a:t>
            </a:r>
            <a:r>
              <a:rPr lang="it-IT" sz="1000" dirty="0">
                <a:latin typeface="Calibri" panose="020F0502020204030204" pitchFamily="34" charset="0"/>
                <a:ea typeface="Calibri" panose="020F0502020204030204" pitchFamily="34" charset="0"/>
                <a:cs typeface="Calibri" panose="020F0502020204030204" pitchFamily="34" charset="0"/>
              </a:rPr>
              <a:t> (</a:t>
            </a:r>
            <a:r>
              <a:rPr lang="it-IT" sz="1000" dirty="0" err="1">
                <a:latin typeface="Calibri" panose="020F0502020204030204" pitchFamily="34" charset="0"/>
                <a:ea typeface="Calibri" panose="020F0502020204030204" pitchFamily="34" charset="0"/>
                <a:cs typeface="Calibri" panose="020F0502020204030204" pitchFamily="34" charset="0"/>
              </a:rPr>
              <a:t>frozen</a:t>
            </a:r>
            <a:r>
              <a:rPr lang="it-IT" sz="1000" dirty="0">
                <a:latin typeface="Calibri" panose="020F0502020204030204" pitchFamily="34" charset="0"/>
                <a:ea typeface="Calibri" panose="020F0502020204030204" pitchFamily="34" charset="0"/>
                <a:cs typeface="Calibri" panose="020F0502020204030204" pitchFamily="34" charset="0"/>
              </a:rPr>
              <a:t> </a:t>
            </a:r>
            <a:r>
              <a:rPr lang="it-IT" sz="1000" dirty="0" err="1">
                <a:latin typeface="Calibri" panose="020F0502020204030204" pitchFamily="34" charset="0"/>
                <a:ea typeface="Calibri" panose="020F0502020204030204" pitchFamily="34" charset="0"/>
                <a:cs typeface="Calibri" panose="020F0502020204030204" pitchFamily="34" charset="0"/>
              </a:rPr>
              <a:t>SentenceTransformer</a:t>
            </a:r>
            <a:r>
              <a:rPr lang="it-IT" sz="1000" dirty="0">
                <a:latin typeface="Calibri" panose="020F0502020204030204" pitchFamily="34" charset="0"/>
                <a:ea typeface="Calibri" panose="020F0502020204030204" pitchFamily="34" charset="0"/>
                <a:cs typeface="Calibri" panose="020F0502020204030204" pitchFamily="34" charset="0"/>
              </a:rPr>
              <a:t>), </a:t>
            </a:r>
            <a:r>
              <a:rPr lang="it-IT" sz="1000" dirty="0" err="1">
                <a:latin typeface="Calibri" panose="020F0502020204030204" pitchFamily="34" charset="0"/>
                <a:ea typeface="Calibri" panose="020F0502020204030204" pitchFamily="34" charset="0"/>
                <a:cs typeface="Calibri" panose="020F0502020204030204" pitchFamily="34" charset="0"/>
              </a:rPr>
              <a:t>followed</a:t>
            </a:r>
            <a:r>
              <a:rPr lang="it-IT" sz="1000" dirty="0">
                <a:latin typeface="Calibri" panose="020F0502020204030204" pitchFamily="34" charset="0"/>
                <a:ea typeface="Calibri" panose="020F0502020204030204" pitchFamily="34" charset="0"/>
                <a:cs typeface="Calibri" panose="020F0502020204030204" pitchFamily="34" charset="0"/>
              </a:rPr>
              <a:t> by PLS-DA </a:t>
            </a:r>
            <a:r>
              <a:rPr lang="it-IT" sz="1000" dirty="0" err="1">
                <a:latin typeface="Calibri" panose="020F0502020204030204" pitchFamily="34" charset="0"/>
                <a:ea typeface="Calibri" panose="020F0502020204030204" pitchFamily="34" charset="0"/>
                <a:cs typeface="Calibri" panose="020F0502020204030204" pitchFamily="34" charset="0"/>
              </a:rPr>
              <a:t>compression</a:t>
            </a:r>
            <a:r>
              <a:rPr lang="it-IT" sz="1000" dirty="0">
                <a:latin typeface="Calibri" panose="020F0502020204030204" pitchFamily="34" charset="0"/>
                <a:ea typeface="Calibri" panose="020F0502020204030204" pitchFamily="34" charset="0"/>
                <a:cs typeface="Calibri" panose="020F0502020204030204" pitchFamily="34" charset="0"/>
              </a:rPr>
              <a:t>.</a:t>
            </a:r>
          </a:p>
          <a:p>
            <a:pPr marL="342900" indent="-342900">
              <a:spcAft>
                <a:spcPts val="500"/>
              </a:spcAft>
              <a:buSzPct val="100000"/>
              <a:buChar char="•"/>
            </a:pPr>
            <a:r>
              <a:rPr lang="en-US" sz="1000" dirty="0">
                <a:latin typeface="Calibri" panose="020F0502020204030204" pitchFamily="34" charset="0"/>
                <a:ea typeface="Calibri" panose="020F0502020204030204" pitchFamily="34" charset="0"/>
                <a:cs typeface="Calibri" panose="020F0502020204030204" pitchFamily="34" charset="0"/>
              </a:rPr>
              <a:t>JSON-like columns (platforms, </a:t>
            </a:r>
            <a:r>
              <a:rPr lang="en-US" sz="1000" dirty="0" err="1">
                <a:latin typeface="Calibri" panose="020F0502020204030204" pitchFamily="34" charset="0"/>
                <a:ea typeface="Calibri" panose="020F0502020204030204" pitchFamily="34" charset="0"/>
                <a:cs typeface="Calibri" panose="020F0502020204030204" pitchFamily="34" charset="0"/>
              </a:rPr>
              <a:t>metacritic</a:t>
            </a:r>
            <a:r>
              <a:rPr lang="en-US" sz="1000" dirty="0">
                <a:latin typeface="Calibri" panose="020F0502020204030204" pitchFamily="34" charset="0"/>
                <a:ea typeface="Calibri" panose="020F0502020204030204" pitchFamily="34" charset="0"/>
                <a:cs typeface="Calibri" panose="020F0502020204030204" pitchFamily="34" charset="0"/>
              </a:rPr>
              <a:t>, achievements) were extracted and categories genres tags publishers developers normalized into token lists</a:t>
            </a:r>
            <a:endParaRPr lang="it-IT" sz="1000" dirty="0">
              <a:latin typeface="Calibri" panose="020F0502020204030204" pitchFamily="34" charset="0"/>
              <a:ea typeface="Calibri" panose="020F0502020204030204" pitchFamily="34" charset="0"/>
              <a:cs typeface="Calibri" panose="020F0502020204030204" pitchFamily="34" charset="0"/>
            </a:endParaRPr>
          </a:p>
          <a:p>
            <a:pPr marL="342900" indent="-342900">
              <a:spcAft>
                <a:spcPts val="500"/>
              </a:spcAft>
              <a:buSzPct val="100000"/>
              <a:buChar char="•"/>
            </a:pPr>
            <a:r>
              <a:rPr lang="it-IT" sz="1000" dirty="0" err="1">
                <a:latin typeface="Calibri" panose="020F0502020204030204" pitchFamily="34" charset="0"/>
                <a:ea typeface="Calibri" panose="020F0502020204030204" pitchFamily="34" charset="0"/>
                <a:cs typeface="Calibri" panose="020F0502020204030204" pitchFamily="34" charset="0"/>
              </a:rPr>
              <a:t>Continuous</a:t>
            </a:r>
            <a:r>
              <a:rPr lang="it-IT" sz="1000" dirty="0">
                <a:latin typeface="Calibri" panose="020F0502020204030204" pitchFamily="34" charset="0"/>
                <a:ea typeface="Calibri" panose="020F0502020204030204" pitchFamily="34" charset="0"/>
                <a:cs typeface="Calibri" panose="020F0502020204030204" pitchFamily="34" charset="0"/>
              </a:rPr>
              <a:t> </a:t>
            </a:r>
            <a:r>
              <a:rPr lang="it-IT" sz="1000" dirty="0" err="1">
                <a:latin typeface="Calibri" panose="020F0502020204030204" pitchFamily="34" charset="0"/>
                <a:ea typeface="Calibri" panose="020F0502020204030204" pitchFamily="34" charset="0"/>
                <a:cs typeface="Calibri" panose="020F0502020204030204" pitchFamily="34" charset="0"/>
              </a:rPr>
              <a:t>numeric</a:t>
            </a:r>
            <a:r>
              <a:rPr lang="it-IT" sz="1000" dirty="0">
                <a:latin typeface="Calibri" panose="020F0502020204030204" pitchFamily="34" charset="0"/>
                <a:ea typeface="Calibri" panose="020F0502020204030204" pitchFamily="34" charset="0"/>
                <a:cs typeface="Calibri" panose="020F0502020204030204" pitchFamily="34" charset="0"/>
              </a:rPr>
              <a:t> features </a:t>
            </a:r>
            <a:r>
              <a:rPr lang="it-IT" sz="1000" dirty="0" err="1">
                <a:latin typeface="Calibri" panose="020F0502020204030204" pitchFamily="34" charset="0"/>
                <a:ea typeface="Calibri" panose="020F0502020204030204" pitchFamily="34" charset="0"/>
                <a:cs typeface="Calibri" panose="020F0502020204030204" pitchFamily="34" charset="0"/>
              </a:rPr>
              <a:t>received</a:t>
            </a:r>
            <a:r>
              <a:rPr lang="it-IT" sz="1000" dirty="0">
                <a:latin typeface="Calibri" panose="020F0502020204030204" pitchFamily="34" charset="0"/>
                <a:ea typeface="Calibri" panose="020F0502020204030204" pitchFamily="34" charset="0"/>
                <a:cs typeface="Calibri" panose="020F0502020204030204" pitchFamily="34" charset="0"/>
              </a:rPr>
              <a:t> NaN </a:t>
            </a:r>
            <a:r>
              <a:rPr lang="it-IT" sz="1000" dirty="0" err="1">
                <a:latin typeface="Calibri" panose="020F0502020204030204" pitchFamily="34" charset="0"/>
                <a:ea typeface="Calibri" panose="020F0502020204030204" pitchFamily="34" charset="0"/>
                <a:cs typeface="Calibri" panose="020F0502020204030204" pitchFamily="34" charset="0"/>
              </a:rPr>
              <a:t>imputation</a:t>
            </a:r>
            <a:r>
              <a:rPr lang="it-IT" sz="1000" dirty="0">
                <a:latin typeface="Calibri" panose="020F0502020204030204" pitchFamily="34" charset="0"/>
                <a:ea typeface="Calibri" panose="020F0502020204030204" pitchFamily="34" charset="0"/>
                <a:cs typeface="Calibri" panose="020F0502020204030204" pitchFamily="34" charset="0"/>
              </a:rPr>
              <a:t>  </a:t>
            </a:r>
            <a:r>
              <a:rPr lang="en-US" sz="1000" dirty="0">
                <a:latin typeface="Calibri" panose="020F0502020204030204" pitchFamily="34" charset="0"/>
                <a:ea typeface="Calibri" panose="020F0502020204030204" pitchFamily="34" charset="0"/>
                <a:cs typeface="Calibri" panose="020F0502020204030204" pitchFamily="34" charset="0"/>
              </a:rPr>
              <a:t>within an </a:t>
            </a:r>
            <a:r>
              <a:rPr lang="en-US" sz="1000" dirty="0" err="1">
                <a:latin typeface="Calibri" panose="020F0502020204030204" pitchFamily="34" charset="0"/>
                <a:ea typeface="Calibri" panose="020F0502020204030204" pitchFamily="34" charset="0"/>
                <a:cs typeface="Calibri" panose="020F0502020204030204" pitchFamily="34" charset="0"/>
              </a:rPr>
              <a:t>imbpipeline</a:t>
            </a:r>
            <a:r>
              <a:rPr lang="en-US" sz="1000" dirty="0">
                <a:latin typeface="Calibri" panose="020F0502020204030204" pitchFamily="34" charset="0"/>
                <a:ea typeface="Calibri" panose="020F0502020204030204" pitchFamily="34" charset="0"/>
                <a:cs typeface="Calibri" panose="020F0502020204030204" pitchFamily="34" charset="0"/>
              </a:rPr>
              <a:t>, avoiding data leakage</a:t>
            </a:r>
            <a:r>
              <a:rPr lang="it-IT" sz="1000" dirty="0">
                <a:latin typeface="Calibri" panose="020F0502020204030204" pitchFamily="34" charset="0"/>
                <a:ea typeface="Calibri" panose="020F0502020204030204" pitchFamily="34" charset="0"/>
                <a:cs typeface="Calibri" panose="020F0502020204030204" pitchFamily="34" charset="0"/>
              </a:rPr>
              <a:t> </a:t>
            </a:r>
            <a:endParaRPr lang="en-US" sz="1000" dirty="0">
              <a:latin typeface="Calibri" panose="020F0502020204030204" pitchFamily="34" charset="0"/>
              <a:ea typeface="Calibri" panose="020F0502020204030204" pitchFamily="34" charset="0"/>
              <a:cs typeface="Calibri" panose="020F0502020204030204" pitchFamily="34" charset="0"/>
            </a:endParaRPr>
          </a:p>
        </p:txBody>
      </p:sp>
      <p:sp>
        <p:nvSpPr>
          <p:cNvPr id="10" name="Shape 8"/>
          <p:cNvSpPr/>
          <p:nvPr/>
        </p:nvSpPr>
        <p:spPr>
          <a:xfrm>
            <a:off x="3246120" y="1170432"/>
            <a:ext cx="265176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1" name="Shape 9"/>
          <p:cNvSpPr/>
          <p:nvPr/>
        </p:nvSpPr>
        <p:spPr>
          <a:xfrm>
            <a:off x="3246120" y="1170432"/>
            <a:ext cx="2651760" cy="384048"/>
          </a:xfrm>
          <a:prstGeom prst="roundRect">
            <a:avLst>
              <a:gd name="adj" fmla="val 23810"/>
            </a:avLst>
          </a:prstGeom>
          <a:solidFill>
            <a:srgbClr val="008F84"/>
          </a:solidFill>
          <a:ln w="12700">
            <a:solidFill>
              <a:srgbClr val="008F84"/>
            </a:solidFill>
            <a:prstDash val="solid"/>
          </a:ln>
        </p:spPr>
        <p:txBody>
          <a:bodyPr/>
          <a:lstStyle/>
          <a:p>
            <a:endParaRPr lang="it-IT"/>
          </a:p>
        </p:txBody>
      </p:sp>
      <p:sp>
        <p:nvSpPr>
          <p:cNvPr id="12" name="Shape 10"/>
          <p:cNvSpPr/>
          <p:nvPr/>
        </p:nvSpPr>
        <p:spPr>
          <a:xfrm>
            <a:off x="3246120" y="1417320"/>
            <a:ext cx="2651760" cy="137160"/>
          </a:xfrm>
          <a:prstGeom prst="rect">
            <a:avLst/>
          </a:prstGeom>
          <a:solidFill>
            <a:srgbClr val="008F84"/>
          </a:solidFill>
          <a:ln w="12700">
            <a:solidFill>
              <a:srgbClr val="008F84"/>
            </a:solidFill>
            <a:prstDash val="solid"/>
          </a:ln>
        </p:spPr>
        <p:txBody>
          <a:bodyPr/>
          <a:lstStyle/>
          <a:p>
            <a:endParaRPr lang="it-IT"/>
          </a:p>
        </p:txBody>
      </p:sp>
      <p:sp>
        <p:nvSpPr>
          <p:cNvPr id="13" name="Text 11"/>
          <p:cNvSpPr/>
          <p:nvPr/>
        </p:nvSpPr>
        <p:spPr>
          <a:xfrm>
            <a:off x="335584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Selection Method</a:t>
            </a:r>
            <a:endParaRPr lang="en-US" sz="1150" dirty="0"/>
          </a:p>
        </p:txBody>
      </p:sp>
      <p:sp>
        <p:nvSpPr>
          <p:cNvPr id="14" name="Text 12"/>
          <p:cNvSpPr/>
          <p:nvPr/>
        </p:nvSpPr>
        <p:spPr>
          <a:xfrm>
            <a:off x="3383280" y="1627632"/>
            <a:ext cx="2377440" cy="292608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Supervised dimensionality reduction via Partial Least Squares Discriminant Analysis (PLS-DA) was used to project feature spaces onto latent component directions.</a:t>
            </a:r>
          </a:p>
          <a:p>
            <a:pPr marL="342900"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An internal </a:t>
            </a:r>
            <a:r>
              <a:rPr lang="en-US" sz="1000" dirty="0" err="1">
                <a:solidFill>
                  <a:srgbClr val="1E293B"/>
                </a:solidFill>
                <a:latin typeface="Calibri" pitchFamily="34" charset="0"/>
                <a:ea typeface="Calibri" pitchFamily="34" charset="-122"/>
                <a:cs typeface="Calibri" pitchFamily="34" charset="-120"/>
              </a:rPr>
              <a:t>SelectFromModel</a:t>
            </a:r>
            <a:r>
              <a:rPr lang="en-US" sz="1000" dirty="0">
                <a:solidFill>
                  <a:srgbClr val="1E293B"/>
                </a:solidFill>
                <a:latin typeface="Calibri" pitchFamily="34" charset="0"/>
                <a:ea typeface="Calibri" pitchFamily="34" charset="-122"/>
                <a:cs typeface="Calibri" pitchFamily="34" charset="-120"/>
              </a:rPr>
              <a:t> step pruned irrelevant features dynamically during Bayesian optimization.</a:t>
            </a:r>
            <a:endParaRPr lang="en-US" sz="1000" dirty="0"/>
          </a:p>
        </p:txBody>
      </p:sp>
      <p:sp>
        <p:nvSpPr>
          <p:cNvPr id="15" name="Shape 13"/>
          <p:cNvSpPr/>
          <p:nvPr/>
        </p:nvSpPr>
        <p:spPr>
          <a:xfrm>
            <a:off x="6080760" y="1170432"/>
            <a:ext cx="265176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6" name="Shape 14"/>
          <p:cNvSpPr/>
          <p:nvPr/>
        </p:nvSpPr>
        <p:spPr>
          <a:xfrm>
            <a:off x="6080760" y="1170432"/>
            <a:ext cx="2651760" cy="384048"/>
          </a:xfrm>
          <a:prstGeom prst="roundRect">
            <a:avLst>
              <a:gd name="adj" fmla="val 23810"/>
            </a:avLst>
          </a:prstGeom>
          <a:solidFill>
            <a:srgbClr val="5C6BC0"/>
          </a:solidFill>
          <a:ln w="12700">
            <a:solidFill>
              <a:srgbClr val="5C6BC0"/>
            </a:solidFill>
            <a:prstDash val="solid"/>
          </a:ln>
        </p:spPr>
        <p:txBody>
          <a:bodyPr/>
          <a:lstStyle/>
          <a:p>
            <a:endParaRPr lang="it-IT"/>
          </a:p>
        </p:txBody>
      </p:sp>
      <p:sp>
        <p:nvSpPr>
          <p:cNvPr id="17" name="Shape 15"/>
          <p:cNvSpPr/>
          <p:nvPr/>
        </p:nvSpPr>
        <p:spPr>
          <a:xfrm>
            <a:off x="6080760" y="1417320"/>
            <a:ext cx="2651760" cy="137160"/>
          </a:xfrm>
          <a:prstGeom prst="rect">
            <a:avLst/>
          </a:prstGeom>
          <a:solidFill>
            <a:srgbClr val="5C6BC0"/>
          </a:solidFill>
          <a:ln w="12700">
            <a:solidFill>
              <a:srgbClr val="5C6BC0"/>
            </a:solidFill>
            <a:prstDash val="solid"/>
          </a:ln>
        </p:spPr>
        <p:txBody>
          <a:bodyPr/>
          <a:lstStyle/>
          <a:p>
            <a:endParaRPr lang="it-IT"/>
          </a:p>
        </p:txBody>
      </p:sp>
      <p:sp>
        <p:nvSpPr>
          <p:cNvPr id="18" name="Text 16"/>
          <p:cNvSpPr/>
          <p:nvPr/>
        </p:nvSpPr>
        <p:spPr>
          <a:xfrm>
            <a:off x="619048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Why These Features?</a:t>
            </a:r>
            <a:endParaRPr lang="en-US" sz="1150" dirty="0"/>
          </a:p>
        </p:txBody>
      </p:sp>
      <p:sp>
        <p:nvSpPr>
          <p:cNvPr id="19" name="Text 17"/>
          <p:cNvSpPr/>
          <p:nvPr/>
        </p:nvSpPr>
        <p:spPr>
          <a:xfrm>
            <a:off x="6217920" y="1627632"/>
            <a:ext cx="2377440" cy="292608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Features such as price, language support, and system specifications are intrinsic metadata acting as proxies for development budget and scope, which are crucial for early predictions</a:t>
            </a:r>
          </a:p>
          <a:p>
            <a:pPr marL="342900"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Post-launch metrics (e.g., positive/negative reviews, Concurrent Connected Users) were strictly removed in the Pre-Release mode to prevent target leakage, as they are unobservable prior to launch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750" b="1" kern="0" spc="150" dirty="0">
                <a:solidFill>
                  <a:srgbClr val="FFFFFF"/>
                </a:solidFill>
              </a:rPr>
              <a:t>PIPELINE</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ML Pipeline: Avoiding Data Leakage &amp; Bias</a:t>
            </a:r>
            <a:endParaRPr lang="en-US" sz="2400" dirty="0"/>
          </a:p>
        </p:txBody>
      </p:sp>
      <p:sp>
        <p:nvSpPr>
          <p:cNvPr id="5" name="Shape 3"/>
          <p:cNvSpPr/>
          <p:nvPr/>
        </p:nvSpPr>
        <p:spPr>
          <a:xfrm>
            <a:off x="365760" y="1207008"/>
            <a:ext cx="1261872" cy="749808"/>
          </a:xfrm>
          <a:prstGeom prst="roundRect">
            <a:avLst>
              <a:gd name="adj" fmla="val 10976"/>
            </a:avLst>
          </a:prstGeom>
          <a:solidFill>
            <a:srgbClr val="4A6587"/>
          </a:solidFill>
          <a:ln w="12700">
            <a:solidFill>
              <a:srgbClr val="4A6587"/>
            </a:solidFill>
            <a:prstDash val="solid"/>
          </a:ln>
        </p:spPr>
        <p:txBody>
          <a:bodyPr/>
          <a:lstStyle/>
          <a:p>
            <a:endParaRPr lang="it-IT"/>
          </a:p>
        </p:txBody>
      </p:sp>
      <p:sp>
        <p:nvSpPr>
          <p:cNvPr id="6" name="Text 4"/>
          <p:cNvSpPr/>
          <p:nvPr/>
        </p:nvSpPr>
        <p:spPr>
          <a:xfrm>
            <a:off x="365760" y="1207008"/>
            <a:ext cx="1261872" cy="7498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Raw</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Data</a:t>
            </a:r>
            <a:endParaRPr lang="en-US" sz="900" dirty="0"/>
          </a:p>
        </p:txBody>
      </p:sp>
      <p:sp>
        <p:nvSpPr>
          <p:cNvPr id="7" name="Shape 5"/>
          <p:cNvSpPr/>
          <p:nvPr/>
        </p:nvSpPr>
        <p:spPr>
          <a:xfrm>
            <a:off x="1627632"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8" name="Text 6"/>
          <p:cNvSpPr/>
          <p:nvPr/>
        </p:nvSpPr>
        <p:spPr>
          <a:xfrm>
            <a:off x="1700784"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9" name="Shape 7"/>
          <p:cNvSpPr/>
          <p:nvPr/>
        </p:nvSpPr>
        <p:spPr>
          <a:xfrm>
            <a:off x="1801368" y="1207008"/>
            <a:ext cx="1261872" cy="749808"/>
          </a:xfrm>
          <a:prstGeom prst="roundRect">
            <a:avLst>
              <a:gd name="adj" fmla="val 10976"/>
            </a:avLst>
          </a:prstGeom>
          <a:solidFill>
            <a:srgbClr val="1C2B4A"/>
          </a:solidFill>
          <a:ln w="12700">
            <a:solidFill>
              <a:srgbClr val="1C2B4A"/>
            </a:solidFill>
            <a:prstDash val="solid"/>
          </a:ln>
        </p:spPr>
        <p:txBody>
          <a:bodyPr/>
          <a:lstStyle/>
          <a:p>
            <a:r>
              <a:rPr lang="it-IT" dirty="0"/>
              <a:t> </a:t>
            </a:r>
          </a:p>
        </p:txBody>
      </p:sp>
      <p:sp>
        <p:nvSpPr>
          <p:cNvPr id="10" name="Text 8"/>
          <p:cNvSpPr/>
          <p:nvPr/>
        </p:nvSpPr>
        <p:spPr>
          <a:xfrm>
            <a:off x="1801368" y="1207008"/>
            <a:ext cx="1261872" cy="7498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Preprocessing and data cleaning</a:t>
            </a:r>
            <a:endParaRPr lang="en-US" sz="900" dirty="0"/>
          </a:p>
        </p:txBody>
      </p:sp>
      <p:sp>
        <p:nvSpPr>
          <p:cNvPr id="11" name="Shape 9"/>
          <p:cNvSpPr/>
          <p:nvPr/>
        </p:nvSpPr>
        <p:spPr>
          <a:xfrm>
            <a:off x="3063240"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12" name="Text 10"/>
          <p:cNvSpPr/>
          <p:nvPr/>
        </p:nvSpPr>
        <p:spPr>
          <a:xfrm>
            <a:off x="3136392"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13" name="Shape 11"/>
          <p:cNvSpPr/>
          <p:nvPr/>
        </p:nvSpPr>
        <p:spPr>
          <a:xfrm>
            <a:off x="3236976" y="1207008"/>
            <a:ext cx="1261872" cy="749808"/>
          </a:xfrm>
          <a:prstGeom prst="roundRect">
            <a:avLst>
              <a:gd name="adj" fmla="val 10976"/>
            </a:avLst>
          </a:prstGeom>
          <a:solidFill>
            <a:srgbClr val="1C2B4A"/>
          </a:solidFill>
          <a:ln w="12700">
            <a:solidFill>
              <a:srgbClr val="1C2B4A"/>
            </a:solidFill>
            <a:prstDash val="solid"/>
          </a:ln>
        </p:spPr>
        <p:txBody>
          <a:bodyPr/>
          <a:lstStyle/>
          <a:p>
            <a:endParaRPr lang="it-IT"/>
          </a:p>
        </p:txBody>
      </p:sp>
      <p:sp>
        <p:nvSpPr>
          <p:cNvPr id="14" name="Text 12"/>
          <p:cNvSpPr/>
          <p:nvPr/>
        </p:nvSpPr>
        <p:spPr>
          <a:xfrm>
            <a:off x="3236976" y="1207008"/>
            <a:ext cx="1261872" cy="7498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Hyperparameter Tuning and Feature</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Selection</a:t>
            </a:r>
            <a:endParaRPr lang="en-US" sz="900" dirty="0"/>
          </a:p>
        </p:txBody>
      </p:sp>
      <p:sp>
        <p:nvSpPr>
          <p:cNvPr id="15" name="Shape 13"/>
          <p:cNvSpPr/>
          <p:nvPr/>
        </p:nvSpPr>
        <p:spPr>
          <a:xfrm>
            <a:off x="4498848"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16" name="Text 14"/>
          <p:cNvSpPr/>
          <p:nvPr/>
        </p:nvSpPr>
        <p:spPr>
          <a:xfrm>
            <a:off x="4572000"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17" name="Shape 15"/>
          <p:cNvSpPr/>
          <p:nvPr/>
        </p:nvSpPr>
        <p:spPr>
          <a:xfrm>
            <a:off x="4672584" y="1207008"/>
            <a:ext cx="1261872" cy="749808"/>
          </a:xfrm>
          <a:prstGeom prst="roundRect">
            <a:avLst>
              <a:gd name="adj" fmla="val 10976"/>
            </a:avLst>
          </a:prstGeom>
          <a:solidFill>
            <a:srgbClr val="008F84"/>
          </a:solidFill>
          <a:ln w="12700">
            <a:solidFill>
              <a:srgbClr val="008F84"/>
            </a:solidFill>
            <a:prstDash val="solid"/>
          </a:ln>
        </p:spPr>
        <p:txBody>
          <a:bodyPr/>
          <a:lstStyle/>
          <a:p>
            <a:endParaRPr lang="it-IT"/>
          </a:p>
        </p:txBody>
      </p:sp>
      <p:sp>
        <p:nvSpPr>
          <p:cNvPr id="18" name="Text 16"/>
          <p:cNvSpPr/>
          <p:nvPr/>
        </p:nvSpPr>
        <p:spPr>
          <a:xfrm>
            <a:off x="4672584" y="1207008"/>
            <a:ext cx="1261872" cy="7498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Model</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Training and Weights Calibration using Differential Evolution</a:t>
            </a:r>
            <a:endParaRPr lang="en-US" sz="900" dirty="0"/>
          </a:p>
        </p:txBody>
      </p:sp>
      <p:sp>
        <p:nvSpPr>
          <p:cNvPr id="19" name="Shape 17"/>
          <p:cNvSpPr/>
          <p:nvPr/>
        </p:nvSpPr>
        <p:spPr>
          <a:xfrm>
            <a:off x="5934456"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20" name="Text 18"/>
          <p:cNvSpPr/>
          <p:nvPr/>
        </p:nvSpPr>
        <p:spPr>
          <a:xfrm>
            <a:off x="6007608"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21" name="Shape 19"/>
          <p:cNvSpPr/>
          <p:nvPr/>
        </p:nvSpPr>
        <p:spPr>
          <a:xfrm>
            <a:off x="6108192" y="1207008"/>
            <a:ext cx="1261872" cy="749808"/>
          </a:xfrm>
          <a:prstGeom prst="roundRect">
            <a:avLst>
              <a:gd name="adj" fmla="val 10976"/>
            </a:avLst>
          </a:prstGeom>
          <a:solidFill>
            <a:srgbClr val="008F84"/>
          </a:solidFill>
          <a:ln w="12700">
            <a:solidFill>
              <a:srgbClr val="008F84"/>
            </a:solidFill>
            <a:prstDash val="solid"/>
          </a:ln>
        </p:spPr>
        <p:txBody>
          <a:bodyPr/>
          <a:lstStyle/>
          <a:p>
            <a:endParaRPr lang="it-IT"/>
          </a:p>
        </p:txBody>
      </p:sp>
      <p:sp>
        <p:nvSpPr>
          <p:cNvPr id="22" name="Text 20"/>
          <p:cNvSpPr/>
          <p:nvPr/>
        </p:nvSpPr>
        <p:spPr>
          <a:xfrm>
            <a:off x="6108192" y="1207008"/>
            <a:ext cx="1261872" cy="7498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Validation</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(held-out fold) and Evaluation</a:t>
            </a:r>
            <a:endParaRPr lang="en-US" sz="900" dirty="0"/>
          </a:p>
        </p:txBody>
      </p:sp>
      <p:sp>
        <p:nvSpPr>
          <p:cNvPr id="23" name="Shape 21"/>
          <p:cNvSpPr/>
          <p:nvPr/>
        </p:nvSpPr>
        <p:spPr>
          <a:xfrm>
            <a:off x="7370064"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24" name="Text 22"/>
          <p:cNvSpPr/>
          <p:nvPr/>
        </p:nvSpPr>
        <p:spPr>
          <a:xfrm>
            <a:off x="7443216"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25" name="Shape 23"/>
          <p:cNvSpPr/>
          <p:nvPr/>
        </p:nvSpPr>
        <p:spPr>
          <a:xfrm>
            <a:off x="7543800" y="1207008"/>
            <a:ext cx="1261872" cy="749808"/>
          </a:xfrm>
          <a:prstGeom prst="roundRect">
            <a:avLst>
              <a:gd name="adj" fmla="val 10976"/>
            </a:avLst>
          </a:prstGeom>
          <a:solidFill>
            <a:srgbClr val="C0392B"/>
          </a:solidFill>
          <a:ln w="12700">
            <a:solidFill>
              <a:srgbClr val="C0392B"/>
            </a:solidFill>
            <a:prstDash val="solid"/>
          </a:ln>
        </p:spPr>
        <p:txBody>
          <a:bodyPr/>
          <a:lstStyle/>
          <a:p>
            <a:endParaRPr lang="it-IT"/>
          </a:p>
        </p:txBody>
      </p:sp>
      <p:sp>
        <p:nvSpPr>
          <p:cNvPr id="26" name="Text 24"/>
          <p:cNvSpPr/>
          <p:nvPr/>
        </p:nvSpPr>
        <p:spPr>
          <a:xfrm>
            <a:off x="7543800" y="1207008"/>
            <a:ext cx="1261872" cy="7498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Final</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Training over entire dataset</a:t>
            </a:r>
            <a:endParaRPr lang="en-US" sz="900" dirty="0"/>
          </a:p>
        </p:txBody>
      </p:sp>
      <p:sp>
        <p:nvSpPr>
          <p:cNvPr id="27" name="Shape 25"/>
          <p:cNvSpPr/>
          <p:nvPr/>
        </p:nvSpPr>
        <p:spPr>
          <a:xfrm>
            <a:off x="411480" y="2121408"/>
            <a:ext cx="2651760" cy="26517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28" name="Text 26"/>
          <p:cNvSpPr/>
          <p:nvPr/>
        </p:nvSpPr>
        <p:spPr>
          <a:xfrm>
            <a:off x="539496" y="2231136"/>
            <a:ext cx="2395728" cy="310896"/>
          </a:xfrm>
          <a:prstGeom prst="rect">
            <a:avLst/>
          </a:prstGeom>
          <a:noFill/>
          <a:ln/>
        </p:spPr>
        <p:txBody>
          <a:bodyPr wrap="square" lIns="0" tIns="0" rIns="0" bIns="0" rtlCol="0" anchor="ctr"/>
          <a:lstStyle/>
          <a:p>
            <a:pPr marL="0" indent="0">
              <a:buNone/>
            </a:pPr>
            <a:r>
              <a:rPr lang="en-US" sz="1100" b="1" dirty="0">
                <a:solidFill>
                  <a:srgbClr val="1C2B4A"/>
                </a:solidFill>
                <a:latin typeface="Calibri" pitchFamily="34" charset="0"/>
                <a:ea typeface="Calibri" pitchFamily="34" charset="-122"/>
                <a:cs typeface="Calibri" pitchFamily="34" charset="-120"/>
              </a:rPr>
              <a:t>Data Leakage Prevention</a:t>
            </a:r>
            <a:endParaRPr lang="en-US" sz="1100" dirty="0"/>
          </a:p>
        </p:txBody>
      </p:sp>
      <p:sp>
        <p:nvSpPr>
          <p:cNvPr id="29" name="Text 27"/>
          <p:cNvSpPr/>
          <p:nvPr/>
        </p:nvSpPr>
        <p:spPr>
          <a:xfrm>
            <a:off x="539496" y="2578608"/>
            <a:ext cx="2395728" cy="201168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All preprocessing fitted only on training folds to avoid data leakage</a:t>
            </a:r>
            <a:endParaRPr lang="en-US" sz="1000" dirty="0"/>
          </a:p>
          <a:p>
            <a:pPr marL="342900"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Strict sequence:</a:t>
            </a:r>
          </a:p>
          <a:p>
            <a:pPr marL="800100" lvl="1"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hardware specification extraction</a:t>
            </a:r>
          </a:p>
          <a:p>
            <a:pPr marL="800100" lvl="1"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Unicode/noise filtering</a:t>
            </a:r>
          </a:p>
          <a:p>
            <a:pPr marL="800100" lvl="1"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continuous feature imputation</a:t>
            </a:r>
          </a:p>
          <a:p>
            <a:pPr marL="800100" lvl="1"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text vectorization (TF-IDF + Frozen </a:t>
            </a:r>
            <a:r>
              <a:rPr lang="en-US" sz="1000" dirty="0" err="1">
                <a:solidFill>
                  <a:srgbClr val="1E293B"/>
                </a:solidFill>
                <a:latin typeface="Calibri" pitchFamily="34" charset="0"/>
                <a:ea typeface="Calibri" pitchFamily="34" charset="-122"/>
                <a:cs typeface="Calibri" pitchFamily="34" charset="-120"/>
              </a:rPr>
              <a:t>SentenceTransformer</a:t>
            </a:r>
            <a:r>
              <a:rPr lang="en-US" sz="1000" dirty="0">
                <a:solidFill>
                  <a:srgbClr val="1E293B"/>
                </a:solidFill>
                <a:latin typeface="Calibri" pitchFamily="34" charset="0"/>
                <a:ea typeface="Calibri" pitchFamily="34" charset="-122"/>
                <a:cs typeface="Calibri" pitchFamily="34" charset="-120"/>
              </a:rPr>
              <a:t>) followed by PLS-DA compression</a:t>
            </a:r>
            <a:endParaRPr lang="en-US" sz="1000" dirty="0"/>
          </a:p>
        </p:txBody>
      </p:sp>
      <p:sp>
        <p:nvSpPr>
          <p:cNvPr id="30" name="Shape 28"/>
          <p:cNvSpPr/>
          <p:nvPr/>
        </p:nvSpPr>
        <p:spPr>
          <a:xfrm>
            <a:off x="3246120" y="2121408"/>
            <a:ext cx="2651760" cy="26517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31" name="Text 29"/>
          <p:cNvSpPr/>
          <p:nvPr/>
        </p:nvSpPr>
        <p:spPr>
          <a:xfrm>
            <a:off x="3374136" y="2231136"/>
            <a:ext cx="2395728" cy="310896"/>
          </a:xfrm>
          <a:prstGeom prst="rect">
            <a:avLst/>
          </a:prstGeom>
          <a:noFill/>
          <a:ln/>
        </p:spPr>
        <p:txBody>
          <a:bodyPr wrap="square" lIns="0" tIns="0" rIns="0" bIns="0" rtlCol="0" anchor="ctr"/>
          <a:lstStyle/>
          <a:p>
            <a:pPr marL="0" indent="0">
              <a:buNone/>
            </a:pPr>
            <a:r>
              <a:rPr lang="en-US" sz="1100" b="1" dirty="0">
                <a:solidFill>
                  <a:srgbClr val="1C2B4A"/>
                </a:solidFill>
                <a:latin typeface="Calibri" pitchFamily="34" charset="0"/>
                <a:ea typeface="Calibri" pitchFamily="34" charset="-122"/>
                <a:cs typeface="Calibri" pitchFamily="34" charset="-120"/>
              </a:rPr>
              <a:t>Class Imbalance Handling</a:t>
            </a:r>
            <a:endParaRPr lang="en-US" sz="1100" dirty="0"/>
          </a:p>
        </p:txBody>
      </p:sp>
      <p:sp>
        <p:nvSpPr>
          <p:cNvPr id="32" name="Text 30"/>
          <p:cNvSpPr/>
          <p:nvPr/>
        </p:nvSpPr>
        <p:spPr>
          <a:xfrm>
            <a:off x="3374136" y="2578608"/>
            <a:ext cx="2395728" cy="201168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Dynamic Majority </a:t>
            </a:r>
            <a:r>
              <a:rPr lang="en-US" sz="1000" dirty="0" err="1">
                <a:solidFill>
                  <a:srgbClr val="1E293B"/>
                </a:solidFill>
                <a:latin typeface="Calibri" pitchFamily="34" charset="0"/>
                <a:ea typeface="Calibri" pitchFamily="34" charset="-122"/>
                <a:cs typeface="Calibri" pitchFamily="34" charset="-120"/>
              </a:rPr>
              <a:t>Undersampling</a:t>
            </a:r>
            <a:r>
              <a:rPr lang="en-US" sz="1000" dirty="0">
                <a:solidFill>
                  <a:srgbClr val="1E293B"/>
                </a:solidFill>
                <a:latin typeface="Calibri" pitchFamily="34" charset="0"/>
                <a:ea typeface="Calibri" pitchFamily="34" charset="-122"/>
                <a:cs typeface="Calibri" pitchFamily="34" charset="-120"/>
              </a:rPr>
              <a:t> for Class 0, SMOTENC restricted exclusively to the extreme minority (Tier 4), and Tomek Links for spatial boundary cleaning</a:t>
            </a:r>
          </a:p>
          <a:p>
            <a:pPr marL="342900"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Resampling operations were strictly applied inside the training splits of each cross-validation fold</a:t>
            </a:r>
          </a:p>
          <a:p>
            <a:pPr marL="342900" indent="-342900">
              <a:spcAft>
                <a:spcPts val="500"/>
              </a:spcAft>
              <a:buSzPct val="100000"/>
              <a:buChar char="•"/>
            </a:pPr>
            <a:r>
              <a:rPr lang="it-IT" sz="1000" dirty="0" err="1"/>
              <a:t>Metric</a:t>
            </a:r>
            <a:r>
              <a:rPr lang="it-IT" sz="1000" dirty="0"/>
              <a:t> </a:t>
            </a:r>
            <a:r>
              <a:rPr lang="it-IT" sz="1000" dirty="0" err="1"/>
              <a:t>used</a:t>
            </a:r>
            <a:r>
              <a:rPr lang="it-IT" sz="1000" dirty="0"/>
              <a:t>: </a:t>
            </a:r>
            <a:r>
              <a:rPr lang="it-IT" sz="1000" dirty="0" err="1"/>
              <a:t>Quadratic</a:t>
            </a:r>
            <a:r>
              <a:rPr lang="it-IT" sz="1000" dirty="0"/>
              <a:t> </a:t>
            </a:r>
            <a:r>
              <a:rPr lang="it-IT" sz="1000" dirty="0" err="1"/>
              <a:t>Weighted</a:t>
            </a:r>
            <a:r>
              <a:rPr lang="it-IT" sz="1000" dirty="0"/>
              <a:t> Kappa (QWK) and Macro-F1 </a:t>
            </a:r>
            <a:endParaRPr lang="en-US" sz="1000" dirty="0"/>
          </a:p>
        </p:txBody>
      </p:sp>
      <p:sp>
        <p:nvSpPr>
          <p:cNvPr id="33" name="Shape 31"/>
          <p:cNvSpPr/>
          <p:nvPr/>
        </p:nvSpPr>
        <p:spPr>
          <a:xfrm>
            <a:off x="6080760" y="2121408"/>
            <a:ext cx="2651760" cy="26517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34" name="Text 32"/>
          <p:cNvSpPr/>
          <p:nvPr/>
        </p:nvSpPr>
        <p:spPr>
          <a:xfrm>
            <a:off x="6208776" y="2231136"/>
            <a:ext cx="2395728" cy="310896"/>
          </a:xfrm>
          <a:prstGeom prst="rect">
            <a:avLst/>
          </a:prstGeom>
          <a:noFill/>
          <a:ln/>
        </p:spPr>
        <p:txBody>
          <a:bodyPr wrap="square" lIns="0" tIns="0" rIns="0" bIns="0" rtlCol="0" anchor="ctr"/>
          <a:lstStyle/>
          <a:p>
            <a:pPr marL="0" indent="0">
              <a:buNone/>
            </a:pPr>
            <a:r>
              <a:rPr lang="en-US" sz="1100" b="1" dirty="0">
                <a:solidFill>
                  <a:srgbClr val="1C2B4A"/>
                </a:solidFill>
                <a:latin typeface="Calibri" pitchFamily="34" charset="0"/>
                <a:ea typeface="Calibri" pitchFamily="34" charset="-122"/>
                <a:cs typeface="Calibri" pitchFamily="34" charset="-120"/>
              </a:rPr>
              <a:t>Metric Justification</a:t>
            </a:r>
            <a:endParaRPr lang="en-US" sz="1100" dirty="0"/>
          </a:p>
        </p:txBody>
      </p:sp>
      <p:sp>
        <p:nvSpPr>
          <p:cNvPr id="35" name="Text 33"/>
          <p:cNvSpPr/>
          <p:nvPr/>
        </p:nvSpPr>
        <p:spPr>
          <a:xfrm>
            <a:off x="6208776" y="2578608"/>
            <a:ext cx="2395728" cy="201168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QWK is the primary metric because it heavily penalizes predictions that land far from the true ordinal tier compared to adjacent-tier misclassifications</a:t>
            </a:r>
          </a:p>
          <a:p>
            <a:pPr marL="342900"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Misclassifying a long-tail indie game (Tier 0) as an AAA hit (Tier 4) leads to severe capital misallocation for publishers. QWK mathematically minimizes these extreme off-diagonal errors</a:t>
            </a:r>
          </a:p>
          <a:p>
            <a:pPr marL="342900" indent="-342900">
              <a:spcAft>
                <a:spcPts val="500"/>
              </a:spcAft>
              <a:buSzPct val="100000"/>
              <a:buChar char="•"/>
            </a:pPr>
            <a:r>
              <a:rPr lang="en-US" sz="1000" dirty="0">
                <a:solidFill>
                  <a:srgbClr val="1E293B"/>
                </a:solidFill>
                <a:latin typeface="Calibri" pitchFamily="34" charset="0"/>
                <a:ea typeface="Calibri" pitchFamily="34" charset="-122"/>
                <a:cs typeface="Calibri" pitchFamily="34" charset="-120"/>
              </a:rPr>
              <a:t>Additional metrics reported for completeness: F1-score, accuracy, precision, and recall (Macro)</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750" b="1" kern="0" spc="150" dirty="0">
                <a:solidFill>
                  <a:srgbClr val="FFFFFF"/>
                </a:solidFill>
              </a:rPr>
              <a:t>PIPELINE</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Model Selection &amp; Hyperparameter Optimization</a:t>
            </a:r>
            <a:endParaRPr lang="en-US" sz="2400" dirty="0"/>
          </a:p>
        </p:txBody>
      </p:sp>
      <p:sp>
        <p:nvSpPr>
          <p:cNvPr id="6" name="Text 4"/>
          <p:cNvSpPr/>
          <p:nvPr/>
        </p:nvSpPr>
        <p:spPr>
          <a:xfrm>
            <a:off x="411480" y="1869948"/>
            <a:ext cx="4069080" cy="932688"/>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7" name="Text 5"/>
          <p:cNvSpPr/>
          <p:nvPr/>
        </p:nvSpPr>
        <p:spPr>
          <a:xfrm>
            <a:off x="411480" y="2616098"/>
            <a:ext cx="4069080" cy="746150"/>
          </a:xfrm>
          <a:prstGeom prst="rect">
            <a:avLst/>
          </a:prstGeom>
          <a:noFill/>
          <a:ln/>
        </p:spPr>
        <p:txBody>
          <a:bodyPr wrap="square" lIns="0" tIns="0" rIns="0" bIns="0" rtlCol="0" anchor="t"/>
          <a:lstStyle/>
          <a:p>
            <a:pPr marL="0" indent="0" algn="ctr">
              <a:buNone/>
            </a:pPr>
            <a:r>
              <a:rPr lang="en-US" sz="850" dirty="0">
                <a:solidFill>
                  <a:srgbClr val="7A8FA6"/>
                </a:solidFill>
              </a:rPr>
              <a:t>Box plot of cross-validated scores across candidate models</a:t>
            </a:r>
            <a:endParaRPr lang="en-US" sz="850" dirty="0"/>
          </a:p>
          <a:p>
            <a:pPr marL="0" indent="0" algn="ctr">
              <a:buNone/>
            </a:pPr>
            <a:r>
              <a:rPr lang="en-US" sz="850" dirty="0">
                <a:solidFill>
                  <a:srgbClr val="7A8FA6"/>
                </a:solidFill>
              </a:rPr>
              <a:t>(e.g., F1-macro or RMSE per CV fold per model)</a:t>
            </a:r>
            <a:endParaRPr lang="en-US" sz="850" dirty="0"/>
          </a:p>
        </p:txBody>
      </p:sp>
      <p:sp>
        <p:nvSpPr>
          <p:cNvPr id="10" name="Text 8"/>
          <p:cNvSpPr/>
          <p:nvPr/>
        </p:nvSpPr>
        <p:spPr>
          <a:xfrm>
            <a:off x="4663440" y="1170432"/>
            <a:ext cx="4069080" cy="274320"/>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Key Decisions</a:t>
            </a:r>
            <a:endParaRPr lang="en-US" sz="1200" dirty="0"/>
          </a:p>
        </p:txBody>
      </p:sp>
      <p:sp>
        <p:nvSpPr>
          <p:cNvPr id="11" name="Shape 9"/>
          <p:cNvSpPr/>
          <p:nvPr/>
        </p:nvSpPr>
        <p:spPr>
          <a:xfrm>
            <a:off x="4663440" y="1508760"/>
            <a:ext cx="4069080" cy="283464"/>
          </a:xfrm>
          <a:prstGeom prst="rect">
            <a:avLst/>
          </a:prstGeom>
          <a:solidFill>
            <a:srgbClr val="F8FAFC"/>
          </a:solidFill>
          <a:ln w="6350">
            <a:solidFill>
              <a:srgbClr val="CBD5E1"/>
            </a:solidFill>
            <a:prstDash val="solid"/>
          </a:ln>
        </p:spPr>
        <p:txBody>
          <a:bodyPr/>
          <a:lstStyle/>
          <a:p>
            <a:endParaRPr lang="it-IT"/>
          </a:p>
        </p:txBody>
      </p:sp>
      <p:sp>
        <p:nvSpPr>
          <p:cNvPr id="12" name="Text 10"/>
          <p:cNvSpPr/>
          <p:nvPr/>
        </p:nvSpPr>
        <p:spPr>
          <a:xfrm>
            <a:off x="4736592" y="1554480"/>
            <a:ext cx="14630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Candidate models</a:t>
            </a:r>
            <a:endParaRPr lang="en-US" sz="950" dirty="0"/>
          </a:p>
        </p:txBody>
      </p:sp>
      <p:sp>
        <p:nvSpPr>
          <p:cNvPr id="13" name="Text 11"/>
          <p:cNvSpPr/>
          <p:nvPr/>
        </p:nvSpPr>
        <p:spPr>
          <a:xfrm>
            <a:off x="6263640" y="1554480"/>
            <a:ext cx="23774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Decision Trees, Random Forests, and </a:t>
            </a:r>
            <a:r>
              <a:rPr lang="en-US" sz="950" i="1" dirty="0" err="1">
                <a:solidFill>
                  <a:srgbClr val="4A6587"/>
                </a:solidFill>
                <a:latin typeface="Calibri" pitchFamily="34" charset="0"/>
                <a:ea typeface="Calibri" pitchFamily="34" charset="-122"/>
                <a:cs typeface="Calibri" pitchFamily="34" charset="-120"/>
              </a:rPr>
              <a:t>XGBoost</a:t>
            </a:r>
            <a:endParaRPr lang="en-US" sz="950" dirty="0"/>
          </a:p>
        </p:txBody>
      </p:sp>
      <p:sp>
        <p:nvSpPr>
          <p:cNvPr id="14" name="Shape 12"/>
          <p:cNvSpPr/>
          <p:nvPr/>
        </p:nvSpPr>
        <p:spPr>
          <a:xfrm>
            <a:off x="4663440" y="1810512"/>
            <a:ext cx="4069080" cy="283464"/>
          </a:xfrm>
          <a:prstGeom prst="rect">
            <a:avLst/>
          </a:prstGeom>
          <a:solidFill>
            <a:srgbClr val="FFFFFF"/>
          </a:solidFill>
          <a:ln w="6350">
            <a:solidFill>
              <a:srgbClr val="CBD5E1"/>
            </a:solidFill>
            <a:prstDash val="solid"/>
          </a:ln>
        </p:spPr>
        <p:txBody>
          <a:bodyPr/>
          <a:lstStyle/>
          <a:p>
            <a:endParaRPr lang="it-IT"/>
          </a:p>
        </p:txBody>
      </p:sp>
      <p:sp>
        <p:nvSpPr>
          <p:cNvPr id="15" name="Text 13"/>
          <p:cNvSpPr/>
          <p:nvPr/>
        </p:nvSpPr>
        <p:spPr>
          <a:xfrm>
            <a:off x="4736592" y="1856232"/>
            <a:ext cx="14630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CV strategy</a:t>
            </a:r>
            <a:endParaRPr lang="en-US" sz="950" dirty="0"/>
          </a:p>
        </p:txBody>
      </p:sp>
      <p:sp>
        <p:nvSpPr>
          <p:cNvPr id="16" name="Text 14"/>
          <p:cNvSpPr/>
          <p:nvPr/>
        </p:nvSpPr>
        <p:spPr>
          <a:xfrm>
            <a:off x="5824025" y="1869948"/>
            <a:ext cx="2817055" cy="187452"/>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5x3 Nested Cross-Validation (5 Outer Folds, 3 Inner Folds)</a:t>
            </a:r>
            <a:endParaRPr lang="en-US" sz="950" dirty="0"/>
          </a:p>
        </p:txBody>
      </p:sp>
      <p:sp>
        <p:nvSpPr>
          <p:cNvPr id="17" name="Shape 15"/>
          <p:cNvSpPr/>
          <p:nvPr/>
        </p:nvSpPr>
        <p:spPr>
          <a:xfrm>
            <a:off x="4663440" y="2112264"/>
            <a:ext cx="4069080" cy="283464"/>
          </a:xfrm>
          <a:prstGeom prst="rect">
            <a:avLst/>
          </a:prstGeom>
          <a:solidFill>
            <a:srgbClr val="F8FAFC"/>
          </a:solidFill>
          <a:ln w="6350">
            <a:solidFill>
              <a:srgbClr val="CBD5E1"/>
            </a:solidFill>
            <a:prstDash val="solid"/>
          </a:ln>
        </p:spPr>
        <p:txBody>
          <a:bodyPr/>
          <a:lstStyle/>
          <a:p>
            <a:endParaRPr lang="it-IT"/>
          </a:p>
        </p:txBody>
      </p:sp>
      <p:sp>
        <p:nvSpPr>
          <p:cNvPr id="18" name="Text 16"/>
          <p:cNvSpPr/>
          <p:nvPr/>
        </p:nvSpPr>
        <p:spPr>
          <a:xfrm>
            <a:off x="4736592" y="2157984"/>
            <a:ext cx="14630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Selection criterion</a:t>
            </a:r>
            <a:endParaRPr lang="en-US" sz="950" dirty="0"/>
          </a:p>
        </p:txBody>
      </p:sp>
      <p:sp>
        <p:nvSpPr>
          <p:cNvPr id="19" name="Text 17"/>
          <p:cNvSpPr/>
          <p:nvPr/>
        </p:nvSpPr>
        <p:spPr>
          <a:xfrm>
            <a:off x="6263640" y="2157984"/>
            <a:ext cx="23774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Quadratic Weighted Kappa (QWK)</a:t>
            </a:r>
            <a:endParaRPr lang="en-US" sz="950" dirty="0"/>
          </a:p>
        </p:txBody>
      </p:sp>
      <p:sp>
        <p:nvSpPr>
          <p:cNvPr id="20" name="Shape 18"/>
          <p:cNvSpPr/>
          <p:nvPr/>
        </p:nvSpPr>
        <p:spPr>
          <a:xfrm>
            <a:off x="4663440" y="2414016"/>
            <a:ext cx="4069080" cy="283464"/>
          </a:xfrm>
          <a:prstGeom prst="rect">
            <a:avLst/>
          </a:prstGeom>
          <a:solidFill>
            <a:srgbClr val="FFFFFF"/>
          </a:solidFill>
          <a:ln w="6350">
            <a:solidFill>
              <a:srgbClr val="CBD5E1"/>
            </a:solidFill>
            <a:prstDash val="solid"/>
          </a:ln>
        </p:spPr>
        <p:txBody>
          <a:bodyPr/>
          <a:lstStyle/>
          <a:p>
            <a:endParaRPr lang="it-IT"/>
          </a:p>
        </p:txBody>
      </p:sp>
      <p:sp>
        <p:nvSpPr>
          <p:cNvPr id="21" name="Text 19"/>
          <p:cNvSpPr/>
          <p:nvPr/>
        </p:nvSpPr>
        <p:spPr>
          <a:xfrm>
            <a:off x="4736592" y="2459736"/>
            <a:ext cx="14630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Chosen model</a:t>
            </a:r>
            <a:endParaRPr lang="en-US" sz="950" dirty="0"/>
          </a:p>
        </p:txBody>
      </p:sp>
      <p:sp>
        <p:nvSpPr>
          <p:cNvPr id="22" name="Text 20"/>
          <p:cNvSpPr/>
          <p:nvPr/>
        </p:nvSpPr>
        <p:spPr>
          <a:xfrm>
            <a:off x="5641145" y="2459736"/>
            <a:ext cx="2999935" cy="201168"/>
          </a:xfrm>
          <a:prstGeom prst="rect">
            <a:avLst/>
          </a:prstGeom>
          <a:noFill/>
          <a:ln/>
        </p:spPr>
        <p:txBody>
          <a:bodyPr wrap="square" lIns="0" tIns="0" rIns="0" bIns="0" rtlCol="0" anchor="ctr"/>
          <a:lstStyle/>
          <a:p>
            <a:pPr marL="0" indent="0">
              <a:buNone/>
            </a:pPr>
            <a:r>
              <a:rPr lang="en-US" sz="950" i="1" dirty="0" err="1">
                <a:solidFill>
                  <a:srgbClr val="4A6587"/>
                </a:solidFill>
                <a:latin typeface="Calibri" pitchFamily="34" charset="0"/>
                <a:ea typeface="Calibri" pitchFamily="34" charset="-122"/>
                <a:cs typeface="Calibri" pitchFamily="34" charset="-120"/>
              </a:rPr>
              <a:t>XGBoost</a:t>
            </a:r>
            <a:r>
              <a:rPr lang="en-US" sz="950" i="1" dirty="0">
                <a:solidFill>
                  <a:srgbClr val="4A6587"/>
                </a:solidFill>
                <a:latin typeface="Calibri" pitchFamily="34" charset="0"/>
                <a:ea typeface="Calibri" pitchFamily="34" charset="-122"/>
                <a:cs typeface="Calibri" pitchFamily="34" charset="-120"/>
              </a:rPr>
              <a:t>, as it achieved an optimal QWK of ~0.817 and demonstrated tight variance with high median performance</a:t>
            </a:r>
            <a:endParaRPr lang="en-US" sz="950" dirty="0"/>
          </a:p>
        </p:txBody>
      </p:sp>
      <p:sp>
        <p:nvSpPr>
          <p:cNvPr id="23" name="Shape 21"/>
          <p:cNvSpPr/>
          <p:nvPr/>
        </p:nvSpPr>
        <p:spPr>
          <a:xfrm>
            <a:off x="4663440" y="2715768"/>
            <a:ext cx="4069080" cy="283464"/>
          </a:xfrm>
          <a:prstGeom prst="rect">
            <a:avLst/>
          </a:prstGeom>
          <a:solidFill>
            <a:srgbClr val="F8FAFC"/>
          </a:solidFill>
          <a:ln w="6350">
            <a:solidFill>
              <a:srgbClr val="CBD5E1"/>
            </a:solidFill>
            <a:prstDash val="solid"/>
          </a:ln>
        </p:spPr>
        <p:txBody>
          <a:bodyPr/>
          <a:lstStyle/>
          <a:p>
            <a:endParaRPr lang="it-IT"/>
          </a:p>
        </p:txBody>
      </p:sp>
      <p:sp>
        <p:nvSpPr>
          <p:cNvPr id="24" name="Text 22"/>
          <p:cNvSpPr/>
          <p:nvPr/>
        </p:nvSpPr>
        <p:spPr>
          <a:xfrm>
            <a:off x="4736592" y="2761488"/>
            <a:ext cx="14630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Search strategy</a:t>
            </a:r>
            <a:endParaRPr lang="en-US" sz="950" dirty="0"/>
          </a:p>
        </p:txBody>
      </p:sp>
      <p:sp>
        <p:nvSpPr>
          <p:cNvPr id="25" name="Text 23"/>
          <p:cNvSpPr/>
          <p:nvPr/>
        </p:nvSpPr>
        <p:spPr>
          <a:xfrm>
            <a:off x="5824025" y="2729836"/>
            <a:ext cx="2817055" cy="24688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Bayesian Optimization via </a:t>
            </a:r>
            <a:r>
              <a:rPr lang="en-US" sz="950" i="1" dirty="0" err="1">
                <a:solidFill>
                  <a:srgbClr val="4A6587"/>
                </a:solidFill>
                <a:latin typeface="Calibri" pitchFamily="34" charset="0"/>
                <a:ea typeface="Calibri" pitchFamily="34" charset="-122"/>
                <a:cs typeface="Calibri" pitchFamily="34" charset="-120"/>
              </a:rPr>
              <a:t>Optuna</a:t>
            </a:r>
            <a:r>
              <a:rPr lang="en-US" sz="950" i="1" dirty="0">
                <a:solidFill>
                  <a:srgbClr val="4A6587"/>
                </a:solidFill>
                <a:latin typeface="Calibri" pitchFamily="34" charset="0"/>
                <a:ea typeface="Calibri" pitchFamily="34" charset="-122"/>
                <a:cs typeface="Calibri" pitchFamily="34" charset="-120"/>
              </a:rPr>
              <a:t> coupled with a Cached Unified Grid Search</a:t>
            </a:r>
            <a:endParaRPr lang="en-US" sz="950" dirty="0"/>
          </a:p>
        </p:txBody>
      </p:sp>
      <p:sp>
        <p:nvSpPr>
          <p:cNvPr id="26" name="Shape 24"/>
          <p:cNvSpPr/>
          <p:nvPr/>
        </p:nvSpPr>
        <p:spPr>
          <a:xfrm>
            <a:off x="4663440" y="3017520"/>
            <a:ext cx="4069080" cy="283464"/>
          </a:xfrm>
          <a:prstGeom prst="rect">
            <a:avLst/>
          </a:prstGeom>
          <a:solidFill>
            <a:srgbClr val="FFFFFF"/>
          </a:solidFill>
          <a:ln w="6350">
            <a:solidFill>
              <a:srgbClr val="CBD5E1"/>
            </a:solidFill>
            <a:prstDash val="solid"/>
          </a:ln>
        </p:spPr>
        <p:txBody>
          <a:bodyPr/>
          <a:lstStyle/>
          <a:p>
            <a:endParaRPr lang="it-IT"/>
          </a:p>
        </p:txBody>
      </p:sp>
      <p:sp>
        <p:nvSpPr>
          <p:cNvPr id="27" name="Text 25"/>
          <p:cNvSpPr/>
          <p:nvPr/>
        </p:nvSpPr>
        <p:spPr>
          <a:xfrm>
            <a:off x="4736592" y="3063240"/>
            <a:ext cx="14630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Search space</a:t>
            </a:r>
            <a:endParaRPr lang="en-US" sz="950" dirty="0"/>
          </a:p>
        </p:txBody>
      </p:sp>
      <p:sp>
        <p:nvSpPr>
          <p:cNvPr id="28" name="Text 26"/>
          <p:cNvSpPr/>
          <p:nvPr/>
        </p:nvSpPr>
        <p:spPr>
          <a:xfrm>
            <a:off x="5739618" y="3063240"/>
            <a:ext cx="2901462"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Tree ensemble architecture (</a:t>
            </a:r>
            <a:r>
              <a:rPr lang="en-US" sz="950" i="1" dirty="0" err="1">
                <a:solidFill>
                  <a:srgbClr val="4A6587"/>
                </a:solidFill>
                <a:latin typeface="Calibri" pitchFamily="34" charset="0"/>
                <a:ea typeface="Calibri" pitchFamily="34" charset="-122"/>
                <a:cs typeface="Calibri" pitchFamily="34" charset="-120"/>
              </a:rPr>
              <a:t>n_estimators</a:t>
            </a:r>
            <a:r>
              <a:rPr lang="en-US" sz="950" i="1" dirty="0">
                <a:solidFill>
                  <a:srgbClr val="4A6587"/>
                </a:solidFill>
                <a:latin typeface="Calibri" pitchFamily="34" charset="0"/>
                <a:ea typeface="Calibri" pitchFamily="34" charset="-122"/>
                <a:cs typeface="Calibri" pitchFamily="34" charset="-120"/>
              </a:rPr>
              <a:t>, </a:t>
            </a:r>
            <a:r>
              <a:rPr lang="en-US" sz="950" i="1" dirty="0" err="1">
                <a:solidFill>
                  <a:srgbClr val="4A6587"/>
                </a:solidFill>
                <a:latin typeface="Calibri" pitchFamily="34" charset="0"/>
                <a:ea typeface="Calibri" pitchFamily="34" charset="-122"/>
                <a:cs typeface="Calibri" pitchFamily="34" charset="-120"/>
              </a:rPr>
              <a:t>max_depth</a:t>
            </a:r>
            <a:r>
              <a:rPr lang="en-US" sz="950" i="1" dirty="0">
                <a:solidFill>
                  <a:srgbClr val="4A6587"/>
                </a:solidFill>
                <a:latin typeface="Calibri" pitchFamily="34" charset="0"/>
                <a:ea typeface="Calibri" pitchFamily="34" charset="-122"/>
                <a:cs typeface="Calibri" pitchFamily="34" charset="-120"/>
              </a:rPr>
              <a:t>), learning dynamics, and regularization bounds</a:t>
            </a:r>
            <a:endParaRPr lang="en-US" sz="950" dirty="0"/>
          </a:p>
        </p:txBody>
      </p:sp>
      <p:sp>
        <p:nvSpPr>
          <p:cNvPr id="29" name="Shape 27"/>
          <p:cNvSpPr/>
          <p:nvPr/>
        </p:nvSpPr>
        <p:spPr>
          <a:xfrm>
            <a:off x="4663440" y="3319272"/>
            <a:ext cx="4069080" cy="443484"/>
          </a:xfrm>
          <a:prstGeom prst="rect">
            <a:avLst/>
          </a:prstGeom>
          <a:solidFill>
            <a:srgbClr val="F8FAFC"/>
          </a:solidFill>
          <a:ln w="6350">
            <a:solidFill>
              <a:srgbClr val="CBD5E1"/>
            </a:solidFill>
            <a:prstDash val="solid"/>
          </a:ln>
        </p:spPr>
        <p:txBody>
          <a:bodyPr/>
          <a:lstStyle/>
          <a:p>
            <a:endParaRPr lang="it-IT"/>
          </a:p>
        </p:txBody>
      </p:sp>
      <p:sp>
        <p:nvSpPr>
          <p:cNvPr id="30" name="Text 28"/>
          <p:cNvSpPr/>
          <p:nvPr/>
        </p:nvSpPr>
        <p:spPr>
          <a:xfrm>
            <a:off x="4736592" y="3364992"/>
            <a:ext cx="14630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Best config</a:t>
            </a:r>
            <a:endParaRPr lang="en-US" sz="950" dirty="0"/>
          </a:p>
        </p:txBody>
      </p:sp>
      <p:sp>
        <p:nvSpPr>
          <p:cNvPr id="31" name="Text 29"/>
          <p:cNvSpPr/>
          <p:nvPr/>
        </p:nvSpPr>
        <p:spPr>
          <a:xfrm>
            <a:off x="5641145" y="3436561"/>
            <a:ext cx="2999935" cy="201168"/>
          </a:xfrm>
          <a:prstGeom prst="rect">
            <a:avLst/>
          </a:prstGeom>
          <a:noFill/>
          <a:ln/>
        </p:spPr>
        <p:txBody>
          <a:bodyPr wrap="square" lIns="0" tIns="0" rIns="0" bIns="0" rtlCol="0" anchor="ctr"/>
          <a:lstStyle/>
          <a:p>
            <a:pPr marL="0" indent="0">
              <a:buNone/>
            </a:pPr>
            <a:r>
              <a:rPr lang="en-US" sz="950" i="1" dirty="0" err="1">
                <a:solidFill>
                  <a:srgbClr val="4A6587"/>
                </a:solidFill>
                <a:latin typeface="Calibri" pitchFamily="34" charset="0"/>
                <a:ea typeface="Calibri" pitchFamily="34" charset="-122"/>
                <a:cs typeface="Calibri" pitchFamily="34" charset="-120"/>
              </a:rPr>
              <a:t>n_estimators</a:t>
            </a:r>
            <a:r>
              <a:rPr lang="en-US" sz="950" i="1" dirty="0">
                <a:solidFill>
                  <a:srgbClr val="4A6587"/>
                </a:solidFill>
                <a:latin typeface="Calibri" pitchFamily="34" charset="0"/>
                <a:ea typeface="Calibri" pitchFamily="34" charset="-122"/>
                <a:cs typeface="Calibri" pitchFamily="34" charset="-120"/>
              </a:rPr>
              <a:t>=397, </a:t>
            </a:r>
            <a:r>
              <a:rPr lang="en-US" sz="950" i="1" dirty="0" err="1">
                <a:solidFill>
                  <a:srgbClr val="4A6587"/>
                </a:solidFill>
                <a:latin typeface="Calibri" pitchFamily="34" charset="0"/>
                <a:ea typeface="Calibri" pitchFamily="34" charset="-122"/>
                <a:cs typeface="Calibri" pitchFamily="34" charset="-120"/>
              </a:rPr>
              <a:t>max_depth</a:t>
            </a:r>
            <a:r>
              <a:rPr lang="en-US" sz="950" i="1" dirty="0">
                <a:solidFill>
                  <a:srgbClr val="4A6587"/>
                </a:solidFill>
                <a:latin typeface="Calibri" pitchFamily="34" charset="0"/>
                <a:ea typeface="Calibri" pitchFamily="34" charset="-122"/>
                <a:cs typeface="Calibri" pitchFamily="34" charset="-120"/>
              </a:rPr>
              <a:t>=5, learning_rate≈0.107, </a:t>
            </a:r>
            <a:r>
              <a:rPr lang="en-US" sz="950" i="1" dirty="0" err="1">
                <a:solidFill>
                  <a:srgbClr val="4A6587"/>
                </a:solidFill>
                <a:latin typeface="Calibri" pitchFamily="34" charset="0"/>
                <a:ea typeface="Calibri" pitchFamily="34" charset="-122"/>
                <a:cs typeface="Calibri" pitchFamily="34" charset="-120"/>
              </a:rPr>
              <a:t>min_child_weight</a:t>
            </a:r>
            <a:r>
              <a:rPr lang="en-US" sz="950" i="1" dirty="0">
                <a:solidFill>
                  <a:srgbClr val="4A6587"/>
                </a:solidFill>
                <a:latin typeface="Calibri" pitchFamily="34" charset="0"/>
                <a:ea typeface="Calibri" pitchFamily="34" charset="-122"/>
                <a:cs typeface="Calibri" pitchFamily="34" charset="-120"/>
              </a:rPr>
              <a:t>=5, subsample≈0.965, reg_lambda≈0.825</a:t>
            </a:r>
            <a:endParaRPr lang="en-US" sz="950" dirty="0"/>
          </a:p>
        </p:txBody>
      </p:sp>
      <p:sp>
        <p:nvSpPr>
          <p:cNvPr id="32" name="Shape 30"/>
          <p:cNvSpPr/>
          <p:nvPr/>
        </p:nvSpPr>
        <p:spPr>
          <a:xfrm>
            <a:off x="4663440" y="3781044"/>
            <a:ext cx="4069080" cy="539496"/>
          </a:xfrm>
          <a:prstGeom prst="rect">
            <a:avLst/>
          </a:prstGeom>
          <a:solidFill>
            <a:srgbClr val="FFFFFF"/>
          </a:solidFill>
          <a:ln w="6350">
            <a:solidFill>
              <a:srgbClr val="CBD5E1"/>
            </a:solidFill>
            <a:prstDash val="solid"/>
          </a:ln>
        </p:spPr>
        <p:txBody>
          <a:bodyPr/>
          <a:lstStyle/>
          <a:p>
            <a:endParaRPr lang="it-IT"/>
          </a:p>
        </p:txBody>
      </p:sp>
      <p:sp>
        <p:nvSpPr>
          <p:cNvPr id="33" name="Text 31"/>
          <p:cNvSpPr/>
          <p:nvPr/>
        </p:nvSpPr>
        <p:spPr>
          <a:xfrm>
            <a:off x="4736592" y="3812696"/>
            <a:ext cx="14630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Statistical test</a:t>
            </a:r>
            <a:endParaRPr lang="en-US" sz="950" dirty="0"/>
          </a:p>
        </p:txBody>
      </p:sp>
      <p:sp>
        <p:nvSpPr>
          <p:cNvPr id="34" name="Text 32"/>
          <p:cNvSpPr/>
          <p:nvPr/>
        </p:nvSpPr>
        <p:spPr>
          <a:xfrm>
            <a:off x="5690381" y="3968496"/>
            <a:ext cx="2999935"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Friedman Test for global significance, followed by Wilcoxon Signed-Rank Test. Due to N=5 folds, absolute dominance yielded a minimum achievable p-value of 0.0625.</a:t>
            </a:r>
            <a:endParaRPr lang="en-US" sz="950" dirty="0"/>
          </a:p>
        </p:txBody>
      </p:sp>
      <p:pic>
        <p:nvPicPr>
          <p:cNvPr id="36" name="Immagine 35">
            <a:extLst>
              <a:ext uri="{FF2B5EF4-FFF2-40B4-BE49-F238E27FC236}">
                <a16:creationId xmlns:a16="http://schemas.microsoft.com/office/drawing/2014/main" id="{FF5B76D8-CD0E-FA46-3182-C5C2782A912D}"/>
              </a:ext>
            </a:extLst>
          </p:cNvPr>
          <p:cNvPicPr>
            <a:picLocks noChangeAspect="1"/>
          </p:cNvPicPr>
          <p:nvPr/>
        </p:nvPicPr>
        <p:blipFill>
          <a:blip r:embed="rId3"/>
          <a:stretch>
            <a:fillRect/>
          </a:stretch>
        </p:blipFill>
        <p:spPr>
          <a:xfrm>
            <a:off x="411480" y="1946617"/>
            <a:ext cx="4011024" cy="196895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750" b="1" kern="0" spc="150" dirty="0">
                <a:solidFill>
                  <a:srgbClr val="FFFFFF"/>
                </a:solidFill>
              </a:rPr>
              <a:t>RESULTS</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Test-Set Results</a:t>
            </a:r>
            <a:endParaRPr lang="en-US" sz="2400" dirty="0"/>
          </a:p>
        </p:txBody>
      </p:sp>
      <p:sp>
        <p:nvSpPr>
          <p:cNvPr id="6" name="Text 4"/>
          <p:cNvSpPr/>
          <p:nvPr/>
        </p:nvSpPr>
        <p:spPr>
          <a:xfrm>
            <a:off x="411480" y="1897380"/>
            <a:ext cx="4069080" cy="969264"/>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11" name="Text 9"/>
          <p:cNvSpPr/>
          <p:nvPr/>
        </p:nvSpPr>
        <p:spPr>
          <a:xfrm>
            <a:off x="411480" y="3703320"/>
            <a:ext cx="3657600" cy="256032"/>
          </a:xfrm>
          <a:prstGeom prst="rect">
            <a:avLst/>
          </a:prstGeom>
          <a:noFill/>
          <a:ln/>
        </p:spPr>
        <p:txBody>
          <a:bodyPr wrap="square" lIns="0" tIns="0" rIns="0" bIns="0" rtlCol="0" anchor="ctr"/>
          <a:lstStyle/>
          <a:p>
            <a:pPr marL="0" indent="0">
              <a:buNone/>
            </a:pPr>
            <a:r>
              <a:rPr lang="en-US" sz="1100" b="1" dirty="0">
                <a:solidFill>
                  <a:srgbClr val="1C2B4A"/>
                </a:solidFill>
                <a:latin typeface="Calibri" pitchFamily="34" charset="0"/>
                <a:ea typeface="Calibri" pitchFamily="34" charset="-122"/>
                <a:cs typeface="Calibri" pitchFamily="34" charset="-120"/>
              </a:rPr>
              <a:t>Key Metrics (Test Set)</a:t>
            </a:r>
            <a:endParaRPr lang="en-US" sz="1100" dirty="0"/>
          </a:p>
        </p:txBody>
      </p:sp>
      <p:sp>
        <p:nvSpPr>
          <p:cNvPr id="12" name="Shape 10"/>
          <p:cNvSpPr/>
          <p:nvPr/>
        </p:nvSpPr>
        <p:spPr>
          <a:xfrm>
            <a:off x="411480" y="4005072"/>
            <a:ext cx="1938528" cy="877824"/>
          </a:xfrm>
          <a:prstGeom prst="roundRect">
            <a:avLst>
              <a:gd name="adj" fmla="val 10417"/>
            </a:avLst>
          </a:prstGeom>
          <a:solidFill>
            <a:srgbClr val="F0F4FA"/>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3" name="Text 11"/>
          <p:cNvSpPr/>
          <p:nvPr/>
        </p:nvSpPr>
        <p:spPr>
          <a:xfrm>
            <a:off x="411480" y="4078224"/>
            <a:ext cx="1938528"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Post-Release: 0.840</a:t>
            </a:r>
            <a:b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b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Pre-Release: 0.721</a:t>
            </a:r>
          </a:p>
        </p:txBody>
      </p:sp>
      <p:sp>
        <p:nvSpPr>
          <p:cNvPr id="14" name="Text 12"/>
          <p:cNvSpPr/>
          <p:nvPr/>
        </p:nvSpPr>
        <p:spPr>
          <a:xfrm>
            <a:off x="411480" y="4535424"/>
            <a:ext cx="1938528" cy="274320"/>
          </a:xfrm>
          <a:prstGeom prst="rect">
            <a:avLst/>
          </a:prstGeom>
          <a:noFill/>
          <a:ln/>
        </p:spPr>
        <p:txBody>
          <a:bodyPr wrap="square" lIns="0" tIns="0" rIns="0" bIns="0" rtlCol="0" anchor="ctr"/>
          <a:lstStyle/>
          <a:p>
            <a:pPr marL="0" indent="0" algn="ctr">
              <a:buNone/>
            </a:pPr>
            <a:r>
              <a:rPr lang="en-US" sz="900" dirty="0">
                <a:solidFill>
                  <a:srgbClr val="7A8FA6"/>
                </a:solidFill>
                <a:latin typeface="Calibri" pitchFamily="34" charset="0"/>
                <a:ea typeface="Calibri" pitchFamily="34" charset="-122"/>
                <a:cs typeface="Calibri" pitchFamily="34" charset="-120"/>
              </a:rPr>
              <a:t>QWK </a:t>
            </a:r>
            <a:r>
              <a:rPr lang="en-US" sz="900" dirty="0" err="1">
                <a:solidFill>
                  <a:srgbClr val="7A8FA6"/>
                </a:solidFill>
                <a:latin typeface="Calibri" pitchFamily="34" charset="0"/>
                <a:ea typeface="Calibri" pitchFamily="34" charset="-122"/>
                <a:cs typeface="Calibri" pitchFamily="34" charset="-120"/>
              </a:rPr>
              <a:t>XGBoost</a:t>
            </a:r>
            <a:endParaRPr lang="en-US" sz="900" dirty="0"/>
          </a:p>
        </p:txBody>
      </p:sp>
      <p:sp>
        <p:nvSpPr>
          <p:cNvPr id="15" name="Shape 13"/>
          <p:cNvSpPr/>
          <p:nvPr/>
        </p:nvSpPr>
        <p:spPr>
          <a:xfrm>
            <a:off x="2514600" y="4005072"/>
            <a:ext cx="1938528" cy="877824"/>
          </a:xfrm>
          <a:prstGeom prst="roundRect">
            <a:avLst>
              <a:gd name="adj" fmla="val 10417"/>
            </a:avLst>
          </a:prstGeom>
          <a:solidFill>
            <a:srgbClr val="F0F4FA"/>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dirty="0"/>
          </a:p>
        </p:txBody>
      </p:sp>
      <p:sp>
        <p:nvSpPr>
          <p:cNvPr id="16" name="Text 14"/>
          <p:cNvSpPr/>
          <p:nvPr/>
        </p:nvSpPr>
        <p:spPr>
          <a:xfrm>
            <a:off x="2514600" y="4078224"/>
            <a:ext cx="1938528"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Post-Release: 0.624</a:t>
            </a:r>
            <a:b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b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Pre-Release: 0.469</a:t>
            </a:r>
            <a:endParaRPr lang="en-US" sz="2600" dirty="0"/>
          </a:p>
        </p:txBody>
      </p:sp>
      <p:sp>
        <p:nvSpPr>
          <p:cNvPr id="17" name="Text 15"/>
          <p:cNvSpPr/>
          <p:nvPr/>
        </p:nvSpPr>
        <p:spPr>
          <a:xfrm>
            <a:off x="2514600" y="4535424"/>
            <a:ext cx="1938528" cy="274320"/>
          </a:xfrm>
          <a:prstGeom prst="rect">
            <a:avLst/>
          </a:prstGeom>
          <a:noFill/>
          <a:ln/>
        </p:spPr>
        <p:txBody>
          <a:bodyPr wrap="square" lIns="0" tIns="0" rIns="0" bIns="0" rtlCol="0" anchor="ctr"/>
          <a:lstStyle/>
          <a:p>
            <a:pPr marL="0" indent="0" algn="ctr">
              <a:buNone/>
            </a:pPr>
            <a:r>
              <a:rPr lang="en-US" sz="900" dirty="0">
                <a:solidFill>
                  <a:srgbClr val="7A8FA6"/>
                </a:solidFill>
                <a:latin typeface="Calibri" pitchFamily="34" charset="0"/>
                <a:ea typeface="Calibri" pitchFamily="34" charset="-122"/>
                <a:cs typeface="Calibri" pitchFamily="34" charset="-120"/>
              </a:rPr>
              <a:t>Macro-F1 </a:t>
            </a:r>
            <a:r>
              <a:rPr lang="en-US" sz="900" dirty="0" err="1">
                <a:solidFill>
                  <a:srgbClr val="7A8FA6"/>
                </a:solidFill>
                <a:latin typeface="Calibri" pitchFamily="34" charset="0"/>
                <a:ea typeface="Calibri" pitchFamily="34" charset="-122"/>
                <a:cs typeface="Calibri" pitchFamily="34" charset="-120"/>
              </a:rPr>
              <a:t>XGBoost</a:t>
            </a:r>
            <a:endParaRPr lang="en-US" sz="900" dirty="0"/>
          </a:p>
        </p:txBody>
      </p:sp>
      <p:sp>
        <p:nvSpPr>
          <p:cNvPr id="18" name="Shape 16"/>
          <p:cNvSpPr/>
          <p:nvPr/>
        </p:nvSpPr>
        <p:spPr>
          <a:xfrm>
            <a:off x="4617720" y="4005072"/>
            <a:ext cx="1938528" cy="877824"/>
          </a:xfrm>
          <a:prstGeom prst="roundRect">
            <a:avLst>
              <a:gd name="adj" fmla="val 10417"/>
            </a:avLst>
          </a:prstGeom>
          <a:solidFill>
            <a:srgbClr val="F0F4FA"/>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9" name="Text 17"/>
          <p:cNvSpPr/>
          <p:nvPr/>
        </p:nvSpPr>
        <p:spPr>
          <a:xfrm>
            <a:off x="4617720" y="4078224"/>
            <a:ext cx="1938528" cy="420624"/>
          </a:xfrm>
          <a:prstGeom prst="rect">
            <a:avLst/>
          </a:prstGeom>
          <a:noFill/>
          <a:ln/>
        </p:spPr>
        <p:txBody>
          <a:bodyPr wrap="square" lIns="0" tIns="0" rIns="0" bIns="0" rtlCol="0" anchor="ctr"/>
          <a:lstStyle/>
          <a:p>
            <a:pPr marL="0" indent="0" algn="ctr">
              <a:buNone/>
            </a:pPr>
            <a:r>
              <a:rPr lang="en-US" b="1" dirty="0">
                <a:solidFill>
                  <a:srgbClr val="1C2B4A"/>
                </a:solidFill>
                <a:latin typeface="Calibri" pitchFamily="34" charset="0"/>
                <a:ea typeface="Calibri" pitchFamily="34" charset="-122"/>
                <a:cs typeface="Calibri" pitchFamily="34" charset="-120"/>
              </a:rPr>
              <a:t>Post-Release: 0.808</a:t>
            </a:r>
            <a:br>
              <a:rPr lang="en-US" b="1" dirty="0">
                <a:solidFill>
                  <a:srgbClr val="1C2B4A"/>
                </a:solidFill>
                <a:latin typeface="Calibri" pitchFamily="34" charset="0"/>
                <a:ea typeface="Calibri" pitchFamily="34" charset="-122"/>
                <a:cs typeface="Calibri" pitchFamily="34" charset="-120"/>
              </a:rPr>
            </a:br>
            <a:r>
              <a:rPr lang="en-US" b="1" dirty="0">
                <a:solidFill>
                  <a:srgbClr val="1C2B4A"/>
                </a:solidFill>
                <a:latin typeface="Calibri" pitchFamily="34" charset="0"/>
                <a:ea typeface="Calibri" pitchFamily="34" charset="-122"/>
                <a:cs typeface="Calibri" pitchFamily="34" charset="-120"/>
              </a:rPr>
              <a:t>Pre-Release: 0.700</a:t>
            </a:r>
          </a:p>
        </p:txBody>
      </p:sp>
      <p:sp>
        <p:nvSpPr>
          <p:cNvPr id="20" name="Text 18"/>
          <p:cNvSpPr/>
          <p:nvPr/>
        </p:nvSpPr>
        <p:spPr>
          <a:xfrm>
            <a:off x="4617720" y="4535424"/>
            <a:ext cx="1938528" cy="274320"/>
          </a:xfrm>
          <a:prstGeom prst="rect">
            <a:avLst/>
          </a:prstGeom>
          <a:noFill/>
          <a:ln/>
        </p:spPr>
        <p:txBody>
          <a:bodyPr wrap="square" lIns="0" tIns="0" rIns="0" bIns="0" rtlCol="0" anchor="ctr"/>
          <a:lstStyle/>
          <a:p>
            <a:pPr marL="0" indent="0" algn="ctr">
              <a:buNone/>
            </a:pPr>
            <a:r>
              <a:rPr lang="en-US" sz="900" dirty="0">
                <a:solidFill>
                  <a:srgbClr val="7A8FA6"/>
                </a:solidFill>
                <a:latin typeface="Calibri" pitchFamily="34" charset="0"/>
                <a:ea typeface="Calibri" pitchFamily="34" charset="-122"/>
                <a:cs typeface="Calibri" pitchFamily="34" charset="-120"/>
              </a:rPr>
              <a:t>QWK Random Forest</a:t>
            </a:r>
            <a:endParaRPr lang="en-US" sz="900" dirty="0"/>
          </a:p>
        </p:txBody>
      </p:sp>
      <p:sp>
        <p:nvSpPr>
          <p:cNvPr id="21" name="Shape 19"/>
          <p:cNvSpPr/>
          <p:nvPr/>
        </p:nvSpPr>
        <p:spPr>
          <a:xfrm>
            <a:off x="6720840" y="4005072"/>
            <a:ext cx="1938528" cy="877824"/>
          </a:xfrm>
          <a:prstGeom prst="roundRect">
            <a:avLst>
              <a:gd name="adj" fmla="val 10417"/>
            </a:avLst>
          </a:prstGeom>
          <a:solidFill>
            <a:srgbClr val="F0F4FA"/>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22" name="Text 20"/>
          <p:cNvSpPr/>
          <p:nvPr/>
        </p:nvSpPr>
        <p:spPr>
          <a:xfrm>
            <a:off x="6720840" y="4078224"/>
            <a:ext cx="1938528"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Post-Release: 0.769</a:t>
            </a:r>
            <a:b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br>
            <a:r>
              <a:rPr kumimoji="0" lang="en-US" sz="1800" b="1" i="0" u="none" strike="noStrike" kern="1200" cap="none" spc="0" normalizeH="0" baseline="0" noProof="0" dirty="0" err="1">
                <a:ln>
                  <a:noFill/>
                </a:ln>
                <a:solidFill>
                  <a:srgbClr val="1C2B4A"/>
                </a:solidFill>
                <a:effectLst/>
                <a:uLnTx/>
                <a:uFillTx/>
                <a:latin typeface="Calibri" pitchFamily="34" charset="0"/>
                <a:ea typeface="Calibri" pitchFamily="34" charset="-122"/>
                <a:cs typeface="Calibri" pitchFamily="34" charset="-120"/>
              </a:rPr>
              <a:t>Pre_Release</a:t>
            </a: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 0.544</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6720840" y="4535424"/>
            <a:ext cx="1938528" cy="274320"/>
          </a:xfrm>
          <a:prstGeom prst="rect">
            <a:avLst/>
          </a:prstGeom>
          <a:noFill/>
          <a:ln/>
        </p:spPr>
        <p:txBody>
          <a:bodyPr wrap="square" lIns="0" tIns="0" rIns="0" bIns="0" rtlCol="0" anchor="ctr"/>
          <a:lstStyle/>
          <a:p>
            <a:pPr marL="0" indent="0" algn="ctr">
              <a:buNone/>
            </a:pPr>
            <a:r>
              <a:rPr lang="en-US" sz="900" dirty="0">
                <a:solidFill>
                  <a:srgbClr val="7A8FA6"/>
                </a:solidFill>
                <a:latin typeface="Calibri" pitchFamily="34" charset="0"/>
                <a:ea typeface="Calibri" pitchFamily="34" charset="-122"/>
                <a:cs typeface="Calibri" pitchFamily="34" charset="-120"/>
              </a:rPr>
              <a:t>QWK Decision Tree</a:t>
            </a:r>
            <a:endParaRPr lang="en-US" sz="900" dirty="0"/>
          </a:p>
        </p:txBody>
      </p:sp>
      <p:pic>
        <p:nvPicPr>
          <p:cNvPr id="27" name="Immagine 26">
            <a:extLst>
              <a:ext uri="{FF2B5EF4-FFF2-40B4-BE49-F238E27FC236}">
                <a16:creationId xmlns:a16="http://schemas.microsoft.com/office/drawing/2014/main" id="{FAA4E237-12B2-7219-AB50-1705FED108BB}"/>
              </a:ext>
            </a:extLst>
          </p:cNvPr>
          <p:cNvPicPr>
            <a:picLocks noChangeAspect="1"/>
          </p:cNvPicPr>
          <p:nvPr/>
        </p:nvPicPr>
        <p:blipFill>
          <a:blip r:embed="rId3"/>
          <a:stretch>
            <a:fillRect/>
          </a:stretch>
        </p:blipFill>
        <p:spPr>
          <a:xfrm>
            <a:off x="411480" y="1097280"/>
            <a:ext cx="3524706" cy="2643530"/>
          </a:xfrm>
          <a:prstGeom prst="rect">
            <a:avLst/>
          </a:prstGeom>
        </p:spPr>
      </p:pic>
      <p:pic>
        <p:nvPicPr>
          <p:cNvPr id="29" name="Immagine 28">
            <a:extLst>
              <a:ext uri="{FF2B5EF4-FFF2-40B4-BE49-F238E27FC236}">
                <a16:creationId xmlns:a16="http://schemas.microsoft.com/office/drawing/2014/main" id="{30417ADB-AA80-FD90-9796-B4A2F158C599}"/>
              </a:ext>
            </a:extLst>
          </p:cNvPr>
          <p:cNvPicPr>
            <a:picLocks noChangeAspect="1"/>
          </p:cNvPicPr>
          <p:nvPr/>
        </p:nvPicPr>
        <p:blipFill>
          <a:blip r:embed="rId4"/>
          <a:stretch>
            <a:fillRect/>
          </a:stretch>
        </p:blipFill>
        <p:spPr>
          <a:xfrm>
            <a:off x="5207814" y="1059791"/>
            <a:ext cx="3524706" cy="2643529"/>
          </a:xfrm>
          <a:prstGeom prst="rect">
            <a:avLst/>
          </a:prstGeom>
        </p:spPr>
      </p:pic>
      <p:sp>
        <p:nvSpPr>
          <p:cNvPr id="30" name="CasellaDiTesto 29">
            <a:extLst>
              <a:ext uri="{FF2B5EF4-FFF2-40B4-BE49-F238E27FC236}">
                <a16:creationId xmlns:a16="http://schemas.microsoft.com/office/drawing/2014/main" id="{1CD71980-C55B-6ED5-12AA-E7B10CEDCC61}"/>
              </a:ext>
            </a:extLst>
          </p:cNvPr>
          <p:cNvSpPr txBox="1"/>
          <p:nvPr/>
        </p:nvSpPr>
        <p:spPr>
          <a:xfrm>
            <a:off x="1076679" y="1050270"/>
            <a:ext cx="2138236" cy="230832"/>
          </a:xfrm>
          <a:prstGeom prst="rect">
            <a:avLst/>
          </a:prstGeom>
          <a:solidFill>
            <a:srgbClr val="0070C0"/>
          </a:solidFill>
          <a:ln>
            <a:solidFill>
              <a:schemeClr val="bg1"/>
            </a:solidFill>
          </a:ln>
        </p:spPr>
        <p:txBody>
          <a:bodyPr wrap="square" rtlCol="0">
            <a:spAutoFit/>
          </a:bodyPr>
          <a:lstStyle/>
          <a:p>
            <a:pPr algn="ctr"/>
            <a:r>
              <a:rPr lang="it-IT" sz="900" dirty="0" err="1">
                <a:solidFill>
                  <a:schemeClr val="bg1"/>
                </a:solidFill>
              </a:rPr>
              <a:t>XGBoost</a:t>
            </a:r>
            <a:r>
              <a:rPr lang="it-IT" sz="900" dirty="0">
                <a:solidFill>
                  <a:schemeClr val="bg1"/>
                </a:solidFill>
              </a:rPr>
              <a:t> </a:t>
            </a:r>
            <a:r>
              <a:rPr lang="it-IT" sz="900" dirty="0" err="1">
                <a:solidFill>
                  <a:schemeClr val="bg1"/>
                </a:solidFill>
              </a:rPr>
              <a:t>confusion</a:t>
            </a:r>
            <a:r>
              <a:rPr lang="it-IT" sz="900" dirty="0">
                <a:solidFill>
                  <a:schemeClr val="bg1"/>
                </a:solidFill>
              </a:rPr>
              <a:t> </a:t>
            </a:r>
            <a:r>
              <a:rPr lang="it-IT" sz="900" dirty="0" err="1">
                <a:solidFill>
                  <a:schemeClr val="bg1"/>
                </a:solidFill>
              </a:rPr>
              <a:t>matrix</a:t>
            </a:r>
            <a:r>
              <a:rPr lang="it-IT" sz="900" dirty="0">
                <a:solidFill>
                  <a:schemeClr val="bg1"/>
                </a:solidFill>
              </a:rPr>
              <a:t> post-release</a:t>
            </a:r>
          </a:p>
        </p:txBody>
      </p:sp>
      <p:sp>
        <p:nvSpPr>
          <p:cNvPr id="32" name="CasellaDiTesto 31">
            <a:extLst>
              <a:ext uri="{FF2B5EF4-FFF2-40B4-BE49-F238E27FC236}">
                <a16:creationId xmlns:a16="http://schemas.microsoft.com/office/drawing/2014/main" id="{F023D95B-B862-5BFA-0F95-E44341721532}"/>
              </a:ext>
            </a:extLst>
          </p:cNvPr>
          <p:cNvSpPr txBox="1"/>
          <p:nvPr/>
        </p:nvSpPr>
        <p:spPr>
          <a:xfrm>
            <a:off x="5809213" y="1018440"/>
            <a:ext cx="2189295" cy="230832"/>
          </a:xfrm>
          <a:prstGeom prst="rect">
            <a:avLst/>
          </a:prstGeom>
          <a:solidFill>
            <a:srgbClr val="0070C0"/>
          </a:solidFill>
          <a:ln>
            <a:solidFill>
              <a:schemeClr val="bg1"/>
            </a:solidFill>
          </a:ln>
        </p:spPr>
        <p:txBody>
          <a:bodyPr wrap="square" rtlCol="0">
            <a:spAutoFit/>
          </a:bodyPr>
          <a:lstStyle/>
          <a:p>
            <a:pPr algn="ctr"/>
            <a:r>
              <a:rPr lang="it-IT" sz="900" dirty="0" err="1">
                <a:solidFill>
                  <a:schemeClr val="bg1"/>
                </a:solidFill>
              </a:rPr>
              <a:t>XGBoost</a:t>
            </a:r>
            <a:r>
              <a:rPr lang="it-IT" sz="900" dirty="0">
                <a:solidFill>
                  <a:schemeClr val="bg1"/>
                </a:solidFill>
              </a:rPr>
              <a:t> </a:t>
            </a:r>
            <a:r>
              <a:rPr lang="it-IT" sz="900" dirty="0" err="1">
                <a:solidFill>
                  <a:schemeClr val="bg1"/>
                </a:solidFill>
              </a:rPr>
              <a:t>confusion</a:t>
            </a:r>
            <a:r>
              <a:rPr lang="it-IT" sz="900" dirty="0">
                <a:solidFill>
                  <a:schemeClr val="bg1"/>
                </a:solidFill>
              </a:rPr>
              <a:t> </a:t>
            </a:r>
            <a:r>
              <a:rPr lang="it-IT" sz="900" dirty="0" err="1">
                <a:solidFill>
                  <a:schemeClr val="bg1"/>
                </a:solidFill>
              </a:rPr>
              <a:t>matrix</a:t>
            </a:r>
            <a:r>
              <a:rPr lang="it-IT" sz="900" dirty="0">
                <a:solidFill>
                  <a:schemeClr val="bg1"/>
                </a:solidFill>
              </a:rPr>
              <a:t> </a:t>
            </a:r>
            <a:r>
              <a:rPr lang="it-IT" sz="900" dirty="0" err="1">
                <a:solidFill>
                  <a:schemeClr val="bg1"/>
                </a:solidFill>
              </a:rPr>
              <a:t>pre</a:t>
            </a:r>
            <a:r>
              <a:rPr lang="it-IT" sz="900" dirty="0">
                <a:solidFill>
                  <a:schemeClr val="bg1"/>
                </a:solidFill>
              </a:rPr>
              <a:t>-release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1371600"/>
            <a:ext cx="8321040" cy="384048"/>
          </a:xfrm>
          <a:prstGeom prst="rect">
            <a:avLst/>
          </a:prstGeom>
          <a:noFill/>
          <a:ln/>
        </p:spPr>
        <p:txBody>
          <a:bodyPr wrap="square" lIns="0" tIns="0" rIns="0" bIns="0" rtlCol="0" anchor="ctr"/>
          <a:lstStyle/>
          <a:p>
            <a:pPr marL="0" indent="0">
              <a:buNone/>
            </a:pPr>
            <a:r>
              <a:rPr lang="en-US" sz="1100" b="1" kern="0" spc="300" dirty="0">
                <a:solidFill>
                  <a:srgbClr val="00B4A6"/>
                </a:solidFill>
                <a:latin typeface="Calibri" pitchFamily="34" charset="0"/>
                <a:ea typeface="Calibri" pitchFamily="34" charset="-122"/>
                <a:cs typeface="Calibri" pitchFamily="34" charset="-120"/>
              </a:rPr>
              <a:t>PART 2 — CRITICAL ANALYSIS</a:t>
            </a:r>
            <a:endParaRPr lang="en-US" sz="1100" dirty="0"/>
          </a:p>
        </p:txBody>
      </p:sp>
      <p:sp>
        <p:nvSpPr>
          <p:cNvPr id="4" name="Text 2"/>
          <p:cNvSpPr/>
          <p:nvPr/>
        </p:nvSpPr>
        <p:spPr>
          <a:xfrm>
            <a:off x="411480" y="1828800"/>
            <a:ext cx="8321040" cy="105156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Explainability &amp;</a:t>
            </a:r>
            <a:endParaRPr lang="en-US" sz="3800" dirty="0"/>
          </a:p>
          <a:p>
            <a:pPr marL="0" indent="0">
              <a:buNone/>
            </a:pPr>
            <a:r>
              <a:rPr lang="en-US" sz="3800" b="1" dirty="0">
                <a:solidFill>
                  <a:srgbClr val="FFFFFF"/>
                </a:solidFill>
                <a:latin typeface="Calibri" pitchFamily="34" charset="0"/>
                <a:ea typeface="Calibri" pitchFamily="34" charset="-122"/>
                <a:cs typeface="Calibri" pitchFamily="34" charset="-120"/>
              </a:rPr>
              <a:t>Critical Discussion</a:t>
            </a:r>
            <a:endParaRPr lang="en-US" sz="3800" dirty="0"/>
          </a:p>
        </p:txBody>
      </p:sp>
      <p:sp>
        <p:nvSpPr>
          <p:cNvPr id="5" name="Text 3"/>
          <p:cNvSpPr/>
          <p:nvPr/>
        </p:nvSpPr>
        <p:spPr>
          <a:xfrm>
            <a:off x="411480" y="3017520"/>
            <a:ext cx="8321040" cy="502920"/>
          </a:xfrm>
          <a:prstGeom prst="rect">
            <a:avLst/>
          </a:prstGeom>
          <a:noFill/>
          <a:ln/>
        </p:spPr>
        <p:txBody>
          <a:bodyPr wrap="square" lIns="0" tIns="0" rIns="0" bIns="0" rtlCol="0" anchor="ctr"/>
          <a:lstStyle/>
          <a:p>
            <a:pPr marL="0" indent="0">
              <a:buNone/>
            </a:pPr>
            <a:r>
              <a:rPr lang="en-US" sz="1250" dirty="0">
                <a:solidFill>
                  <a:srgbClr val="7A8FA6"/>
                </a:solidFill>
                <a:latin typeface="Calibri" pitchFamily="34" charset="0"/>
                <a:ea typeface="Calibri" pitchFamily="34" charset="-122"/>
                <a:cs typeface="Calibri" pitchFamily="34" charset="-120"/>
              </a:rPr>
              <a:t>How does the model work? · What did it get wrong and why?</a:t>
            </a:r>
            <a:endParaRPr lang="en-US" sz="1250" dirty="0"/>
          </a:p>
          <a:p>
            <a:pPr marL="0" indent="0">
              <a:buNone/>
            </a:pPr>
            <a:r>
              <a:rPr lang="en-US" sz="1250" dirty="0">
                <a:solidFill>
                  <a:srgbClr val="7A8FA6"/>
                </a:solidFill>
                <a:latin typeface="Calibri" pitchFamily="34" charset="0"/>
                <a:ea typeface="Calibri" pitchFamily="34" charset="-122"/>
                <a:cs typeface="Calibri" pitchFamily="34" charset="-120"/>
              </a:rPr>
              <a:t>Limitations · future directions · domain impact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750" b="1" kern="0" spc="150" dirty="0">
                <a:solidFill>
                  <a:srgbClr val="FFFFFF"/>
                </a:solidFill>
              </a:rPr>
              <a:t>EXPLAINABILITY</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Global Explainability: What Drives the Model Overall?</a:t>
            </a:r>
            <a:endParaRPr lang="en-US" sz="2400" dirty="0"/>
          </a:p>
        </p:txBody>
      </p:sp>
      <p:sp>
        <p:nvSpPr>
          <p:cNvPr id="8" name="Text 6"/>
          <p:cNvSpPr/>
          <p:nvPr/>
        </p:nvSpPr>
        <p:spPr>
          <a:xfrm>
            <a:off x="4663440" y="1170432"/>
            <a:ext cx="4069080" cy="274320"/>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Interpretation</a:t>
            </a:r>
            <a:endParaRPr lang="en-US" sz="1200" dirty="0"/>
          </a:p>
        </p:txBody>
      </p:sp>
      <p:sp>
        <p:nvSpPr>
          <p:cNvPr id="9" name="Text 7"/>
          <p:cNvSpPr/>
          <p:nvPr/>
        </p:nvSpPr>
        <p:spPr>
          <a:xfrm>
            <a:off x="4663440" y="1508760"/>
            <a:ext cx="4069080" cy="233172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SHAP (</a:t>
            </a:r>
            <a:r>
              <a:rPr lang="en-US" sz="1100" dirty="0" err="1">
                <a:solidFill>
                  <a:srgbClr val="1E293B"/>
                </a:solidFill>
                <a:latin typeface="Calibri" pitchFamily="34" charset="0"/>
                <a:ea typeface="Calibri" pitchFamily="34" charset="-122"/>
                <a:cs typeface="Calibri" pitchFamily="34" charset="-120"/>
              </a:rPr>
              <a:t>TreeExplainer</a:t>
            </a:r>
            <a:r>
              <a:rPr lang="en-US" sz="1100" dirty="0">
                <a:solidFill>
                  <a:srgbClr val="1E293B"/>
                </a:solidFill>
                <a:latin typeface="Calibri" pitchFamily="34" charset="0"/>
                <a:ea typeface="Calibri" pitchFamily="34" charset="-122"/>
                <a:cs typeface="Calibri" pitchFamily="34" charset="-120"/>
              </a:rPr>
              <a:t>) was used because </a:t>
            </a:r>
            <a:r>
              <a:rPr lang="en-US" sz="1100" dirty="0" err="1">
                <a:solidFill>
                  <a:srgbClr val="1E293B"/>
                </a:solidFill>
                <a:latin typeface="Calibri" pitchFamily="34" charset="0"/>
                <a:ea typeface="Calibri" pitchFamily="34" charset="-122"/>
                <a:cs typeface="Calibri" pitchFamily="34" charset="-120"/>
              </a:rPr>
              <a:t>XGBoost</a:t>
            </a:r>
            <a:r>
              <a:rPr lang="en-US" sz="1100" dirty="0">
                <a:solidFill>
                  <a:srgbClr val="1E293B"/>
                </a:solidFill>
                <a:latin typeface="Calibri" pitchFamily="34" charset="0"/>
                <a:ea typeface="Calibri" pitchFamily="34" charset="-122"/>
                <a:cs typeface="Calibri" pitchFamily="34" charset="-120"/>
              </a:rPr>
              <a:t> is a complex, non-linear ensemble. An Inverse Scaling Mechanism was applied to convert perturbed instances back to human-readable real-world units</a:t>
            </a:r>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High base pricing and extensive language localization systematically push predictions toward Tier 4 (AAA Hit), acting as reliable proxies for high-budget, high-effort development</a:t>
            </a:r>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When Post-Launch features are evaluated, community engagement metrics (e.g., average playtime) completely dominate the decision tree splits, proving they are mathematically far more predictive than day-zero metadata</a:t>
            </a:r>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The global explanation strongly supports the model logic. Features that actively suppress a game into Tier 0 (e.g., lack of languages) are the exact inverted signals required to push a title into Tier 4</a:t>
            </a:r>
          </a:p>
        </p:txBody>
      </p:sp>
      <p:pic>
        <p:nvPicPr>
          <p:cNvPr id="15" name="Immagine 14">
            <a:extLst>
              <a:ext uri="{FF2B5EF4-FFF2-40B4-BE49-F238E27FC236}">
                <a16:creationId xmlns:a16="http://schemas.microsoft.com/office/drawing/2014/main" id="{9A05B653-DB8D-A1C7-89B0-F0EAC3E3CA86}"/>
              </a:ext>
            </a:extLst>
          </p:cNvPr>
          <p:cNvPicPr>
            <a:picLocks noChangeAspect="1"/>
          </p:cNvPicPr>
          <p:nvPr/>
        </p:nvPicPr>
        <p:blipFill>
          <a:blip r:embed="rId3"/>
          <a:stretch>
            <a:fillRect/>
          </a:stretch>
        </p:blipFill>
        <p:spPr>
          <a:xfrm>
            <a:off x="912527" y="1097280"/>
            <a:ext cx="2795874" cy="1922163"/>
          </a:xfrm>
          <a:prstGeom prst="rect">
            <a:avLst/>
          </a:prstGeom>
        </p:spPr>
      </p:pic>
      <p:pic>
        <p:nvPicPr>
          <p:cNvPr id="17" name="Immagine 16">
            <a:extLst>
              <a:ext uri="{FF2B5EF4-FFF2-40B4-BE49-F238E27FC236}">
                <a16:creationId xmlns:a16="http://schemas.microsoft.com/office/drawing/2014/main" id="{5CB8E74A-E780-4010-A5CD-589169861308}"/>
              </a:ext>
            </a:extLst>
          </p:cNvPr>
          <p:cNvPicPr>
            <a:picLocks noChangeAspect="1"/>
          </p:cNvPicPr>
          <p:nvPr/>
        </p:nvPicPr>
        <p:blipFill>
          <a:blip r:embed="rId4"/>
          <a:stretch>
            <a:fillRect/>
          </a:stretch>
        </p:blipFill>
        <p:spPr>
          <a:xfrm>
            <a:off x="912526" y="3165745"/>
            <a:ext cx="2795874" cy="192216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750" b="1" kern="0" spc="150" dirty="0">
                <a:solidFill>
                  <a:srgbClr val="FFFFFF"/>
                </a:solidFill>
              </a:rPr>
              <a:t>EXPLAINABILITY</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Local Explainability: Why This Specific Prediction?</a:t>
            </a:r>
            <a:endParaRPr lang="en-US" sz="2400" dirty="0"/>
          </a:p>
        </p:txBody>
      </p:sp>
      <p:sp>
        <p:nvSpPr>
          <p:cNvPr id="8" name="Text 6"/>
          <p:cNvSpPr/>
          <p:nvPr/>
        </p:nvSpPr>
        <p:spPr>
          <a:xfrm>
            <a:off x="4663440" y="1170432"/>
            <a:ext cx="4069080" cy="274320"/>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Case Analysis</a:t>
            </a:r>
            <a:endParaRPr lang="en-US" sz="1200" dirty="0"/>
          </a:p>
        </p:txBody>
      </p:sp>
      <p:sp>
        <p:nvSpPr>
          <p:cNvPr id="9" name="Text 7"/>
          <p:cNvSpPr/>
          <p:nvPr/>
        </p:nvSpPr>
        <p:spPr>
          <a:xfrm>
            <a:off x="4663440" y="1508760"/>
            <a:ext cx="4069080" cy="233172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The analyzed represents a game of the "Indie Long-Tail" market (titles with the lowest adoption bracket).</a:t>
            </a:r>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Key features driving this instance include:  Release Year: 2018 Monetization: Free (</a:t>
            </a:r>
            <a:r>
              <a:rPr lang="en-US" sz="1100" dirty="0" err="1">
                <a:solidFill>
                  <a:srgbClr val="1E293B"/>
                </a:solidFill>
                <a:latin typeface="Calibri" pitchFamily="34" charset="0"/>
                <a:ea typeface="Calibri" pitchFamily="34" charset="-122"/>
                <a:cs typeface="Calibri" pitchFamily="34" charset="-120"/>
              </a:rPr>
              <a:t>tag_Free_to_Play</a:t>
            </a:r>
            <a:r>
              <a:rPr lang="en-US" sz="1100" dirty="0">
                <a:solidFill>
                  <a:srgbClr val="1E293B"/>
                </a:solidFill>
                <a:latin typeface="Calibri" pitchFamily="34" charset="0"/>
                <a:ea typeface="Calibri" pitchFamily="34" charset="-122"/>
                <a:cs typeface="Calibri" pitchFamily="34" charset="-120"/>
              </a:rPr>
              <a:t> = 1 and price = 0).Game Characteristics: Indie category, no multiplayer, and no Steam Trading Cards</a:t>
            </a:r>
          </a:p>
        </p:txBody>
      </p:sp>
      <p:pic>
        <p:nvPicPr>
          <p:cNvPr id="15" name="Immagine 14">
            <a:extLst>
              <a:ext uri="{FF2B5EF4-FFF2-40B4-BE49-F238E27FC236}">
                <a16:creationId xmlns:a16="http://schemas.microsoft.com/office/drawing/2014/main" id="{2E89CAC3-6A1F-285C-9AF9-8BDAB06ADBA1}"/>
              </a:ext>
            </a:extLst>
          </p:cNvPr>
          <p:cNvPicPr>
            <a:picLocks noChangeAspect="1"/>
          </p:cNvPicPr>
          <p:nvPr/>
        </p:nvPicPr>
        <p:blipFill>
          <a:blip r:embed="rId3"/>
          <a:stretch>
            <a:fillRect/>
          </a:stretch>
        </p:blipFill>
        <p:spPr>
          <a:xfrm>
            <a:off x="411480" y="1097280"/>
            <a:ext cx="2301474" cy="1869948"/>
          </a:xfrm>
          <a:prstGeom prst="rect">
            <a:avLst/>
          </a:prstGeom>
        </p:spPr>
      </p:pic>
      <p:pic>
        <p:nvPicPr>
          <p:cNvPr id="19" name="Immagine 18">
            <a:extLst>
              <a:ext uri="{FF2B5EF4-FFF2-40B4-BE49-F238E27FC236}">
                <a16:creationId xmlns:a16="http://schemas.microsoft.com/office/drawing/2014/main" id="{3C957521-A2CD-E093-7CF0-984D2B24ECBB}"/>
              </a:ext>
            </a:extLst>
          </p:cNvPr>
          <p:cNvPicPr>
            <a:picLocks noChangeAspect="1"/>
          </p:cNvPicPr>
          <p:nvPr/>
        </p:nvPicPr>
        <p:blipFill>
          <a:blip r:embed="rId4"/>
          <a:stretch>
            <a:fillRect/>
          </a:stretch>
        </p:blipFill>
        <p:spPr>
          <a:xfrm>
            <a:off x="411480" y="3010486"/>
            <a:ext cx="2301475" cy="1869948"/>
          </a:xfrm>
          <a:prstGeom prst="rect">
            <a:avLst/>
          </a:prstGeom>
        </p:spPr>
      </p:pic>
      <p:pic>
        <p:nvPicPr>
          <p:cNvPr id="25" name="Immagine 24">
            <a:extLst>
              <a:ext uri="{FF2B5EF4-FFF2-40B4-BE49-F238E27FC236}">
                <a16:creationId xmlns:a16="http://schemas.microsoft.com/office/drawing/2014/main" id="{2F0A0EED-BA71-012D-1ED5-E94A8EA3E821}"/>
              </a:ext>
            </a:extLst>
          </p:cNvPr>
          <p:cNvPicPr>
            <a:picLocks noChangeAspect="1"/>
          </p:cNvPicPr>
          <p:nvPr/>
        </p:nvPicPr>
        <p:blipFill>
          <a:blip r:embed="rId5"/>
          <a:stretch>
            <a:fillRect/>
          </a:stretch>
        </p:blipFill>
        <p:spPr>
          <a:xfrm>
            <a:off x="5060500" y="2612282"/>
            <a:ext cx="3275194" cy="245639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750" b="1" kern="0" spc="150" dirty="0">
                <a:solidFill>
                  <a:srgbClr val="FFFFFF"/>
                </a:solidFill>
              </a:rPr>
              <a:t>CRITICAL DISCUSSION</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Error Analysis: What Did the Model Get Wrong and Why?</a:t>
            </a:r>
            <a:endParaRPr lang="en-US" sz="2400" dirty="0"/>
          </a:p>
        </p:txBody>
      </p:sp>
      <p:sp>
        <p:nvSpPr>
          <p:cNvPr id="6" name="Text 4"/>
          <p:cNvSpPr/>
          <p:nvPr/>
        </p:nvSpPr>
        <p:spPr>
          <a:xfrm>
            <a:off x="411480" y="1897380"/>
            <a:ext cx="4069080" cy="969264"/>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7" name="Text 5"/>
          <p:cNvSpPr/>
          <p:nvPr/>
        </p:nvSpPr>
        <p:spPr>
          <a:xfrm>
            <a:off x="411480" y="2672791"/>
            <a:ext cx="4069080" cy="775411"/>
          </a:xfrm>
          <a:prstGeom prst="rect">
            <a:avLst/>
          </a:prstGeom>
          <a:noFill/>
          <a:ln/>
        </p:spPr>
        <p:txBody>
          <a:bodyPr wrap="square" lIns="0" tIns="0" rIns="0" bIns="0" rtlCol="0" anchor="t"/>
          <a:lstStyle/>
          <a:p>
            <a:pPr marL="0" indent="0" algn="ctr">
              <a:buNone/>
            </a:pPr>
            <a:r>
              <a:rPr lang="en-US" sz="850" dirty="0">
                <a:solidFill>
                  <a:srgbClr val="7A8FA6"/>
                </a:solidFill>
              </a:rPr>
              <a:t>Error characterization figure</a:t>
            </a:r>
            <a:endParaRPr lang="en-US" sz="850" dirty="0"/>
          </a:p>
          <a:p>
            <a:pPr marL="0" indent="0" algn="ctr">
              <a:buNone/>
            </a:pPr>
            <a:r>
              <a:rPr lang="en-US" sz="850" dirty="0">
                <a:solidFill>
                  <a:srgbClr val="7A8FA6"/>
                </a:solidFill>
              </a:rPr>
              <a:t>e.g., misclassified samples in feature space,</a:t>
            </a:r>
            <a:endParaRPr lang="en-US" sz="850" dirty="0"/>
          </a:p>
          <a:p>
            <a:pPr marL="0" indent="0" algn="ctr">
              <a:buNone/>
            </a:pPr>
            <a:r>
              <a:rPr lang="en-US" sz="850" dirty="0">
                <a:solidFill>
                  <a:srgbClr val="7A8FA6"/>
                </a:solidFill>
              </a:rPr>
              <a:t>error histogram, SHAP for wrong predictions</a:t>
            </a:r>
            <a:endParaRPr lang="en-US" sz="850" dirty="0"/>
          </a:p>
        </p:txBody>
      </p:sp>
      <p:sp>
        <p:nvSpPr>
          <p:cNvPr id="8" name="Text 6"/>
          <p:cNvSpPr/>
          <p:nvPr/>
        </p:nvSpPr>
        <p:spPr>
          <a:xfrm>
            <a:off x="4663440" y="1170432"/>
            <a:ext cx="4069080" cy="274320"/>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Reverse-Engineering Errors</a:t>
            </a:r>
            <a:endParaRPr lang="en-US" sz="1200" dirty="0"/>
          </a:p>
        </p:txBody>
      </p:sp>
      <p:sp>
        <p:nvSpPr>
          <p:cNvPr id="9" name="Text 7"/>
          <p:cNvSpPr/>
          <p:nvPr/>
        </p:nvSpPr>
        <p:spPr>
          <a:xfrm>
            <a:off x="4663440" y="1508760"/>
            <a:ext cx="4069080" cy="233172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Classification noise is almost entirely confined to adjacent classes (e.g., a true Tier 1 game misclassified as Tier 0 or Tier 2)</a:t>
            </a:r>
          </a:p>
          <a:p>
            <a:pPr marL="342900" indent="-342900">
              <a:spcAft>
                <a:spcPts val="500"/>
              </a:spcAft>
              <a:buSzPct val="100000"/>
              <a:buChar char="•"/>
            </a:pPr>
            <a:r>
              <a:rPr lang="it-IT" sz="1100" dirty="0"/>
              <a:t>The </a:t>
            </a:r>
            <a:r>
              <a:rPr lang="it-IT" sz="1100" dirty="0" err="1"/>
              <a:t>errors</a:t>
            </a:r>
            <a:r>
              <a:rPr lang="it-IT" sz="1100" dirty="0"/>
              <a:t> stem </a:t>
            </a:r>
            <a:r>
              <a:rPr lang="it-IT" sz="1100" dirty="0" err="1"/>
              <a:t>not</a:t>
            </a:r>
            <a:r>
              <a:rPr lang="it-IT" sz="1100" dirty="0"/>
              <a:t> from </a:t>
            </a:r>
            <a:r>
              <a:rPr lang="it-IT" sz="1100" dirty="0" err="1"/>
              <a:t>unusual</a:t>
            </a:r>
            <a:r>
              <a:rPr lang="it-IT" sz="1100" dirty="0"/>
              <a:t> </a:t>
            </a:r>
            <a:r>
              <a:rPr lang="it-IT" sz="1100" dirty="0" err="1"/>
              <a:t>intrinsic</a:t>
            </a:r>
            <a:r>
              <a:rPr lang="it-IT" sz="1100" dirty="0"/>
              <a:t> features, </a:t>
            </a:r>
            <a:r>
              <a:rPr lang="it-IT" sz="1100" dirty="0" err="1"/>
              <a:t>but</a:t>
            </a:r>
            <a:r>
              <a:rPr lang="it-IT" sz="1100" dirty="0"/>
              <a:t> from the </a:t>
            </a:r>
            <a:r>
              <a:rPr lang="it-IT" sz="1100" dirty="0" err="1"/>
              <a:t>absence</a:t>
            </a:r>
            <a:r>
              <a:rPr lang="it-IT" sz="1100" dirty="0"/>
              <a:t> of </a:t>
            </a:r>
            <a:r>
              <a:rPr lang="it-IT" sz="1100" dirty="0" err="1"/>
              <a:t>extrinsic</a:t>
            </a:r>
            <a:r>
              <a:rPr lang="it-IT" sz="1100" dirty="0"/>
              <a:t> data. The model </a:t>
            </a:r>
            <a:r>
              <a:rPr lang="it-IT" sz="1100" dirty="0" err="1"/>
              <a:t>cannot</a:t>
            </a:r>
            <a:r>
              <a:rPr lang="it-IT" sz="1100" dirty="0"/>
              <a:t> </a:t>
            </a:r>
            <a:r>
              <a:rPr lang="it-IT" sz="1100" dirty="0" err="1"/>
              <a:t>see</a:t>
            </a:r>
            <a:r>
              <a:rPr lang="it-IT" sz="1100" dirty="0"/>
              <a:t> </a:t>
            </a:r>
            <a:r>
              <a:rPr lang="it-IT" sz="1100" dirty="0" err="1"/>
              <a:t>unmodeled</a:t>
            </a:r>
            <a:r>
              <a:rPr lang="it-IT" sz="1100" dirty="0"/>
              <a:t> </a:t>
            </a:r>
            <a:r>
              <a:rPr lang="it-IT" sz="1100" dirty="0" err="1"/>
              <a:t>external</a:t>
            </a:r>
            <a:r>
              <a:rPr lang="it-IT" sz="1100" dirty="0"/>
              <a:t> market </a:t>
            </a:r>
            <a:r>
              <a:rPr lang="it-IT" sz="1100" dirty="0" err="1"/>
              <a:t>forces</a:t>
            </a:r>
            <a:r>
              <a:rPr lang="it-IT" sz="1100" dirty="0"/>
              <a:t> like marketing budgets, streamer adoption, or </a:t>
            </a:r>
            <a:r>
              <a:rPr lang="it-IT" sz="1100" dirty="0" err="1"/>
              <a:t>viral</a:t>
            </a:r>
            <a:r>
              <a:rPr lang="it-IT" sz="1100" dirty="0"/>
              <a:t> </a:t>
            </a:r>
            <a:r>
              <a:rPr lang="it-IT" sz="1100" dirty="0" err="1"/>
              <a:t>momentum</a:t>
            </a:r>
            <a:endParaRPr lang="it-IT" sz="1100" dirty="0"/>
          </a:p>
          <a:p>
            <a:pPr marL="342900" indent="-342900">
              <a:spcAft>
                <a:spcPts val="500"/>
              </a:spcAft>
              <a:buSzPct val="100000"/>
              <a:buChar char="•"/>
            </a:pPr>
            <a:r>
              <a:rPr lang="it-IT" sz="1100" dirty="0"/>
              <a:t>SHAP and LIME plots </a:t>
            </a:r>
            <a:r>
              <a:rPr lang="it-IT" sz="1100" dirty="0" err="1"/>
              <a:t>reveal</a:t>
            </a:r>
            <a:r>
              <a:rPr lang="it-IT" sz="1100" dirty="0"/>
              <a:t> </a:t>
            </a:r>
            <a:r>
              <a:rPr lang="it-IT" sz="1100" dirty="0" err="1"/>
              <a:t>that</a:t>
            </a:r>
            <a:r>
              <a:rPr lang="it-IT" sz="1100" dirty="0"/>
              <a:t> </a:t>
            </a:r>
            <a:r>
              <a:rPr lang="it-IT" sz="1100" dirty="0" err="1"/>
              <a:t>fundamentally</a:t>
            </a:r>
            <a:r>
              <a:rPr lang="it-IT" sz="1100" dirty="0"/>
              <a:t> </a:t>
            </a:r>
            <a:r>
              <a:rPr lang="it-IT" sz="1100" dirty="0" err="1"/>
              <a:t>identical</a:t>
            </a:r>
            <a:r>
              <a:rPr lang="it-IT" sz="1100" dirty="0"/>
              <a:t> games </a:t>
            </a:r>
            <a:r>
              <a:rPr lang="it-IT" sz="1100" dirty="0" err="1"/>
              <a:t>based</a:t>
            </a:r>
            <a:r>
              <a:rPr lang="it-IT" sz="1100" dirty="0"/>
              <a:t> on day-zero metadata (e.g. RAM </a:t>
            </a:r>
            <a:r>
              <a:rPr lang="it-IT" sz="1100" dirty="0" err="1"/>
              <a:t>requirements</a:t>
            </a:r>
            <a:r>
              <a:rPr lang="it-IT" sz="1100" dirty="0"/>
              <a:t>, </a:t>
            </a:r>
            <a:r>
              <a:rPr lang="it-IT" sz="1100" dirty="0" err="1"/>
              <a:t>textual</a:t>
            </a:r>
            <a:r>
              <a:rPr lang="it-IT" sz="1100" dirty="0"/>
              <a:t> </a:t>
            </a:r>
            <a:r>
              <a:rPr lang="it-IT" sz="1100" dirty="0" err="1"/>
              <a:t>descriptions</a:t>
            </a:r>
            <a:r>
              <a:rPr lang="it-IT" sz="1100" dirty="0"/>
              <a:t> and </a:t>
            </a:r>
            <a:r>
              <a:rPr lang="it-IT" sz="1100" dirty="0" err="1"/>
              <a:t>genres</a:t>
            </a:r>
            <a:r>
              <a:rPr lang="it-IT" sz="1100" dirty="0"/>
              <a:t>) can </a:t>
            </a:r>
            <a:r>
              <a:rPr lang="it-IT" sz="1100" dirty="0" err="1"/>
              <a:t>have</a:t>
            </a:r>
            <a:r>
              <a:rPr lang="it-IT" sz="1100" dirty="0"/>
              <a:t> </a:t>
            </a:r>
            <a:r>
              <a:rPr lang="it-IT" sz="1100" dirty="0" err="1"/>
              <a:t>drastically</a:t>
            </a:r>
            <a:r>
              <a:rPr lang="it-IT" sz="1100" dirty="0"/>
              <a:t> </a:t>
            </a:r>
            <a:r>
              <a:rPr lang="it-IT" sz="1100" dirty="0" err="1"/>
              <a:t>different</a:t>
            </a:r>
            <a:r>
              <a:rPr lang="it-IT" sz="1100" dirty="0"/>
              <a:t> </a:t>
            </a:r>
            <a:r>
              <a:rPr lang="it-IT" sz="1100" dirty="0" err="1"/>
              <a:t>real</a:t>
            </a:r>
            <a:r>
              <a:rPr lang="it-IT" sz="1100" dirty="0"/>
              <a:t>-world </a:t>
            </a:r>
            <a:r>
              <a:rPr lang="it-IT" sz="1100" dirty="0" err="1"/>
              <a:t>outcomes</a:t>
            </a:r>
            <a:r>
              <a:rPr lang="it-IT" sz="1100" dirty="0"/>
              <a:t> </a:t>
            </a:r>
            <a:r>
              <a:rPr lang="it-IT" sz="1100" dirty="0" err="1"/>
              <a:t>if</a:t>
            </a:r>
            <a:r>
              <a:rPr lang="it-IT" sz="1100" dirty="0"/>
              <a:t> one </a:t>
            </a:r>
            <a:r>
              <a:rPr lang="it-IT" sz="1100" dirty="0" err="1"/>
              <a:t>goes</a:t>
            </a:r>
            <a:r>
              <a:rPr lang="it-IT" sz="1100" dirty="0"/>
              <a:t> </a:t>
            </a:r>
            <a:r>
              <a:rPr lang="it-IT" sz="1100" dirty="0" err="1"/>
              <a:t>viral</a:t>
            </a:r>
            <a:r>
              <a:rPr lang="it-IT" sz="1100" dirty="0"/>
              <a:t>, making </a:t>
            </a:r>
            <a:r>
              <a:rPr lang="it-IT" sz="1100" dirty="0" err="1"/>
              <a:t>them</a:t>
            </a:r>
            <a:r>
              <a:rPr lang="it-IT" sz="1100" dirty="0"/>
              <a:t> </a:t>
            </a:r>
            <a:r>
              <a:rPr lang="it-IT" sz="1100" dirty="0" err="1"/>
              <a:t>mathematically</a:t>
            </a:r>
            <a:r>
              <a:rPr lang="it-IT" sz="1100" dirty="0"/>
              <a:t> </a:t>
            </a:r>
            <a:r>
              <a:rPr lang="it-IT" sz="1100" dirty="0" err="1"/>
              <a:t>indistinguishable</a:t>
            </a:r>
            <a:r>
              <a:rPr lang="it-IT" sz="1100" dirty="0"/>
              <a:t> in </a:t>
            </a:r>
            <a:r>
              <a:rPr lang="it-IT" sz="1100" dirty="0" err="1"/>
              <a:t>this</a:t>
            </a:r>
            <a:r>
              <a:rPr lang="it-IT" sz="1100" dirty="0"/>
              <a:t> </a:t>
            </a:r>
            <a:r>
              <a:rPr lang="it-IT" sz="1100" dirty="0" err="1"/>
              <a:t>latent</a:t>
            </a:r>
            <a:r>
              <a:rPr lang="it-IT" sz="1100" dirty="0"/>
              <a:t> </a:t>
            </a:r>
            <a:r>
              <a:rPr lang="it-IT" sz="1100" dirty="0" err="1"/>
              <a:t>space</a:t>
            </a:r>
            <a:endParaRPr lang="it-IT"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The most important fail: pre-release model struggles to differentiate between mid-tier games (e.g., Tier 2 vs Tier 3)</a:t>
            </a:r>
            <a:endParaRPr lang="en-US" sz="1100" dirty="0"/>
          </a:p>
        </p:txBody>
      </p:sp>
      <p:pic>
        <p:nvPicPr>
          <p:cNvPr id="14" name="Immagine 13">
            <a:extLst>
              <a:ext uri="{FF2B5EF4-FFF2-40B4-BE49-F238E27FC236}">
                <a16:creationId xmlns:a16="http://schemas.microsoft.com/office/drawing/2014/main" id="{CEAA4913-1413-FB7D-8258-D9875FB21250}"/>
              </a:ext>
            </a:extLst>
          </p:cNvPr>
          <p:cNvPicPr>
            <a:picLocks noChangeAspect="1"/>
          </p:cNvPicPr>
          <p:nvPr/>
        </p:nvPicPr>
        <p:blipFill>
          <a:blip r:embed="rId3"/>
          <a:stretch>
            <a:fillRect/>
          </a:stretch>
        </p:blipFill>
        <p:spPr>
          <a:xfrm>
            <a:off x="411480" y="1278770"/>
            <a:ext cx="3717388" cy="2788041"/>
          </a:xfrm>
          <a:prstGeom prst="rect">
            <a:avLst/>
          </a:prstGeom>
        </p:spPr>
      </p:pic>
      <p:sp>
        <p:nvSpPr>
          <p:cNvPr id="15" name="Rettangolo 14">
            <a:extLst>
              <a:ext uri="{FF2B5EF4-FFF2-40B4-BE49-F238E27FC236}">
                <a16:creationId xmlns:a16="http://schemas.microsoft.com/office/drawing/2014/main" id="{8632FFA8-D0B4-B4E8-1C9E-59B6C0DD9C5C}"/>
              </a:ext>
            </a:extLst>
          </p:cNvPr>
          <p:cNvSpPr/>
          <p:nvPr/>
        </p:nvSpPr>
        <p:spPr>
          <a:xfrm>
            <a:off x="2032782" y="2866644"/>
            <a:ext cx="858129" cy="47443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6" name="Rettangolo 15">
            <a:extLst>
              <a:ext uri="{FF2B5EF4-FFF2-40B4-BE49-F238E27FC236}">
                <a16:creationId xmlns:a16="http://schemas.microsoft.com/office/drawing/2014/main" id="{11C47E5D-A640-936C-49EE-F90C9BD02F41}"/>
              </a:ext>
            </a:extLst>
          </p:cNvPr>
          <p:cNvSpPr/>
          <p:nvPr/>
        </p:nvSpPr>
        <p:spPr>
          <a:xfrm>
            <a:off x="1097280" y="1969477"/>
            <a:ext cx="935502" cy="45016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8" name="CasellaDiTesto 17">
            <a:extLst>
              <a:ext uri="{FF2B5EF4-FFF2-40B4-BE49-F238E27FC236}">
                <a16:creationId xmlns:a16="http://schemas.microsoft.com/office/drawing/2014/main" id="{1822B02A-49BE-02E4-600F-7DF1523E05AC}"/>
              </a:ext>
            </a:extLst>
          </p:cNvPr>
          <p:cNvSpPr txBox="1"/>
          <p:nvPr/>
        </p:nvSpPr>
        <p:spPr>
          <a:xfrm>
            <a:off x="1112212" y="1248124"/>
            <a:ext cx="2189295" cy="230832"/>
          </a:xfrm>
          <a:prstGeom prst="rect">
            <a:avLst/>
          </a:prstGeom>
          <a:solidFill>
            <a:srgbClr val="0070C0"/>
          </a:solidFill>
          <a:ln>
            <a:solidFill>
              <a:schemeClr val="bg1"/>
            </a:solidFill>
          </a:ln>
        </p:spPr>
        <p:txBody>
          <a:bodyPr wrap="square" rtlCol="0">
            <a:spAutoFit/>
          </a:bodyPr>
          <a:lstStyle/>
          <a:p>
            <a:pPr algn="ctr"/>
            <a:r>
              <a:rPr lang="it-IT" sz="900" dirty="0" err="1">
                <a:solidFill>
                  <a:schemeClr val="bg1"/>
                </a:solidFill>
              </a:rPr>
              <a:t>XGBoost</a:t>
            </a:r>
            <a:r>
              <a:rPr lang="it-IT" sz="900" dirty="0">
                <a:solidFill>
                  <a:schemeClr val="bg1"/>
                </a:solidFill>
              </a:rPr>
              <a:t> </a:t>
            </a:r>
            <a:r>
              <a:rPr lang="it-IT" sz="900" dirty="0" err="1">
                <a:solidFill>
                  <a:schemeClr val="bg1"/>
                </a:solidFill>
              </a:rPr>
              <a:t>confusion</a:t>
            </a:r>
            <a:r>
              <a:rPr lang="it-IT" sz="900" dirty="0">
                <a:solidFill>
                  <a:schemeClr val="bg1"/>
                </a:solidFill>
              </a:rPr>
              <a:t> </a:t>
            </a:r>
            <a:r>
              <a:rPr lang="it-IT" sz="900" dirty="0" err="1">
                <a:solidFill>
                  <a:schemeClr val="bg1"/>
                </a:solidFill>
              </a:rPr>
              <a:t>matrix</a:t>
            </a:r>
            <a:r>
              <a:rPr lang="it-IT" sz="900" dirty="0">
                <a:solidFill>
                  <a:schemeClr val="bg1"/>
                </a:solidFill>
              </a:rPr>
              <a:t> </a:t>
            </a:r>
            <a:r>
              <a:rPr lang="it-IT" sz="900" dirty="0" err="1">
                <a:solidFill>
                  <a:schemeClr val="bg1"/>
                </a:solidFill>
              </a:rPr>
              <a:t>pre</a:t>
            </a:r>
            <a:r>
              <a:rPr lang="it-IT" sz="900" dirty="0">
                <a:solidFill>
                  <a:schemeClr val="bg1"/>
                </a:solidFill>
              </a:rPr>
              <a:t>-release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750" b="1" kern="0" spc="150" dirty="0">
                <a:solidFill>
                  <a:srgbClr val="FFFFFF"/>
                </a:solidFill>
              </a:rPr>
              <a:t>CRITICAL DISCUSSION</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Domain Impact, Limitations &amp; Future Directions</a:t>
            </a:r>
            <a:endParaRPr lang="en-US" sz="2400" dirty="0"/>
          </a:p>
        </p:txBody>
      </p:sp>
      <p:sp>
        <p:nvSpPr>
          <p:cNvPr id="5" name="Shape 3"/>
          <p:cNvSpPr/>
          <p:nvPr/>
        </p:nvSpPr>
        <p:spPr>
          <a:xfrm>
            <a:off x="411480" y="1170432"/>
            <a:ext cx="265176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6" name="Shape 4"/>
          <p:cNvSpPr/>
          <p:nvPr/>
        </p:nvSpPr>
        <p:spPr>
          <a:xfrm>
            <a:off x="411480" y="1170432"/>
            <a:ext cx="2651760" cy="384048"/>
          </a:xfrm>
          <a:prstGeom prst="roundRect">
            <a:avLst>
              <a:gd name="adj" fmla="val 23810"/>
            </a:avLst>
          </a:prstGeom>
          <a:solidFill>
            <a:srgbClr val="008F84"/>
          </a:solidFill>
          <a:ln w="12700">
            <a:solidFill>
              <a:srgbClr val="008F84"/>
            </a:solidFill>
            <a:prstDash val="solid"/>
          </a:ln>
        </p:spPr>
        <p:txBody>
          <a:bodyPr/>
          <a:lstStyle/>
          <a:p>
            <a:endParaRPr lang="it-IT"/>
          </a:p>
        </p:txBody>
      </p:sp>
      <p:sp>
        <p:nvSpPr>
          <p:cNvPr id="7" name="Shape 5"/>
          <p:cNvSpPr/>
          <p:nvPr/>
        </p:nvSpPr>
        <p:spPr>
          <a:xfrm>
            <a:off x="411480" y="1417320"/>
            <a:ext cx="2651760" cy="137160"/>
          </a:xfrm>
          <a:prstGeom prst="rect">
            <a:avLst/>
          </a:prstGeom>
          <a:solidFill>
            <a:srgbClr val="008F84"/>
          </a:solidFill>
          <a:ln w="12700">
            <a:solidFill>
              <a:srgbClr val="008F84"/>
            </a:solidFill>
            <a:prstDash val="solid"/>
          </a:ln>
        </p:spPr>
        <p:txBody>
          <a:bodyPr/>
          <a:lstStyle/>
          <a:p>
            <a:endParaRPr lang="it-IT"/>
          </a:p>
        </p:txBody>
      </p:sp>
      <p:sp>
        <p:nvSpPr>
          <p:cNvPr id="8" name="Text 6"/>
          <p:cNvSpPr/>
          <p:nvPr/>
        </p:nvSpPr>
        <p:spPr>
          <a:xfrm>
            <a:off x="52120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Domain Impact</a:t>
            </a:r>
            <a:endParaRPr lang="en-US" sz="1150" dirty="0"/>
          </a:p>
        </p:txBody>
      </p:sp>
      <p:sp>
        <p:nvSpPr>
          <p:cNvPr id="9" name="Text 7"/>
          <p:cNvSpPr/>
          <p:nvPr/>
        </p:nvSpPr>
        <p:spPr>
          <a:xfrm>
            <a:off x="539496" y="1627632"/>
            <a:ext cx="2377440" cy="29260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E293B"/>
                </a:solidFill>
                <a:ea typeface="Calibri" pitchFamily="34" charset="-122"/>
                <a:cs typeface="Calibri" pitchFamily="34" charset="-120"/>
              </a:rPr>
              <a:t>This system can be used as a forecasting tool to equip independent developers and publishers with data-driven decision capabilities prior to capital allocation</a:t>
            </a:r>
            <a:endParaRPr lang="en-US" sz="1050" dirty="0"/>
          </a:p>
          <a:p>
            <a:pPr marL="342900" indent="-342900">
              <a:spcAft>
                <a:spcPts val="500"/>
              </a:spcAft>
              <a:buSzPct val="100000"/>
              <a:buChar char="•"/>
            </a:pPr>
            <a:r>
              <a:rPr lang="en-US" sz="1050" dirty="0">
                <a:solidFill>
                  <a:srgbClr val="1E293B"/>
                </a:solidFill>
                <a:ea typeface="Calibri" pitchFamily="34" charset="-122"/>
                <a:cs typeface="Calibri" pitchFamily="34" charset="-120"/>
              </a:rPr>
              <a:t>It supports targeted 'what-if' analyses during pre-production, allowing developers to adjust game design thanks to textual descriptions, localization, and pricing strategies to elevate their prototype's tier</a:t>
            </a:r>
          </a:p>
          <a:p>
            <a:pPr marL="342900" indent="-342900">
              <a:spcAft>
                <a:spcPts val="500"/>
              </a:spcAft>
              <a:buSzPct val="100000"/>
              <a:buChar char="•"/>
            </a:pPr>
            <a:r>
              <a:rPr lang="en-US" sz="1050" dirty="0">
                <a:solidFill>
                  <a:srgbClr val="1E293B"/>
                </a:solidFill>
                <a:ea typeface="Calibri" pitchFamily="34" charset="-122"/>
                <a:cs typeface="Calibri" pitchFamily="34" charset="-120"/>
              </a:rPr>
              <a:t>Human oversight is required to contextualize predictions with external macroeconomic signals (</a:t>
            </a:r>
            <a:r>
              <a:rPr lang="en-US" sz="1050" dirty="0" err="1">
                <a:solidFill>
                  <a:srgbClr val="1E293B"/>
                </a:solidFill>
                <a:ea typeface="Calibri" pitchFamily="34" charset="-122"/>
                <a:cs typeface="Calibri" pitchFamily="34" charset="-120"/>
              </a:rPr>
              <a:t>e.g</a:t>
            </a:r>
            <a:r>
              <a:rPr lang="en-US" sz="1050" dirty="0">
                <a:solidFill>
                  <a:srgbClr val="1E293B"/>
                </a:solidFill>
                <a:ea typeface="Calibri" pitchFamily="34" charset="-122"/>
                <a:cs typeface="Calibri" pitchFamily="34" charset="-120"/>
              </a:rPr>
              <a:t>, social media trends) that the model cannot observe. Predicting a long-tail failure as a major hit leads to financial misallocation for publishers</a:t>
            </a:r>
          </a:p>
        </p:txBody>
      </p:sp>
      <p:sp>
        <p:nvSpPr>
          <p:cNvPr id="10" name="Shape 8"/>
          <p:cNvSpPr/>
          <p:nvPr/>
        </p:nvSpPr>
        <p:spPr>
          <a:xfrm>
            <a:off x="3246120" y="1170432"/>
            <a:ext cx="265176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1" name="Shape 9"/>
          <p:cNvSpPr/>
          <p:nvPr/>
        </p:nvSpPr>
        <p:spPr>
          <a:xfrm>
            <a:off x="3246120" y="1170432"/>
            <a:ext cx="2651760" cy="384048"/>
          </a:xfrm>
          <a:prstGeom prst="roundRect">
            <a:avLst>
              <a:gd name="adj" fmla="val 23810"/>
            </a:avLst>
          </a:prstGeom>
          <a:solidFill>
            <a:srgbClr val="C0392B"/>
          </a:solidFill>
          <a:ln w="12700">
            <a:solidFill>
              <a:srgbClr val="C0392B"/>
            </a:solidFill>
            <a:prstDash val="solid"/>
          </a:ln>
        </p:spPr>
        <p:txBody>
          <a:bodyPr/>
          <a:lstStyle/>
          <a:p>
            <a:endParaRPr lang="it-IT"/>
          </a:p>
        </p:txBody>
      </p:sp>
      <p:sp>
        <p:nvSpPr>
          <p:cNvPr id="12" name="Shape 10"/>
          <p:cNvSpPr/>
          <p:nvPr/>
        </p:nvSpPr>
        <p:spPr>
          <a:xfrm>
            <a:off x="3246120" y="1417320"/>
            <a:ext cx="2651760" cy="137160"/>
          </a:xfrm>
          <a:prstGeom prst="rect">
            <a:avLst/>
          </a:prstGeom>
          <a:solidFill>
            <a:srgbClr val="C0392B"/>
          </a:solidFill>
          <a:ln w="12700">
            <a:solidFill>
              <a:srgbClr val="C0392B"/>
            </a:solidFill>
            <a:prstDash val="solid"/>
          </a:ln>
        </p:spPr>
        <p:txBody>
          <a:bodyPr/>
          <a:lstStyle/>
          <a:p>
            <a:endParaRPr lang="it-IT"/>
          </a:p>
        </p:txBody>
      </p:sp>
      <p:sp>
        <p:nvSpPr>
          <p:cNvPr id="13" name="Text 11"/>
          <p:cNvSpPr/>
          <p:nvPr/>
        </p:nvSpPr>
        <p:spPr>
          <a:xfrm>
            <a:off x="335584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Limitations</a:t>
            </a:r>
            <a:endParaRPr lang="en-US" sz="1150" dirty="0"/>
          </a:p>
        </p:txBody>
      </p:sp>
      <p:sp>
        <p:nvSpPr>
          <p:cNvPr id="14" name="Text 12"/>
          <p:cNvSpPr/>
          <p:nvPr/>
        </p:nvSpPr>
        <p:spPr>
          <a:xfrm>
            <a:off x="3381170" y="1627632"/>
            <a:ext cx="2377440" cy="29260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E293B"/>
                </a:solidFill>
                <a:latin typeface="Calibri" pitchFamily="34" charset="0"/>
                <a:ea typeface="Calibri" pitchFamily="34" charset="-122"/>
                <a:cs typeface="Calibri" pitchFamily="34" charset="-120"/>
              </a:rPr>
              <a:t>The dataset reflects an extreme power-law distribution where over 69% of games reside in the lowest adoption bracket, requiring aggressive dynamic </a:t>
            </a:r>
            <a:r>
              <a:rPr lang="en-US" sz="1050" dirty="0" err="1">
                <a:solidFill>
                  <a:srgbClr val="1E293B"/>
                </a:solidFill>
                <a:latin typeface="Calibri" pitchFamily="34" charset="0"/>
                <a:ea typeface="Calibri" pitchFamily="34" charset="-122"/>
                <a:cs typeface="Calibri" pitchFamily="34" charset="-120"/>
              </a:rPr>
              <a:t>undersampling</a:t>
            </a:r>
            <a:r>
              <a:rPr lang="en-US" sz="1050" dirty="0">
                <a:solidFill>
                  <a:srgbClr val="1E293B"/>
                </a:solidFill>
                <a:latin typeface="Calibri" pitchFamily="34" charset="0"/>
                <a:ea typeface="Calibri" pitchFamily="34" charset="-122"/>
                <a:cs typeface="Calibri" pitchFamily="34" charset="-120"/>
              </a:rPr>
              <a:t> and SMOTENC</a:t>
            </a:r>
          </a:p>
          <a:p>
            <a:pPr marL="342900" indent="-342900">
              <a:spcAft>
                <a:spcPts val="500"/>
              </a:spcAft>
              <a:buSzPct val="100000"/>
              <a:buChar char="•"/>
            </a:pPr>
            <a:r>
              <a:rPr lang="en-US" sz="1050" dirty="0">
                <a:solidFill>
                  <a:srgbClr val="1E293B"/>
                </a:solidFill>
                <a:latin typeface="Calibri" pitchFamily="34" charset="0"/>
                <a:ea typeface="Calibri" pitchFamily="34" charset="-122"/>
                <a:cs typeface="Calibri" pitchFamily="34" charset="-120"/>
              </a:rPr>
              <a:t>Extrinsic macroeconomic signals, marketing budget allocations, viral social media momentum, and streamer adoption rates are fundamentally missing</a:t>
            </a:r>
          </a:p>
          <a:p>
            <a:pPr marL="342900" indent="-342900">
              <a:spcAft>
                <a:spcPts val="500"/>
              </a:spcAft>
              <a:buSzPct val="100000"/>
              <a:buChar char="•"/>
            </a:pPr>
            <a:r>
              <a:rPr lang="en-US" sz="1050" dirty="0">
                <a:solidFill>
                  <a:srgbClr val="1E293B"/>
                </a:solidFill>
                <a:latin typeface="Calibri" pitchFamily="34" charset="0"/>
                <a:ea typeface="Calibri" pitchFamily="34" charset="-122"/>
                <a:cs typeface="Calibri" pitchFamily="34" charset="-120"/>
              </a:rPr>
              <a:t>Evaluation limitations: The non-parametric statistical significance testing (Wilcoxon) was mathematically underpowered and constrained by the limited sample size of the outer cross-validation (N=5 folds)</a:t>
            </a:r>
            <a:endParaRPr lang="en-US" sz="1050" dirty="0"/>
          </a:p>
        </p:txBody>
      </p:sp>
      <p:sp>
        <p:nvSpPr>
          <p:cNvPr id="15" name="Shape 13"/>
          <p:cNvSpPr/>
          <p:nvPr/>
        </p:nvSpPr>
        <p:spPr>
          <a:xfrm>
            <a:off x="6080760" y="1170432"/>
            <a:ext cx="265176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6" name="Shape 14"/>
          <p:cNvSpPr/>
          <p:nvPr/>
        </p:nvSpPr>
        <p:spPr>
          <a:xfrm>
            <a:off x="6080760" y="1170432"/>
            <a:ext cx="2651760" cy="384048"/>
          </a:xfrm>
          <a:prstGeom prst="roundRect">
            <a:avLst>
              <a:gd name="adj" fmla="val 23810"/>
            </a:avLst>
          </a:prstGeom>
          <a:solidFill>
            <a:srgbClr val="5C6BC0"/>
          </a:solidFill>
          <a:ln w="12700">
            <a:solidFill>
              <a:srgbClr val="5C6BC0"/>
            </a:solidFill>
            <a:prstDash val="solid"/>
          </a:ln>
        </p:spPr>
        <p:txBody>
          <a:bodyPr/>
          <a:lstStyle/>
          <a:p>
            <a:endParaRPr lang="it-IT"/>
          </a:p>
        </p:txBody>
      </p:sp>
      <p:sp>
        <p:nvSpPr>
          <p:cNvPr id="17" name="Shape 15"/>
          <p:cNvSpPr/>
          <p:nvPr/>
        </p:nvSpPr>
        <p:spPr>
          <a:xfrm>
            <a:off x="6080760" y="1417320"/>
            <a:ext cx="2651760" cy="137160"/>
          </a:xfrm>
          <a:prstGeom prst="rect">
            <a:avLst/>
          </a:prstGeom>
          <a:solidFill>
            <a:srgbClr val="5C6BC0"/>
          </a:solidFill>
          <a:ln w="12700">
            <a:solidFill>
              <a:srgbClr val="5C6BC0"/>
            </a:solidFill>
            <a:prstDash val="solid"/>
          </a:ln>
        </p:spPr>
        <p:txBody>
          <a:bodyPr/>
          <a:lstStyle/>
          <a:p>
            <a:endParaRPr lang="it-IT"/>
          </a:p>
        </p:txBody>
      </p:sp>
      <p:sp>
        <p:nvSpPr>
          <p:cNvPr id="18" name="Text 16"/>
          <p:cNvSpPr/>
          <p:nvPr/>
        </p:nvSpPr>
        <p:spPr>
          <a:xfrm>
            <a:off x="619048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Future Directions</a:t>
            </a:r>
            <a:endParaRPr lang="en-US" sz="1150" dirty="0"/>
          </a:p>
        </p:txBody>
      </p:sp>
      <p:sp>
        <p:nvSpPr>
          <p:cNvPr id="19" name="Text 17"/>
          <p:cNvSpPr/>
          <p:nvPr/>
        </p:nvSpPr>
        <p:spPr>
          <a:xfrm>
            <a:off x="6208776" y="1627632"/>
            <a:ext cx="2377440" cy="29260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E293B"/>
                </a:solidFill>
                <a:latin typeface="Calibri" pitchFamily="34" charset="0"/>
                <a:ea typeface="Calibri" pitchFamily="34" charset="-122"/>
                <a:cs typeface="Calibri" pitchFamily="34" charset="-120"/>
              </a:rPr>
              <a:t>Implementing an auxiliary regression pipeline to predict community Approval Rating (</a:t>
            </a:r>
            <a:r>
              <a:rPr lang="en-US" sz="1050" dirty="0" err="1">
                <a:solidFill>
                  <a:srgbClr val="1E293B"/>
                </a:solidFill>
                <a:latin typeface="Calibri" pitchFamily="34" charset="0"/>
                <a:ea typeface="Calibri" pitchFamily="34" charset="-122"/>
                <a:cs typeface="Calibri" pitchFamily="34" charset="-120"/>
              </a:rPr>
              <a:t>review_ratio</a:t>
            </a:r>
            <a:r>
              <a:rPr lang="en-US" sz="1050" dirty="0">
                <a:solidFill>
                  <a:srgbClr val="1E293B"/>
                </a:solidFill>
                <a:latin typeface="Calibri" pitchFamily="34" charset="0"/>
                <a:ea typeface="Calibri" pitchFamily="34" charset="-122"/>
                <a:cs typeface="Calibri" pitchFamily="34" charset="-120"/>
              </a:rPr>
              <a:t>)</a:t>
            </a:r>
          </a:p>
          <a:p>
            <a:pPr marL="342900" indent="-342900">
              <a:spcAft>
                <a:spcPts val="500"/>
              </a:spcAft>
              <a:buSzPct val="100000"/>
              <a:buChar char="•"/>
            </a:pPr>
            <a:r>
              <a:rPr lang="en-US" sz="1050" dirty="0">
                <a:solidFill>
                  <a:srgbClr val="1E293B"/>
                </a:solidFill>
                <a:latin typeface="Calibri" pitchFamily="34" charset="0"/>
                <a:ea typeface="Calibri" pitchFamily="34" charset="-122"/>
                <a:cs typeface="Calibri" pitchFamily="34" charset="-120"/>
              </a:rPr>
              <a:t>Developing a 2D Market Fit Matrix projecting prototypes across Volume (X-Axis) and Sentiment (Y-Axis) to visually identify Niche Critical Darlings vs. High-Risk Flops</a:t>
            </a:r>
          </a:p>
          <a:p>
            <a:pPr marL="342900" indent="-342900">
              <a:spcAft>
                <a:spcPts val="500"/>
              </a:spcAft>
              <a:buSzPct val="100000"/>
              <a:buChar char="•"/>
            </a:pPr>
            <a:r>
              <a:rPr lang="en-US" sz="1050" dirty="0">
                <a:solidFill>
                  <a:srgbClr val="1E293B"/>
                </a:solidFill>
                <a:latin typeface="Calibri" pitchFamily="34" charset="0"/>
                <a:ea typeface="Calibri" pitchFamily="34" charset="-122"/>
                <a:cs typeface="Calibri" pitchFamily="34" charset="-120"/>
              </a:rPr>
              <a:t>Multi-Modal Expansion incorporating deep architectures like CNNs for analyzing promotional screenshots and sequence models for gameplay trailer aesthetics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822960"/>
            <a:ext cx="8321040" cy="82296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411480" y="1719776"/>
            <a:ext cx="8321040" cy="274320"/>
          </a:xfrm>
          <a:prstGeom prst="rect">
            <a:avLst/>
          </a:prstGeom>
          <a:noFill/>
          <a:ln/>
        </p:spPr>
        <p:txBody>
          <a:bodyPr wrap="square" lIns="0" tIns="0" rIns="0" bIns="0" rtlCol="0" anchor="ctr"/>
          <a:lstStyle/>
          <a:p>
            <a:pPr marL="0" indent="0">
              <a:buNone/>
            </a:pPr>
            <a:r>
              <a:rPr lang="en-US" sz="1250" b="1" dirty="0">
                <a:solidFill>
                  <a:srgbClr val="00B4A6"/>
                </a:solidFill>
                <a:latin typeface="Calibri" pitchFamily="34" charset="0"/>
                <a:ea typeface="Calibri" pitchFamily="34" charset="-122"/>
                <a:cs typeface="Calibri" pitchFamily="34" charset="-120"/>
              </a:rPr>
              <a:t>Conclusions:</a:t>
            </a:r>
            <a:endParaRPr lang="en-US" sz="1250" dirty="0"/>
          </a:p>
        </p:txBody>
      </p:sp>
      <p:sp>
        <p:nvSpPr>
          <p:cNvPr id="5" name="Text 3"/>
          <p:cNvSpPr/>
          <p:nvPr/>
        </p:nvSpPr>
        <p:spPr>
          <a:xfrm>
            <a:off x="411480" y="2029264"/>
            <a:ext cx="8321040" cy="14630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The </a:t>
            </a:r>
            <a:r>
              <a:rPr lang="en-US" sz="1200" dirty="0" err="1">
                <a:solidFill>
                  <a:srgbClr val="FFFFFF"/>
                </a:solidFill>
                <a:latin typeface="Calibri" pitchFamily="34" charset="0"/>
                <a:ea typeface="Calibri" pitchFamily="34" charset="-122"/>
                <a:cs typeface="Calibri" pitchFamily="34" charset="-120"/>
              </a:rPr>
              <a:t>HitPredictor</a:t>
            </a:r>
            <a:r>
              <a:rPr lang="en-US" sz="1200" dirty="0">
                <a:solidFill>
                  <a:srgbClr val="FFFFFF"/>
                </a:solidFill>
                <a:latin typeface="Calibri" pitchFamily="34" charset="0"/>
                <a:ea typeface="Calibri" pitchFamily="34" charset="-122"/>
                <a:cs typeface="Calibri" pitchFamily="34" charset="-120"/>
              </a:rPr>
              <a:t>-Steam project successfully models the commercial trajectory of digital PC games using structured storefront metadata and post-release community engagement signals</a:t>
            </a:r>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An </a:t>
            </a:r>
            <a:r>
              <a:rPr lang="en-US" sz="1200" dirty="0" err="1">
                <a:solidFill>
                  <a:srgbClr val="FFFFFF"/>
                </a:solidFill>
                <a:latin typeface="Calibri" pitchFamily="34" charset="0"/>
                <a:ea typeface="Calibri" pitchFamily="34" charset="-122"/>
                <a:cs typeface="Calibri" pitchFamily="34" charset="-120"/>
              </a:rPr>
              <a:t>XGBoost</a:t>
            </a:r>
            <a:r>
              <a:rPr lang="en-US" sz="1200" dirty="0">
                <a:solidFill>
                  <a:srgbClr val="FFFFFF"/>
                </a:solidFill>
                <a:latin typeface="Calibri" pitchFamily="34" charset="0"/>
                <a:ea typeface="Calibri" pitchFamily="34" charset="-122"/>
                <a:cs typeface="Calibri" pitchFamily="34" charset="-120"/>
              </a:rPr>
              <a:t> ensemble, optimized via Bayesian </a:t>
            </a:r>
            <a:r>
              <a:rPr lang="en-US" sz="1200" dirty="0" err="1">
                <a:solidFill>
                  <a:srgbClr val="FFFFFF"/>
                </a:solidFill>
                <a:latin typeface="Calibri" pitchFamily="34" charset="0"/>
                <a:ea typeface="Calibri" pitchFamily="34" charset="-122"/>
                <a:cs typeface="Calibri" pitchFamily="34" charset="-120"/>
              </a:rPr>
              <a:t>Optuna</a:t>
            </a:r>
            <a:r>
              <a:rPr lang="en-US" sz="1200" dirty="0">
                <a:solidFill>
                  <a:srgbClr val="FFFFFF"/>
                </a:solidFill>
                <a:latin typeface="Calibri" pitchFamily="34" charset="0"/>
                <a:ea typeface="Calibri" pitchFamily="34" charset="-122"/>
                <a:cs typeface="Calibri" pitchFamily="34" charset="-120"/>
              </a:rPr>
              <a:t>, rigorously validated through a 5x3 Nested Cross-Validation framework to guarantee zero data leakage</a:t>
            </a:r>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Explainability revealed that lack of language support and low prices anchor games to Tier 0, and that classification noise is strictly confined to adjacent tiers due to unmodeled viral market forces</a:t>
            </a:r>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The model lacks visibility into external marketing momentum; future work will focus on a 2D Market Fit Matrix (Volume vs. Sentiment) and multi-modal expansion using deep learning for visual assets</a:t>
            </a:r>
            <a:endParaRPr lang="en-US" sz="1200" dirty="0"/>
          </a:p>
        </p:txBody>
      </p:sp>
      <p:sp>
        <p:nvSpPr>
          <p:cNvPr id="6" name="Shape 4"/>
          <p:cNvSpPr/>
          <p:nvPr/>
        </p:nvSpPr>
        <p:spPr>
          <a:xfrm>
            <a:off x="411480" y="3703320"/>
            <a:ext cx="8321040" cy="13716"/>
          </a:xfrm>
          <a:prstGeom prst="rect">
            <a:avLst/>
          </a:prstGeom>
          <a:solidFill>
            <a:srgbClr val="2E4A70"/>
          </a:solidFill>
          <a:ln w="12700">
            <a:solidFill>
              <a:srgbClr val="2E4A70"/>
            </a:solidFill>
            <a:prstDash val="solid"/>
          </a:ln>
        </p:spPr>
        <p:txBody>
          <a:bodyPr/>
          <a:lstStyle/>
          <a:p>
            <a:endParaRPr lang="it-IT"/>
          </a:p>
        </p:txBody>
      </p:sp>
      <p:sp>
        <p:nvSpPr>
          <p:cNvPr id="7" name="Text 5"/>
          <p:cNvSpPr/>
          <p:nvPr/>
        </p:nvSpPr>
        <p:spPr>
          <a:xfrm>
            <a:off x="411480" y="3928052"/>
            <a:ext cx="8321040" cy="256032"/>
          </a:xfrm>
          <a:prstGeom prst="rect">
            <a:avLst/>
          </a:prstGeom>
          <a:noFill/>
          <a:ln/>
        </p:spPr>
        <p:txBody>
          <a:bodyPr wrap="square" lIns="0" tIns="0" rIns="0" bIns="0" rtlCol="0" anchor="ctr"/>
          <a:lstStyle/>
          <a:p>
            <a:pPr marL="0" indent="0">
              <a:buNone/>
            </a:pPr>
            <a:r>
              <a:rPr lang="en-US" sz="1050" dirty="0">
                <a:solidFill>
                  <a:srgbClr val="4A6587"/>
                </a:solidFill>
                <a:latin typeface="Calibri" pitchFamily="34" charset="0"/>
                <a:ea typeface="Calibri" pitchFamily="34" charset="-122"/>
                <a:cs typeface="Calibri" pitchFamily="34" charset="-120"/>
              </a:rPr>
              <a:t>Andrea Zanin   ·   a.zanin@studenti.unipi.it</a:t>
            </a:r>
          </a:p>
          <a:p>
            <a:r>
              <a:rPr lang="en-US" sz="1050" dirty="0">
                <a:solidFill>
                  <a:srgbClr val="4A6587"/>
                </a:solidFill>
                <a:latin typeface="Calibri" pitchFamily="34" charset="0"/>
                <a:ea typeface="Calibri" pitchFamily="34" charset="-122"/>
                <a:cs typeface="Calibri" pitchFamily="34" charset="-120"/>
              </a:rPr>
              <a:t>Pedro Carneiro   ·   p.carneirojunior@studenti.unipi.it</a:t>
            </a:r>
            <a:endParaRPr lang="en-US" sz="1050" dirty="0"/>
          </a:p>
        </p:txBody>
      </p:sp>
      <p:sp>
        <p:nvSpPr>
          <p:cNvPr id="8" name="Text 6"/>
          <p:cNvSpPr/>
          <p:nvPr/>
        </p:nvSpPr>
        <p:spPr>
          <a:xfrm>
            <a:off x="411480" y="4160520"/>
            <a:ext cx="8321040" cy="822960"/>
          </a:xfrm>
          <a:prstGeom prst="rect">
            <a:avLst/>
          </a:prstGeom>
          <a:noFill/>
          <a:ln/>
        </p:spPr>
        <p:txBody>
          <a:bodyPr wrap="square" lIns="0" tIns="0" rIns="0" bIns="0" rtlCol="0" anchor="ctr"/>
          <a:lstStyle/>
          <a:p>
            <a:pPr marL="0" indent="0">
              <a:buNone/>
            </a:pPr>
            <a:endParaRPr lang="en-US" sz="3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348</TotalTime>
  <Words>1887</Words>
  <Application>Microsoft Office PowerPoint</Application>
  <PresentationFormat>Presentazione su schermo (16:9)</PresentationFormat>
  <Paragraphs>215</Paragraphs>
  <Slides>15</Slides>
  <Notes>15</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15</vt:i4>
      </vt:variant>
    </vt:vector>
  </HeadingPairs>
  <TitlesOfParts>
    <vt:vector size="18" baseType="lpstr">
      <vt:lpstr>Arial</vt:lpstr>
      <vt:lpstr>Calibri</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Mining &amp; Machine Learning — Project Presentation Template</dc:title>
  <dc:subject>PptxGenJS Presentation</dc:subject>
  <dc:creator>PptxGenJS</dc:creator>
  <cp:lastModifiedBy>Andrea Zanin</cp:lastModifiedBy>
  <cp:revision>12</cp:revision>
  <dcterms:created xsi:type="dcterms:W3CDTF">2026-05-31T14:27:00Z</dcterms:created>
  <dcterms:modified xsi:type="dcterms:W3CDTF">2026-07-24T14:59:50Z</dcterms:modified>
</cp:coreProperties>
</file>